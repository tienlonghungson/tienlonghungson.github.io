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93" r:id="rId3"/>
    <p:sldId id="259" r:id="rId4"/>
    <p:sldId id="299" r:id="rId5"/>
    <p:sldId id="258" r:id="rId6"/>
    <p:sldId id="257" r:id="rId7"/>
    <p:sldId id="297" r:id="rId8"/>
    <p:sldId id="283" r:id="rId9"/>
    <p:sldId id="284" r:id="rId10"/>
    <p:sldId id="303" r:id="rId11"/>
    <p:sldId id="261" r:id="rId12"/>
    <p:sldId id="262" r:id="rId13"/>
    <p:sldId id="275" r:id="rId14"/>
    <p:sldId id="265" r:id="rId15"/>
    <p:sldId id="264" r:id="rId16"/>
    <p:sldId id="266" r:id="rId17"/>
    <p:sldId id="267" r:id="rId18"/>
    <p:sldId id="268" r:id="rId19"/>
    <p:sldId id="269" r:id="rId20"/>
    <p:sldId id="270" r:id="rId21"/>
    <p:sldId id="300" r:id="rId22"/>
    <p:sldId id="277" r:id="rId23"/>
    <p:sldId id="286" r:id="rId24"/>
    <p:sldId id="287" r:id="rId25"/>
    <p:sldId id="288" r:id="rId26"/>
    <p:sldId id="289" r:id="rId27"/>
    <p:sldId id="290" r:id="rId28"/>
    <p:sldId id="278" r:id="rId29"/>
    <p:sldId id="296" r:id="rId30"/>
    <p:sldId id="302" r:id="rId31"/>
    <p:sldId id="291" r:id="rId32"/>
    <p:sldId id="292" r:id="rId33"/>
    <p:sldId id="29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5F9A"/>
    <a:srgbClr val="E7F0F9"/>
    <a:srgbClr val="CDE0F3"/>
    <a:srgbClr val="EAF2FA"/>
    <a:srgbClr val="ECF3FA"/>
    <a:srgbClr val="E7EAED"/>
    <a:srgbClr val="CCD2D8"/>
    <a:srgbClr val="9AC68B"/>
    <a:srgbClr val="DBE9F5"/>
    <a:srgbClr val="CAEE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04F3A2-DF16-4534-BE8E-85D15520A18B}" v="5582" dt="2026-07-03T17:27:17.837"/>
    <p1510:client id="{C75F3299-E87C-26AB-E799-686353FFEB23}" v="1" dt="2026-07-03T17:31:27.8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6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2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6C63B9-18D3-451A-98FA-2A422B4A377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2C8CC-3A1D-4F02-98A3-507BEBA23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529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44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42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Change 1.9999 to 2-\delta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83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364A6-8D74-5002-C71D-F494E24B0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7BD141-2D19-B826-2F50-89CD1A84A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E58981-8E1B-F843-C766-3A529554F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2682D-916F-E9D2-8228-618BDF2958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69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 out local algorithm step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20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222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9C617-06E7-C145-AD0E-95E3BC36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2026E-8EB0-97C2-C2B6-A4BB5A946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73AE0-E037-699C-1DCF-20E0DBE15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92F6B-18AA-D232-DD54-CFEE83949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92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C58A1-9D88-AE15-8B33-6D8AF5F30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A4087-2B3D-00D8-72FE-F06BC6B53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EE7E5-2BC5-0C83-D143-772F40473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9D889-B535-BBB4-EC62-82B4C1222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45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4957A-AA75-300F-E44B-5E55AB2B8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9EF0F-A7AE-F5C2-145A-3BB23EC81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B1DE62-CB64-2379-022F-70772A603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33DB5-33B9-7156-8932-B1F1B2320E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991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Chek </a:t>
            </a:r>
            <a:r>
              <a:rPr lang="en-US" err="1"/>
              <a:t>laij</a:t>
            </a:r>
            <a:r>
              <a:rPr lang="en-US"/>
              <a:t> </a:t>
            </a:r>
            <a:r>
              <a:rPr lang="en-US" err="1"/>
              <a:t>phaanf</a:t>
            </a:r>
            <a:r>
              <a:rPr lang="en-US"/>
              <a:t> ideas </a:t>
            </a:r>
            <a:r>
              <a:rPr lang="en-US" err="1"/>
              <a:t>xem</a:t>
            </a:r>
            <a:r>
              <a:rPr lang="en-US"/>
              <a:t> co </a:t>
            </a:r>
            <a:r>
              <a:rPr lang="en-US" err="1"/>
              <a:t>bii</a:t>
            </a:r>
            <a:r>
              <a:rPr lang="en-US"/>
              <a:t> </a:t>
            </a:r>
            <a:r>
              <a:rPr lang="en-US" err="1"/>
              <a:t>nham</a:t>
            </a:r>
            <a:r>
              <a:rPr lang="en-US"/>
              <a:t> </a:t>
            </a:r>
            <a:r>
              <a:rPr lang="en-US" err="1"/>
              <a:t>trang</a:t>
            </a:r>
            <a:r>
              <a:rPr lang="en-US"/>
              <a:t> 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95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838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E32B5-7ACC-0F9F-DE28-D8645E2C4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F91C588A-2366-CCB0-838C-B67D8287E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F0721490-F8B5-9AB0-149E-A81146F6F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F450A32-28BD-A144-9426-08A55E87B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6491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CA526-8EB4-48D0-2614-5B101A130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C2520F16-7449-6C5F-0CD2-024947A20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C7AA9C17-0A60-6333-B6D2-E6E03C0AC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84F874B-4D1C-0987-50AD-740C4C813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874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1B38F-4CFF-ADA7-F5AA-604C0274F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D20D097B-9F1B-7B9E-DD0D-581E6FA18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D250ECCF-C929-7214-14A0-0F8682D23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E0ABA5DE-D922-A0E0-FC45-C9E2F40D2D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454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0BA9-2F92-D679-E9C4-DB98A944A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E1056516-199A-6530-47A0-DDBE05988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147E210C-4D5D-8271-F4EA-BA4D436B9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960A49F5-2FB6-AEDC-6B97-0E90C6626E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545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3987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4FC92-40C2-9734-E44E-847527BC1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17B4A-2442-C315-3808-E504E3D30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B27F7-B0B7-AFC6-C46C-4AE8D7D41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26A80-1842-48BA-6BE4-92B363EBD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770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538F3-F853-3AD2-C1BF-C926D5D3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A6D2A-87E6-D384-F202-F7C904644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CB147-DF14-0225-458F-CBBD4FE01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606A6-60E6-2BE7-1639-6A3A5B50B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C8CC-3A1D-4F02-98A3-507BEBA239B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397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705F-C92F-DBDB-3752-EF67B170E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9220E-848D-4E22-7190-8309EEB51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2AB09-EB98-C6DC-A82C-501C505C0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56C32-3E86-DAE2-AB41-F24DC1091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2AE86-5AFC-96CA-1459-F3F5D87DB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129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2D02B-841A-CDAD-FAB9-91211B2F6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F3B81-6C28-B14B-0025-216FDBE28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7AE13-501E-FC2D-8FC9-223CAE125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E273B-FE74-DBF1-16F1-0FECBBD8B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32A60-D11C-E109-94C9-21DC5913B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962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28ACB-2803-7062-47C0-B6BB7C7E6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016D5-466A-B108-06B7-0970E3096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961DA-FDD0-3E4C-C53B-6E1478FA0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898EA-B2E4-40E8-65E8-F07F6B4AD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0C9BC-E9E2-4372-0067-B29B5209C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47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6B5A5-D6A1-9475-D7F1-669CD5190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1D4E5-4E18-BC78-826F-F35795BB83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EB536-B9AE-FED1-98CB-C7022321B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212B1-6DFB-417C-F18B-8C18812B9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609D6-6C29-93B5-DB14-806C85916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DE33A-8F80-3C93-58B2-523BB81F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469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07077-A0F2-F976-924F-89D31910E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8FB86-6C3E-1EDA-1940-D705A8886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A8C42-3A0F-61CA-9B04-891B0B02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C77C0C-3688-C371-B798-ED871C5DFE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93B861-E38F-B5CC-C8A5-93ECA3D3F7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C51776-F404-EF67-F6D6-2D0AAF928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4F479-391F-4469-59BD-F93DCA43A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4DC006-91C6-4B12-25ED-A5387E178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14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2078E-15BB-DEB0-F6BE-F0A51E87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6A95C6-BA7F-ED2D-F008-5D3683D41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8AECDB-80F7-C6DE-195E-3A057266E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AAFB98-FD01-B9F3-1763-F753FE35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43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B2B9B-03DB-3933-5977-326FC818C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C6734B-2FA5-F0A4-4E53-31BC2D7E3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DAEC0-BC50-4DDC-A895-F6FE12DF6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21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73FDB-BF58-AE4C-DB72-038A87C49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8B18D-BF0B-9D8A-6D97-1AA2A02E8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BD6BE-2269-AD81-5855-B4694D6B1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75A51-DE0E-281D-B67C-0EE13BE06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97E2E-91AD-B481-017F-F04BA48B6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C61A0-60F6-CC85-BD9B-A0AEA139C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869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4424-06AD-8479-157A-6F837ADCD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2D63E9-C7F6-C252-1871-EED8D3E175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3F0EB-9DDF-9EB8-F58A-E4DB3D52B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1BC28-D312-922C-5D96-A30A8E13A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A3575-0200-B641-510B-A579FFCAC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B975D-9F6C-EAAB-5FEB-AB520939E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938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04A86-1956-C047-7DCA-F88F32EC8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CFEF08-D171-1B07-6BFB-E84F7EA10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3ECA-C88C-6F9D-6DB8-F87715010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5968D-5246-1228-6536-A7467CFF8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20E36-5209-86E8-7E90-A3137E58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75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AEC4C-B1C8-7431-318F-C46305B41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31D38-AA43-AD5E-EB4F-E941E69A3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368D9-C808-1C6D-7D4B-B304C8EDD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08C9-7A8B-401A-8FF0-9F58E6ED0E4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84472-B350-1699-229D-CD5F584D8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FC816-B3DA-AA18-68DF-5B3E2ED6D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524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62F760-FF47-AA28-1879-C57E9710A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97C2B-D79D-E2F3-71A3-494AE767F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C3027-C7F2-B0D4-F1E0-D5C87F714B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7908C9-7A8B-401A-8FF0-9F58E6ED0E4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8ED6E-E7CB-4B1D-EE1B-F65AE8060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367D6-571F-48A0-15ED-98924D58E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ADFA0B-0818-470C-A566-842C8D846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6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7.png"/><Relationship Id="rId7" Type="http://schemas.openxmlformats.org/officeDocument/2006/relationships/image" Target="../media/image14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10.png"/><Relationship Id="rId7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46.png"/><Relationship Id="rId4" Type="http://schemas.openxmlformats.org/officeDocument/2006/relationships/image" Target="../media/image17.png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34.sv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0" Type="http://schemas.openxmlformats.org/officeDocument/2006/relationships/image" Target="../media/image33.svg"/><Relationship Id="rId4" Type="http://schemas.openxmlformats.org/officeDocument/2006/relationships/image" Target="../media/image32.svg"/><Relationship Id="rId9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10.png"/><Relationship Id="rId7" Type="http://schemas.openxmlformats.org/officeDocument/2006/relationships/image" Target="../media/image1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18.png"/><Relationship Id="rId5" Type="http://schemas.openxmlformats.org/officeDocument/2006/relationships/image" Target="../media/image57.png"/><Relationship Id="rId10" Type="http://schemas.openxmlformats.org/officeDocument/2006/relationships/image" Target="../media/image1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3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1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79.png"/><Relationship Id="rId5" Type="http://schemas.openxmlformats.org/officeDocument/2006/relationships/image" Target="../media/image74.png"/><Relationship Id="rId15" Type="http://schemas.openxmlformats.org/officeDocument/2006/relationships/image" Target="../media/image83.png"/><Relationship Id="rId10" Type="http://schemas.openxmlformats.org/officeDocument/2006/relationships/image" Target="../media/image25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4.png"/><Relationship Id="rId7" Type="http://schemas.openxmlformats.org/officeDocument/2006/relationships/image" Target="../media/image9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4.png"/><Relationship Id="rId7" Type="http://schemas.openxmlformats.org/officeDocument/2006/relationships/image" Target="../media/image9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4.png"/><Relationship Id="rId7" Type="http://schemas.openxmlformats.org/officeDocument/2006/relationships/image" Target="../media/image9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4.png"/><Relationship Id="rId7" Type="http://schemas.openxmlformats.org/officeDocument/2006/relationships/image" Target="../media/image9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84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9" Type="http://schemas.openxmlformats.org/officeDocument/2006/relationships/image" Target="../media/image94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97.png"/><Relationship Id="rId3" Type="http://schemas.openxmlformats.org/officeDocument/2006/relationships/image" Target="../media/image96.png"/><Relationship Id="rId7" Type="http://schemas.openxmlformats.org/officeDocument/2006/relationships/image" Target="../media/image113.png"/><Relationship Id="rId12" Type="http://schemas.openxmlformats.org/officeDocument/2006/relationships/image" Target="../media/image118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5" Type="http://schemas.openxmlformats.org/officeDocument/2006/relationships/image" Target="../media/image111.png"/><Relationship Id="rId10" Type="http://schemas.openxmlformats.org/officeDocument/2006/relationships/image" Target="../media/image116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30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12" Type="http://schemas.openxmlformats.org/officeDocument/2006/relationships/image" Target="../media/image1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5" Type="http://schemas.openxmlformats.org/officeDocument/2006/relationships/image" Target="../media/image122.png"/><Relationship Id="rId10" Type="http://schemas.openxmlformats.org/officeDocument/2006/relationships/image" Target="../media/image127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image" Target="../media/image160.png"/><Relationship Id="rId3" Type="http://schemas.openxmlformats.org/officeDocument/2006/relationships/image" Target="../media/image154.png"/><Relationship Id="rId7" Type="http://schemas.openxmlformats.org/officeDocument/2006/relationships/image" Target="../media/image124.png"/><Relationship Id="rId12" Type="http://schemas.openxmlformats.org/officeDocument/2006/relationships/image" Target="../media/image1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11" Type="http://schemas.openxmlformats.org/officeDocument/2006/relationships/image" Target="../media/image159.png"/><Relationship Id="rId5" Type="http://schemas.openxmlformats.org/officeDocument/2006/relationships/image" Target="../media/image122.png"/><Relationship Id="rId10" Type="http://schemas.openxmlformats.org/officeDocument/2006/relationships/image" Target="../media/image158.png"/><Relationship Id="rId4" Type="http://schemas.openxmlformats.org/officeDocument/2006/relationships/image" Target="../media/image155.png"/><Relationship Id="rId9" Type="http://schemas.openxmlformats.org/officeDocument/2006/relationships/image" Target="../media/image126.png"/><Relationship Id="rId14" Type="http://schemas.openxmlformats.org/officeDocument/2006/relationships/image" Target="../media/image16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alpha val="98000"/>
              </a:schemeClr>
            </a:gs>
            <a:gs pos="74000">
              <a:schemeClr val="bg2"/>
            </a:gs>
            <a:gs pos="100000">
              <a:schemeClr val="bg1">
                <a:lumMod val="8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CCA20EB-31D7-2DC1-1FBE-0A1F7A0659FB}"/>
              </a:ext>
            </a:extLst>
          </p:cNvPr>
          <p:cNvSpPr/>
          <p:nvPr/>
        </p:nvSpPr>
        <p:spPr>
          <a:xfrm>
            <a:off x="0" y="428747"/>
            <a:ext cx="12191999" cy="1750531"/>
          </a:xfrm>
          <a:prstGeom prst="rect">
            <a:avLst/>
          </a:prstGeom>
          <a:gradFill>
            <a:gsLst>
              <a:gs pos="0">
                <a:schemeClr val="accent1">
                  <a:lumMod val="97000"/>
                  <a:alpha val="6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CC6C5-8722-80F9-2B44-6ED4A3DDF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4750" y="3805034"/>
            <a:ext cx="9192242" cy="866199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Tien-Long Nguyen</a:t>
            </a:r>
          </a:p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Pennsylvania State University, USA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EAFE6B-F13E-6227-96FF-BD6760823421}"/>
              </a:ext>
            </a:extLst>
          </p:cNvPr>
          <p:cNvGrpSpPr/>
          <p:nvPr/>
        </p:nvGrpSpPr>
        <p:grpSpPr>
          <a:xfrm>
            <a:off x="3556344" y="4876973"/>
            <a:ext cx="5475896" cy="1210852"/>
            <a:chOff x="3586824" y="4671233"/>
            <a:chExt cx="5475896" cy="121085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F9D8F57-57AE-101A-26CE-03C084330F38}"/>
                </a:ext>
              </a:extLst>
            </p:cNvPr>
            <p:cNvSpPr txBox="1"/>
            <p:nvPr/>
          </p:nvSpPr>
          <p:spPr>
            <a:xfrm>
              <a:off x="5276908" y="4671233"/>
              <a:ext cx="17152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Joint work with: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3638B2D-8543-CC82-C744-2BCE05640751}"/>
                </a:ext>
              </a:extLst>
            </p:cNvPr>
            <p:cNvSpPr txBox="1"/>
            <p:nvPr/>
          </p:nvSpPr>
          <p:spPr>
            <a:xfrm>
              <a:off x="3586824" y="4958755"/>
              <a:ext cx="547589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solidFill>
                    <a:srgbClr val="002060"/>
                  </a:solidFill>
                </a:rPr>
                <a:t>Amir Carmel (Weizmann Institute of Science, Israel)</a:t>
              </a:r>
            </a:p>
            <a:p>
              <a:pPr algn="ctr"/>
              <a:r>
                <a:rPr lang="en-US" i="1" dirty="0">
                  <a:solidFill>
                    <a:srgbClr val="002060"/>
                  </a:solidFill>
                </a:rPr>
                <a:t>Debarati Das (Pennsylvania State University, USA)</a:t>
              </a:r>
            </a:p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95B773C-998C-EDA8-B9E5-6FA6B6F8F75F}"/>
              </a:ext>
            </a:extLst>
          </p:cNvPr>
          <p:cNvSpPr txBox="1"/>
          <p:nvPr/>
        </p:nvSpPr>
        <p:spPr>
          <a:xfrm>
            <a:off x="16061" y="5657671"/>
            <a:ext cx="6937583" cy="120032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/>
          <a:p>
            <a:r>
              <a:rPr lang="en-US" sz="7200">
                <a:solidFill>
                  <a:srgbClr val="215F9A">
                    <a:alpha val="6000"/>
                  </a:srgbClr>
                </a:solidFill>
                <a:latin typeface="Arial Black" panose="020B0A04020102020204" pitchFamily="34" charset="0"/>
              </a:rPr>
              <a:t>ICALP 2026</a:t>
            </a:r>
          </a:p>
        </p:txBody>
      </p:sp>
      <p:pic>
        <p:nvPicPr>
          <p:cNvPr id="9" name="Picture 8" descr="Penn State Nittany Lions - Wikipedia">
            <a:extLst>
              <a:ext uri="{FF2B5EF4-FFF2-40B4-BE49-F238E27FC236}">
                <a16:creationId xmlns:a16="http://schemas.microsoft.com/office/drawing/2014/main" id="{08647957-FE07-0552-AC4C-F213E667365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84960" y="2796384"/>
            <a:ext cx="1299185" cy="9033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52D4EC4-39C2-7577-278F-6EFCD2582EBB}"/>
              </a:ext>
            </a:extLst>
          </p:cNvPr>
          <p:cNvSpPr txBox="1"/>
          <p:nvPr/>
        </p:nvSpPr>
        <p:spPr>
          <a:xfrm>
            <a:off x="6134553" y="5657671"/>
            <a:ext cx="6937583" cy="120032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/>
          <a:p>
            <a:r>
              <a:rPr lang="en-US" sz="7200">
                <a:solidFill>
                  <a:srgbClr val="215F9A">
                    <a:alpha val="6000"/>
                  </a:srgbClr>
                </a:solidFill>
                <a:latin typeface="Arial Black" panose="020B0A04020102020204" pitchFamily="34" charset="0"/>
              </a:rPr>
              <a:t>ICALP 2026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F2E9646-0321-58D0-2A6E-DBB802A52E74}"/>
              </a:ext>
            </a:extLst>
          </p:cNvPr>
          <p:cNvSpPr txBox="1">
            <a:spLocks/>
          </p:cNvSpPr>
          <p:nvPr/>
        </p:nvSpPr>
        <p:spPr>
          <a:xfrm>
            <a:off x="38552" y="534058"/>
            <a:ext cx="12191999" cy="175053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chemeClr val="bg1"/>
                </a:solidFill>
              </a:rPr>
              <a:t>A Scalable and Unified Framework to Weighted Rank Aggregation</a:t>
            </a:r>
          </a:p>
        </p:txBody>
      </p:sp>
    </p:spTree>
    <p:extLst>
      <p:ext uri="{BB962C8B-B14F-4D97-AF65-F5344CB8AC3E}">
        <p14:creationId xmlns:p14="http://schemas.microsoft.com/office/powerpoint/2010/main" val="2880184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E9E9E9"/>
            </a:gs>
            <a:gs pos="0">
              <a:schemeClr val="bg1">
                <a:alpha val="98000"/>
              </a:schemeClr>
            </a:gs>
            <a:gs pos="10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D68684-E16F-7EEE-4E3B-73E1AF61E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9C06E-6183-5FB3-02FD-E1D0714ED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72026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Rank aggregation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7D6699-F05D-7A35-3313-C540F0C4CF95}"/>
              </a:ext>
            </a:extLst>
          </p:cNvPr>
          <p:cNvGrpSpPr/>
          <p:nvPr/>
        </p:nvGrpSpPr>
        <p:grpSpPr>
          <a:xfrm>
            <a:off x="7182688" y="2515016"/>
            <a:ext cx="2329759" cy="409796"/>
            <a:chOff x="4138308" y="3861607"/>
            <a:chExt cx="2329759" cy="409796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3B59E953-5810-68DE-4AAE-0D911D3AB62A}"/>
                </a:ext>
              </a:extLst>
            </p:cNvPr>
            <p:cNvSpPr/>
            <p:nvPr/>
          </p:nvSpPr>
          <p:spPr>
            <a:xfrm>
              <a:off x="4607732" y="3872532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?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EF5F433-B62E-A1A3-BAC3-41BC5217FF4B}"/>
                </a:ext>
              </a:extLst>
            </p:cNvPr>
            <p:cNvSpPr/>
            <p:nvPr/>
          </p:nvSpPr>
          <p:spPr>
            <a:xfrm>
              <a:off x="4979799" y="3872532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?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C24E0907-9001-2A3C-1F9C-D94E7EE68A35}"/>
                </a:ext>
              </a:extLst>
            </p:cNvPr>
            <p:cNvSpPr/>
            <p:nvPr/>
          </p:nvSpPr>
          <p:spPr>
            <a:xfrm>
              <a:off x="5351866" y="3872533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?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EB73A6C3-8254-DC94-EF00-B28AD80CC913}"/>
                </a:ext>
              </a:extLst>
            </p:cNvPr>
            <p:cNvSpPr/>
            <p:nvPr/>
          </p:nvSpPr>
          <p:spPr>
            <a:xfrm>
              <a:off x="5723933" y="3874111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?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A38C5F8-39D0-97D8-18B9-0899A25AFF42}"/>
                </a:ext>
              </a:extLst>
            </p:cNvPr>
            <p:cNvSpPr/>
            <p:nvPr/>
          </p:nvSpPr>
          <p:spPr>
            <a:xfrm>
              <a:off x="6096000" y="3874112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E469FC9E-87BF-C639-2328-0915AFBA3E95}"/>
                    </a:ext>
                  </a:extLst>
                </p:cNvPr>
                <p:cNvSpPr txBox="1"/>
                <p:nvPr/>
              </p:nvSpPr>
              <p:spPr>
                <a:xfrm>
                  <a:off x="4138308" y="3861607"/>
                  <a:ext cx="4715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E469FC9E-87BF-C639-2328-0915AFBA3E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8308" y="3861607"/>
                  <a:ext cx="47153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57">
            <a:extLst>
              <a:ext uri="{FF2B5EF4-FFF2-40B4-BE49-F238E27FC236}">
                <a16:creationId xmlns:a16="http://schemas.microsoft.com/office/drawing/2014/main" id="{DCAD7EF9-7644-7639-AFB4-7171BC97B3A9}"/>
              </a:ext>
            </a:extLst>
          </p:cNvPr>
          <p:cNvGrpSpPr/>
          <p:nvPr/>
        </p:nvGrpSpPr>
        <p:grpSpPr>
          <a:xfrm>
            <a:off x="1269929" y="2130639"/>
            <a:ext cx="2338471" cy="3207793"/>
            <a:chOff x="592115" y="2530178"/>
            <a:chExt cx="2338471" cy="3207793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8E594CF8-EB43-EA73-D30A-3B5683E3628B}"/>
                </a:ext>
              </a:extLst>
            </p:cNvPr>
            <p:cNvSpPr/>
            <p:nvPr/>
          </p:nvSpPr>
          <p:spPr>
            <a:xfrm>
              <a:off x="1061539" y="254110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9823FB3E-EACF-C4D8-CEB4-D981928A42E3}"/>
                </a:ext>
              </a:extLst>
            </p:cNvPr>
            <p:cNvSpPr/>
            <p:nvPr/>
          </p:nvSpPr>
          <p:spPr>
            <a:xfrm>
              <a:off x="1433606" y="254110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0CCA0D71-0B19-D68C-4849-1A618F41243A}"/>
                </a:ext>
              </a:extLst>
            </p:cNvPr>
            <p:cNvSpPr/>
            <p:nvPr/>
          </p:nvSpPr>
          <p:spPr>
            <a:xfrm>
              <a:off x="1805673" y="254110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434CA8D1-CFAA-0D70-0552-F5CDAD3E7645}"/>
                </a:ext>
              </a:extLst>
            </p:cNvPr>
            <p:cNvSpPr/>
            <p:nvPr/>
          </p:nvSpPr>
          <p:spPr>
            <a:xfrm>
              <a:off x="2177740" y="2542682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21" name="Rectangle 7">
              <a:extLst>
                <a:ext uri="{FF2B5EF4-FFF2-40B4-BE49-F238E27FC236}">
                  <a16:creationId xmlns:a16="http://schemas.microsoft.com/office/drawing/2014/main" id="{B01C75EF-D080-6F0B-A406-4A3E2B43A37F}"/>
                </a:ext>
              </a:extLst>
            </p:cNvPr>
            <p:cNvSpPr/>
            <p:nvPr/>
          </p:nvSpPr>
          <p:spPr>
            <a:xfrm>
              <a:off x="2549807" y="254268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8">
                  <a:extLst>
                    <a:ext uri="{FF2B5EF4-FFF2-40B4-BE49-F238E27FC236}">
                      <a16:creationId xmlns:a16="http://schemas.microsoft.com/office/drawing/2014/main" id="{49828598-AFB0-AD7A-880C-7920BEBFEF39}"/>
                    </a:ext>
                  </a:extLst>
                </p:cNvPr>
                <p:cNvSpPr txBox="1"/>
                <p:nvPr/>
              </p:nvSpPr>
              <p:spPr>
                <a:xfrm>
                  <a:off x="592115" y="2530178"/>
                  <a:ext cx="469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8">
                  <a:extLst>
                    <a:ext uri="{FF2B5EF4-FFF2-40B4-BE49-F238E27FC236}">
                      <a16:creationId xmlns:a16="http://schemas.microsoft.com/office/drawing/2014/main" id="{49828598-AFB0-AD7A-880C-7920BEBFEF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15" y="2530178"/>
                  <a:ext cx="46942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0222089-EB35-CA5D-A966-55D1A5801E00}"/>
                </a:ext>
              </a:extLst>
            </p:cNvPr>
            <p:cNvSpPr/>
            <p:nvPr/>
          </p:nvSpPr>
          <p:spPr>
            <a:xfrm>
              <a:off x="1061539" y="321708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33" name="Rectangle 10">
              <a:extLst>
                <a:ext uri="{FF2B5EF4-FFF2-40B4-BE49-F238E27FC236}">
                  <a16:creationId xmlns:a16="http://schemas.microsoft.com/office/drawing/2014/main" id="{8FB10C47-044B-924A-202C-ED765187F602}"/>
                </a:ext>
              </a:extLst>
            </p:cNvPr>
            <p:cNvSpPr/>
            <p:nvPr/>
          </p:nvSpPr>
          <p:spPr>
            <a:xfrm>
              <a:off x="1433606" y="321708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34" name="Rectangle 11">
              <a:extLst>
                <a:ext uri="{FF2B5EF4-FFF2-40B4-BE49-F238E27FC236}">
                  <a16:creationId xmlns:a16="http://schemas.microsoft.com/office/drawing/2014/main" id="{3A44B67A-D485-F9CF-456F-15B91488C943}"/>
                </a:ext>
              </a:extLst>
            </p:cNvPr>
            <p:cNvSpPr/>
            <p:nvPr/>
          </p:nvSpPr>
          <p:spPr>
            <a:xfrm>
              <a:off x="1805673" y="3217086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35" name="Rectangle 12">
              <a:extLst>
                <a:ext uri="{FF2B5EF4-FFF2-40B4-BE49-F238E27FC236}">
                  <a16:creationId xmlns:a16="http://schemas.microsoft.com/office/drawing/2014/main" id="{E6BD11A5-8A61-8F53-CF0D-07869D0700A2}"/>
                </a:ext>
              </a:extLst>
            </p:cNvPr>
            <p:cNvSpPr/>
            <p:nvPr/>
          </p:nvSpPr>
          <p:spPr>
            <a:xfrm>
              <a:off x="2177740" y="321866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36" name="Rectangle 13">
              <a:extLst>
                <a:ext uri="{FF2B5EF4-FFF2-40B4-BE49-F238E27FC236}">
                  <a16:creationId xmlns:a16="http://schemas.microsoft.com/office/drawing/2014/main" id="{F02C201C-34C0-FC2C-C2FC-5B182218FA7A}"/>
                </a:ext>
              </a:extLst>
            </p:cNvPr>
            <p:cNvSpPr/>
            <p:nvPr/>
          </p:nvSpPr>
          <p:spPr>
            <a:xfrm>
              <a:off x="2549807" y="321866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14">
                  <a:extLst>
                    <a:ext uri="{FF2B5EF4-FFF2-40B4-BE49-F238E27FC236}">
                      <a16:creationId xmlns:a16="http://schemas.microsoft.com/office/drawing/2014/main" id="{D4985489-62F6-C2BE-D56A-F132860328FB}"/>
                    </a:ext>
                  </a:extLst>
                </p:cNvPr>
                <p:cNvSpPr txBox="1"/>
                <p:nvPr/>
              </p:nvSpPr>
              <p:spPr>
                <a:xfrm>
                  <a:off x="592115" y="3206160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3B07774-6906-5118-F990-C87BE81A34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15" y="3206160"/>
                  <a:ext cx="47474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Rectangle 15">
              <a:extLst>
                <a:ext uri="{FF2B5EF4-FFF2-40B4-BE49-F238E27FC236}">
                  <a16:creationId xmlns:a16="http://schemas.microsoft.com/office/drawing/2014/main" id="{836203F1-390F-E1A0-8DDC-E0E76A986346}"/>
                </a:ext>
              </a:extLst>
            </p:cNvPr>
            <p:cNvSpPr/>
            <p:nvPr/>
          </p:nvSpPr>
          <p:spPr>
            <a:xfrm>
              <a:off x="1061539" y="3918192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39" name="Rectangle 16">
              <a:extLst>
                <a:ext uri="{FF2B5EF4-FFF2-40B4-BE49-F238E27FC236}">
                  <a16:creationId xmlns:a16="http://schemas.microsoft.com/office/drawing/2014/main" id="{660DCCB6-1B56-A59E-2D39-1921B8B75DDE}"/>
                </a:ext>
              </a:extLst>
            </p:cNvPr>
            <p:cNvSpPr/>
            <p:nvPr/>
          </p:nvSpPr>
          <p:spPr>
            <a:xfrm>
              <a:off x="1433606" y="3918192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3</a:t>
              </a:r>
            </a:p>
          </p:txBody>
        </p:sp>
        <p:sp>
          <p:nvSpPr>
            <p:cNvPr id="40" name="Rectangle 17">
              <a:extLst>
                <a:ext uri="{FF2B5EF4-FFF2-40B4-BE49-F238E27FC236}">
                  <a16:creationId xmlns:a16="http://schemas.microsoft.com/office/drawing/2014/main" id="{57813831-9D6B-5C1B-85C2-64A4E513CBDA}"/>
                </a:ext>
              </a:extLst>
            </p:cNvPr>
            <p:cNvSpPr/>
            <p:nvPr/>
          </p:nvSpPr>
          <p:spPr>
            <a:xfrm>
              <a:off x="1805673" y="3918193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41" name="Rectangle 18">
              <a:extLst>
                <a:ext uri="{FF2B5EF4-FFF2-40B4-BE49-F238E27FC236}">
                  <a16:creationId xmlns:a16="http://schemas.microsoft.com/office/drawing/2014/main" id="{4A338069-484B-A6A0-1935-BD9F15136744}"/>
                </a:ext>
              </a:extLst>
            </p:cNvPr>
            <p:cNvSpPr/>
            <p:nvPr/>
          </p:nvSpPr>
          <p:spPr>
            <a:xfrm>
              <a:off x="2177740" y="3919771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42" name="Rectangle 19">
              <a:extLst>
                <a:ext uri="{FF2B5EF4-FFF2-40B4-BE49-F238E27FC236}">
                  <a16:creationId xmlns:a16="http://schemas.microsoft.com/office/drawing/2014/main" id="{FE5D9C61-3C77-8C1C-C7D8-594EE62E2BA1}"/>
                </a:ext>
              </a:extLst>
            </p:cNvPr>
            <p:cNvSpPr/>
            <p:nvPr/>
          </p:nvSpPr>
          <p:spPr>
            <a:xfrm>
              <a:off x="2549807" y="3919772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4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20">
                  <a:extLst>
                    <a:ext uri="{FF2B5EF4-FFF2-40B4-BE49-F238E27FC236}">
                      <a16:creationId xmlns:a16="http://schemas.microsoft.com/office/drawing/2014/main" id="{035182A3-239E-CF7D-D3A9-0F684899D031}"/>
                    </a:ext>
                  </a:extLst>
                </p:cNvPr>
                <p:cNvSpPr txBox="1"/>
                <p:nvPr/>
              </p:nvSpPr>
              <p:spPr>
                <a:xfrm>
                  <a:off x="592115" y="3907267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ED20D40-95EC-5052-2560-66F3E721F9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15" y="3907267"/>
                  <a:ext cx="47474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Rectangle 21">
              <a:extLst>
                <a:ext uri="{FF2B5EF4-FFF2-40B4-BE49-F238E27FC236}">
                  <a16:creationId xmlns:a16="http://schemas.microsoft.com/office/drawing/2014/main" id="{B69B3E70-3F29-CB9B-7D04-C5AC4795FBAE}"/>
                </a:ext>
              </a:extLst>
            </p:cNvPr>
            <p:cNvSpPr/>
            <p:nvPr/>
          </p:nvSpPr>
          <p:spPr>
            <a:xfrm>
              <a:off x="1070251" y="533910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45" name="Rectangle 22">
              <a:extLst>
                <a:ext uri="{FF2B5EF4-FFF2-40B4-BE49-F238E27FC236}">
                  <a16:creationId xmlns:a16="http://schemas.microsoft.com/office/drawing/2014/main" id="{4D2450F4-1767-AEBB-973D-887D3656C3BD}"/>
                </a:ext>
              </a:extLst>
            </p:cNvPr>
            <p:cNvSpPr/>
            <p:nvPr/>
          </p:nvSpPr>
          <p:spPr>
            <a:xfrm>
              <a:off x="1442318" y="533910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46" name="Rectangle 23">
              <a:extLst>
                <a:ext uri="{FF2B5EF4-FFF2-40B4-BE49-F238E27FC236}">
                  <a16:creationId xmlns:a16="http://schemas.microsoft.com/office/drawing/2014/main" id="{888B97E5-8C38-08DF-2CB1-D2EF9BA4AF57}"/>
                </a:ext>
              </a:extLst>
            </p:cNvPr>
            <p:cNvSpPr/>
            <p:nvPr/>
          </p:nvSpPr>
          <p:spPr>
            <a:xfrm>
              <a:off x="1814385" y="533910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p:sp>
          <p:nvSpPr>
            <p:cNvPr id="47" name="Rectangle 24">
              <a:extLst>
                <a:ext uri="{FF2B5EF4-FFF2-40B4-BE49-F238E27FC236}">
                  <a16:creationId xmlns:a16="http://schemas.microsoft.com/office/drawing/2014/main" id="{C595C063-A929-299F-007D-FD993A6DC07A}"/>
                </a:ext>
              </a:extLst>
            </p:cNvPr>
            <p:cNvSpPr/>
            <p:nvPr/>
          </p:nvSpPr>
          <p:spPr>
            <a:xfrm>
              <a:off x="2186452" y="5340679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48" name="Rectangle 25">
              <a:extLst>
                <a:ext uri="{FF2B5EF4-FFF2-40B4-BE49-F238E27FC236}">
                  <a16:creationId xmlns:a16="http://schemas.microsoft.com/office/drawing/2014/main" id="{BA4A8696-6391-0E51-645B-B6DA948CB736}"/>
                </a:ext>
              </a:extLst>
            </p:cNvPr>
            <p:cNvSpPr/>
            <p:nvPr/>
          </p:nvSpPr>
          <p:spPr>
            <a:xfrm>
              <a:off x="2558519" y="534068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26">
                  <a:extLst>
                    <a:ext uri="{FF2B5EF4-FFF2-40B4-BE49-F238E27FC236}">
                      <a16:creationId xmlns:a16="http://schemas.microsoft.com/office/drawing/2014/main" id="{5AB4EB5B-390F-A289-AB6F-60DCD1F98B86}"/>
                    </a:ext>
                  </a:extLst>
                </p:cNvPr>
                <p:cNvSpPr txBox="1"/>
                <p:nvPr/>
              </p:nvSpPr>
              <p:spPr>
                <a:xfrm>
                  <a:off x="600827" y="5328175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C746144-0C6D-B871-5C0A-5EACC6788A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827" y="5328175"/>
                  <a:ext cx="47474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Rectangle 27">
              <a:extLst>
                <a:ext uri="{FF2B5EF4-FFF2-40B4-BE49-F238E27FC236}">
                  <a16:creationId xmlns:a16="http://schemas.microsoft.com/office/drawing/2014/main" id="{CB29B7B2-4EF5-7511-9C27-575A71878E5D}"/>
                </a:ext>
              </a:extLst>
            </p:cNvPr>
            <p:cNvSpPr/>
            <p:nvPr/>
          </p:nvSpPr>
          <p:spPr>
            <a:xfrm>
              <a:off x="1053772" y="461772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51" name="Rectangle 28">
              <a:extLst>
                <a:ext uri="{FF2B5EF4-FFF2-40B4-BE49-F238E27FC236}">
                  <a16:creationId xmlns:a16="http://schemas.microsoft.com/office/drawing/2014/main" id="{8EFF73DA-94A4-85B9-239C-A7AEA8A1BD70}"/>
                </a:ext>
              </a:extLst>
            </p:cNvPr>
            <p:cNvSpPr/>
            <p:nvPr/>
          </p:nvSpPr>
          <p:spPr>
            <a:xfrm>
              <a:off x="1425839" y="461772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52" name="Rectangle 29">
              <a:extLst>
                <a:ext uri="{FF2B5EF4-FFF2-40B4-BE49-F238E27FC236}">
                  <a16:creationId xmlns:a16="http://schemas.microsoft.com/office/drawing/2014/main" id="{FAAD3735-0B1B-9E10-5D62-EC721206D737}"/>
                </a:ext>
              </a:extLst>
            </p:cNvPr>
            <p:cNvSpPr/>
            <p:nvPr/>
          </p:nvSpPr>
          <p:spPr>
            <a:xfrm>
              <a:off x="1797906" y="4617722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53" name="Rectangle 30">
              <a:extLst>
                <a:ext uri="{FF2B5EF4-FFF2-40B4-BE49-F238E27FC236}">
                  <a16:creationId xmlns:a16="http://schemas.microsoft.com/office/drawing/2014/main" id="{ACBE649E-5DD1-31A8-8A1C-3F2063C00C37}"/>
                </a:ext>
              </a:extLst>
            </p:cNvPr>
            <p:cNvSpPr/>
            <p:nvPr/>
          </p:nvSpPr>
          <p:spPr>
            <a:xfrm>
              <a:off x="2169973" y="461930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54" name="Rectangle 31">
              <a:extLst>
                <a:ext uri="{FF2B5EF4-FFF2-40B4-BE49-F238E27FC236}">
                  <a16:creationId xmlns:a16="http://schemas.microsoft.com/office/drawing/2014/main" id="{D96BB359-C2EC-218F-BCEC-5891B6304DCE}"/>
                </a:ext>
              </a:extLst>
            </p:cNvPr>
            <p:cNvSpPr/>
            <p:nvPr/>
          </p:nvSpPr>
          <p:spPr>
            <a:xfrm>
              <a:off x="2542040" y="461930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32">
                  <a:extLst>
                    <a:ext uri="{FF2B5EF4-FFF2-40B4-BE49-F238E27FC236}">
                      <a16:creationId xmlns:a16="http://schemas.microsoft.com/office/drawing/2014/main" id="{8CD44EE7-AC89-577C-2D42-6157A57720AB}"/>
                    </a:ext>
                  </a:extLst>
                </p:cNvPr>
                <p:cNvSpPr txBox="1"/>
                <p:nvPr/>
              </p:nvSpPr>
              <p:spPr>
                <a:xfrm>
                  <a:off x="600827" y="4617721"/>
                  <a:ext cx="474745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83CCAFA-6F6B-5AFA-9709-A610DBE3D5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827" y="4617721"/>
                  <a:ext cx="47474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4" name="Left Brace 52">
            <a:extLst>
              <a:ext uri="{FF2B5EF4-FFF2-40B4-BE49-F238E27FC236}">
                <a16:creationId xmlns:a16="http://schemas.microsoft.com/office/drawing/2014/main" id="{A0233E38-2968-4637-6CAF-4F8AC06080D5}"/>
              </a:ext>
            </a:extLst>
          </p:cNvPr>
          <p:cNvSpPr/>
          <p:nvPr/>
        </p:nvSpPr>
        <p:spPr>
          <a:xfrm rot="10800000">
            <a:off x="3898780" y="2030857"/>
            <a:ext cx="315305" cy="338643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67" name="Rectangle: Rounded Corners 10">
            <a:extLst>
              <a:ext uri="{FF2B5EF4-FFF2-40B4-BE49-F238E27FC236}">
                <a16:creationId xmlns:a16="http://schemas.microsoft.com/office/drawing/2014/main" id="{46F0C72E-798B-1FAF-5A6E-132351DD03BA}"/>
              </a:ext>
            </a:extLst>
          </p:cNvPr>
          <p:cNvSpPr/>
          <p:nvPr/>
        </p:nvSpPr>
        <p:spPr>
          <a:xfrm>
            <a:off x="5768990" y="3185369"/>
            <a:ext cx="2747380" cy="50849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What is the objective?</a:t>
            </a:r>
          </a:p>
        </p:txBody>
      </p:sp>
      <p:sp>
        <p:nvSpPr>
          <p:cNvPr id="68" name="Rectangle: Rounded Corners 10">
            <a:extLst>
              <a:ext uri="{FF2B5EF4-FFF2-40B4-BE49-F238E27FC236}">
                <a16:creationId xmlns:a16="http://schemas.microsoft.com/office/drawing/2014/main" id="{67DFAEBE-CFFB-BB51-F921-0FD98C695129}"/>
              </a:ext>
            </a:extLst>
          </p:cNvPr>
          <p:cNvSpPr/>
          <p:nvPr/>
        </p:nvSpPr>
        <p:spPr>
          <a:xfrm>
            <a:off x="5768991" y="3729738"/>
            <a:ext cx="2747380" cy="508492"/>
          </a:xfrm>
          <a:prstGeom prst="roundRect">
            <a:avLst/>
          </a:prstGeom>
          <a:solidFill>
            <a:srgbClr val="E7F0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002060"/>
                </a:solidFill>
              </a:rPr>
              <a:t>(k-) median</a:t>
            </a:r>
          </a:p>
        </p:txBody>
      </p:sp>
      <p:sp>
        <p:nvSpPr>
          <p:cNvPr id="69" name="Rectangle: Rounded Corners 10">
            <a:extLst>
              <a:ext uri="{FF2B5EF4-FFF2-40B4-BE49-F238E27FC236}">
                <a16:creationId xmlns:a16="http://schemas.microsoft.com/office/drawing/2014/main" id="{E020FB7C-65B6-13DF-9CC3-BC1EE9A70DFA}"/>
              </a:ext>
            </a:extLst>
          </p:cNvPr>
          <p:cNvSpPr/>
          <p:nvPr/>
        </p:nvSpPr>
        <p:spPr>
          <a:xfrm>
            <a:off x="5768990" y="4279049"/>
            <a:ext cx="2747380" cy="508492"/>
          </a:xfrm>
          <a:prstGeom prst="roundRect">
            <a:avLst/>
          </a:prstGeom>
          <a:solidFill>
            <a:srgbClr val="E7F0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002060"/>
                </a:solidFill>
              </a:rPr>
              <a:t>(k-) </a:t>
            </a:r>
            <a:r>
              <a:rPr lang="en-US" dirty="0">
                <a:solidFill>
                  <a:srgbClr val="002060"/>
                </a:solidFill>
              </a:rPr>
              <a:t>center</a:t>
            </a:r>
            <a:endParaRPr lang="en-US" i="1" dirty="0">
              <a:solidFill>
                <a:srgbClr val="002060"/>
              </a:solidFill>
            </a:endParaRPr>
          </a:p>
        </p:txBody>
      </p:sp>
      <p:sp>
        <p:nvSpPr>
          <p:cNvPr id="70" name="Rectangle: Rounded Corners 10">
            <a:extLst>
              <a:ext uri="{FF2B5EF4-FFF2-40B4-BE49-F238E27FC236}">
                <a16:creationId xmlns:a16="http://schemas.microsoft.com/office/drawing/2014/main" id="{0CE72343-EC9A-02AA-9A7C-9C547E9BFCCF}"/>
              </a:ext>
            </a:extLst>
          </p:cNvPr>
          <p:cNvSpPr/>
          <p:nvPr/>
        </p:nvSpPr>
        <p:spPr>
          <a:xfrm>
            <a:off x="5768990" y="4828360"/>
            <a:ext cx="2747380" cy="508492"/>
          </a:xfrm>
          <a:prstGeom prst="roundRect">
            <a:avLst/>
          </a:prstGeom>
          <a:solidFill>
            <a:srgbClr val="E7F0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002060"/>
                </a:solidFill>
              </a:rPr>
              <a:t>…</a:t>
            </a:r>
          </a:p>
        </p:txBody>
      </p: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5DAE29B7-2B67-2BED-5CB1-F62395CB8982}"/>
              </a:ext>
            </a:extLst>
          </p:cNvPr>
          <p:cNvSpPr/>
          <p:nvPr/>
        </p:nvSpPr>
        <p:spPr>
          <a:xfrm>
            <a:off x="7142680" y="1884217"/>
            <a:ext cx="2747380" cy="50849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Aggregated Rank</a:t>
            </a:r>
          </a:p>
        </p:txBody>
      </p:sp>
      <p:sp>
        <p:nvSpPr>
          <p:cNvPr id="72" name="Rectangle: Rounded Corners 10">
            <a:extLst>
              <a:ext uri="{FF2B5EF4-FFF2-40B4-BE49-F238E27FC236}">
                <a16:creationId xmlns:a16="http://schemas.microsoft.com/office/drawing/2014/main" id="{C8BCEDB9-45CF-A25B-C4EE-98C76F09F796}"/>
              </a:ext>
            </a:extLst>
          </p:cNvPr>
          <p:cNvSpPr/>
          <p:nvPr/>
        </p:nvSpPr>
        <p:spPr>
          <a:xfrm>
            <a:off x="8706890" y="3189698"/>
            <a:ext cx="2747380" cy="50849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What is the metric?</a:t>
            </a:r>
          </a:p>
        </p:txBody>
      </p:sp>
      <p:sp>
        <p:nvSpPr>
          <p:cNvPr id="73" name="Rectangle: Rounded Corners 10">
            <a:extLst>
              <a:ext uri="{FF2B5EF4-FFF2-40B4-BE49-F238E27FC236}">
                <a16:creationId xmlns:a16="http://schemas.microsoft.com/office/drawing/2014/main" id="{404F6193-3E34-0D9E-654C-DE4F9E4C5956}"/>
              </a:ext>
            </a:extLst>
          </p:cNvPr>
          <p:cNvSpPr/>
          <p:nvPr/>
        </p:nvSpPr>
        <p:spPr>
          <a:xfrm>
            <a:off x="8714658" y="3729738"/>
            <a:ext cx="2747380" cy="508492"/>
          </a:xfrm>
          <a:prstGeom prst="roundRect">
            <a:avLst/>
          </a:prstGeom>
          <a:solidFill>
            <a:srgbClr val="E7F0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002060"/>
                </a:solidFill>
              </a:rPr>
              <a:t>Kendall-tau</a:t>
            </a:r>
          </a:p>
        </p:txBody>
      </p:sp>
      <p:sp>
        <p:nvSpPr>
          <p:cNvPr id="74" name="Rectangle: Rounded Corners 10">
            <a:extLst>
              <a:ext uri="{FF2B5EF4-FFF2-40B4-BE49-F238E27FC236}">
                <a16:creationId xmlns:a16="http://schemas.microsoft.com/office/drawing/2014/main" id="{A25A9A6D-D7FB-C5F7-B8B2-C08028AB59CA}"/>
              </a:ext>
            </a:extLst>
          </p:cNvPr>
          <p:cNvSpPr/>
          <p:nvPr/>
        </p:nvSpPr>
        <p:spPr>
          <a:xfrm>
            <a:off x="8714657" y="4279049"/>
            <a:ext cx="2747380" cy="508492"/>
          </a:xfrm>
          <a:prstGeom prst="roundRect">
            <a:avLst/>
          </a:prstGeom>
          <a:solidFill>
            <a:srgbClr val="E7F0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002060"/>
                </a:solidFill>
              </a:rPr>
              <a:t>Edit</a:t>
            </a:r>
          </a:p>
        </p:txBody>
      </p:sp>
      <p:sp>
        <p:nvSpPr>
          <p:cNvPr id="75" name="Rectangle: Rounded Corners 10">
            <a:extLst>
              <a:ext uri="{FF2B5EF4-FFF2-40B4-BE49-F238E27FC236}">
                <a16:creationId xmlns:a16="http://schemas.microsoft.com/office/drawing/2014/main" id="{CE848E0A-51C2-9AAD-3E69-D8C8DDB4302D}"/>
              </a:ext>
            </a:extLst>
          </p:cNvPr>
          <p:cNvSpPr/>
          <p:nvPr/>
        </p:nvSpPr>
        <p:spPr>
          <a:xfrm>
            <a:off x="8714657" y="4828360"/>
            <a:ext cx="2747380" cy="508492"/>
          </a:xfrm>
          <a:prstGeom prst="roundRect">
            <a:avLst/>
          </a:prstGeom>
          <a:solidFill>
            <a:srgbClr val="E7F0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002060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99208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0">
              <a:srgbClr val="E9E9E9"/>
            </a:gs>
            <a:gs pos="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6FC6F-9A21-90C2-B874-314EF1DB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6"/>
            <a:ext cx="11597640" cy="75501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Applications of rank aggregation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F79A0F-E0FC-B542-2551-ED320D4E74E5}"/>
              </a:ext>
            </a:extLst>
          </p:cNvPr>
          <p:cNvSpPr/>
          <p:nvPr/>
        </p:nvSpPr>
        <p:spPr>
          <a:xfrm>
            <a:off x="1463040" y="1707109"/>
            <a:ext cx="2301240" cy="172189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042C18-A04A-BEA1-CA4B-6FAA795F3C46}"/>
              </a:ext>
            </a:extLst>
          </p:cNvPr>
          <p:cNvSpPr/>
          <p:nvPr/>
        </p:nvSpPr>
        <p:spPr>
          <a:xfrm>
            <a:off x="3863341" y="1673602"/>
            <a:ext cx="2301240" cy="271996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0E60A8B-A816-153E-8FD0-159A9C2070E4}"/>
              </a:ext>
            </a:extLst>
          </p:cNvPr>
          <p:cNvSpPr/>
          <p:nvPr/>
        </p:nvSpPr>
        <p:spPr>
          <a:xfrm>
            <a:off x="6278880" y="3482570"/>
            <a:ext cx="2301240" cy="220435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2192AB6-EFA9-55C7-64BD-47F127F23059}"/>
              </a:ext>
            </a:extLst>
          </p:cNvPr>
          <p:cNvSpPr/>
          <p:nvPr/>
        </p:nvSpPr>
        <p:spPr>
          <a:xfrm>
            <a:off x="1463040" y="3482570"/>
            <a:ext cx="2301240" cy="220435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00F26F-42A5-DB76-9CB3-7F399941C6DD}"/>
              </a:ext>
            </a:extLst>
          </p:cNvPr>
          <p:cNvSpPr/>
          <p:nvPr/>
        </p:nvSpPr>
        <p:spPr>
          <a:xfrm>
            <a:off x="3863341" y="4541521"/>
            <a:ext cx="2301240" cy="114540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BD28C96-CD3A-05ED-4645-972C691E3BCC}"/>
              </a:ext>
            </a:extLst>
          </p:cNvPr>
          <p:cNvSpPr/>
          <p:nvPr/>
        </p:nvSpPr>
        <p:spPr>
          <a:xfrm>
            <a:off x="6278880" y="1694446"/>
            <a:ext cx="2301240" cy="170629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8BA22E7-9710-CBB2-3850-AAB9E48C71AF}"/>
              </a:ext>
            </a:extLst>
          </p:cNvPr>
          <p:cNvSpPr/>
          <p:nvPr/>
        </p:nvSpPr>
        <p:spPr>
          <a:xfrm>
            <a:off x="8694419" y="1707109"/>
            <a:ext cx="2301240" cy="399383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Graphic 21" descr="Help with solid fill">
            <a:extLst>
              <a:ext uri="{FF2B5EF4-FFF2-40B4-BE49-F238E27FC236}">
                <a16:creationId xmlns:a16="http://schemas.microsoft.com/office/drawing/2014/main" id="{E72DAB39-2E2A-B64E-2724-7962BA874E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3132" y="2056498"/>
            <a:ext cx="914400" cy="914400"/>
          </a:xfrm>
          <a:prstGeom prst="rect">
            <a:avLst/>
          </a:prstGeom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  <p:pic>
        <p:nvPicPr>
          <p:cNvPr id="24" name="Graphic 23" descr="Help with solid fill">
            <a:extLst>
              <a:ext uri="{FF2B5EF4-FFF2-40B4-BE49-F238E27FC236}">
                <a16:creationId xmlns:a16="http://schemas.microsoft.com/office/drawing/2014/main" id="{935EB2A1-E0FE-C2A2-7EA2-CB8E590EEF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1222" y="4127547"/>
            <a:ext cx="914400" cy="914400"/>
          </a:xfrm>
          <a:prstGeom prst="rect">
            <a:avLst/>
          </a:prstGeom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  <p:pic>
        <p:nvPicPr>
          <p:cNvPr id="26" name="Graphic 25" descr="Help with solid fill">
            <a:extLst>
              <a:ext uri="{FF2B5EF4-FFF2-40B4-BE49-F238E27FC236}">
                <a16:creationId xmlns:a16="http://schemas.microsoft.com/office/drawing/2014/main" id="{8CB72B31-636D-E519-D94E-A7BF212062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1999" y="2726175"/>
            <a:ext cx="914400" cy="914400"/>
          </a:xfrm>
          <a:prstGeom prst="rect">
            <a:avLst/>
          </a:prstGeom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  <p:pic>
        <p:nvPicPr>
          <p:cNvPr id="28" name="Graphic 27" descr="Help with solid fill">
            <a:extLst>
              <a:ext uri="{FF2B5EF4-FFF2-40B4-BE49-F238E27FC236}">
                <a16:creationId xmlns:a16="http://schemas.microsoft.com/office/drawing/2014/main" id="{F2E4867C-E3A5-4B73-DE6D-08E6A9F753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1999" y="4661852"/>
            <a:ext cx="914400" cy="914400"/>
          </a:xfrm>
          <a:prstGeom prst="rect">
            <a:avLst/>
          </a:prstGeom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  <p:pic>
        <p:nvPicPr>
          <p:cNvPr id="30" name="Graphic 29" descr="Help with solid fill">
            <a:extLst>
              <a:ext uri="{FF2B5EF4-FFF2-40B4-BE49-F238E27FC236}">
                <a16:creationId xmlns:a16="http://schemas.microsoft.com/office/drawing/2014/main" id="{F6AA80D0-E025-DF8F-C7C0-8A0D165623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9919" y="2070056"/>
            <a:ext cx="914400" cy="914400"/>
          </a:xfrm>
          <a:prstGeom prst="rect">
            <a:avLst/>
          </a:prstGeom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  <p:pic>
        <p:nvPicPr>
          <p:cNvPr id="32" name="Graphic 31" descr="Help with solid fill">
            <a:extLst>
              <a:ext uri="{FF2B5EF4-FFF2-40B4-BE49-F238E27FC236}">
                <a16:creationId xmlns:a16="http://schemas.microsoft.com/office/drawing/2014/main" id="{A0EF0DD1-D62B-A581-42E6-2132E56113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2300" y="4171482"/>
            <a:ext cx="914400" cy="914400"/>
          </a:xfrm>
          <a:prstGeom prst="rect">
            <a:avLst/>
          </a:prstGeom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  <p:pic>
        <p:nvPicPr>
          <p:cNvPr id="34" name="Graphic 33" descr="Help with solid fill">
            <a:extLst>
              <a:ext uri="{FF2B5EF4-FFF2-40B4-BE49-F238E27FC236}">
                <a16:creationId xmlns:a16="http://schemas.microsoft.com/office/drawing/2014/main" id="{25DFE9BF-B2BA-3D2D-794E-BE5513E57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839" y="3213147"/>
            <a:ext cx="914400" cy="914400"/>
          </a:xfrm>
          <a:prstGeom prst="rect">
            <a:avLst/>
          </a:prstGeom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65171088-CCED-F892-C0A8-17F7B814C526}"/>
              </a:ext>
            </a:extLst>
          </p:cNvPr>
          <p:cNvSpPr/>
          <p:nvPr/>
        </p:nvSpPr>
        <p:spPr>
          <a:xfrm>
            <a:off x="1821180" y="2339340"/>
            <a:ext cx="1600200" cy="4982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33E4A07-16CE-9434-C42C-129BC1FD1630}"/>
              </a:ext>
            </a:extLst>
          </p:cNvPr>
          <p:cNvSpPr/>
          <p:nvPr/>
        </p:nvSpPr>
        <p:spPr>
          <a:xfrm>
            <a:off x="1965960" y="2278380"/>
            <a:ext cx="1325880" cy="5592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215F9A"/>
                </a:solidFill>
              </a:rPr>
              <a:t>Elections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EE7E06C-B5B9-DEFD-E946-98FF1E0F6EA4}"/>
              </a:ext>
            </a:extLst>
          </p:cNvPr>
          <p:cNvSpPr/>
          <p:nvPr/>
        </p:nvSpPr>
        <p:spPr>
          <a:xfrm>
            <a:off x="4389120" y="2855910"/>
            <a:ext cx="1325880" cy="5592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215F9A"/>
                </a:solidFill>
              </a:rPr>
              <a:t>Web evaluation systems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640949C-BFF0-4F2E-E1D4-DD9EDAEDDDE1}"/>
              </a:ext>
            </a:extLst>
          </p:cNvPr>
          <p:cNvSpPr/>
          <p:nvPr/>
        </p:nvSpPr>
        <p:spPr>
          <a:xfrm>
            <a:off x="6377942" y="4261914"/>
            <a:ext cx="2301239" cy="5592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rgbClr val="215F9A"/>
                </a:solidFill>
              </a:rPr>
              <a:t>Recommendation Systems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ABC770F-5F92-24F1-4ABD-4EF00A5B595F}"/>
              </a:ext>
            </a:extLst>
          </p:cNvPr>
          <p:cNvSpPr/>
          <p:nvPr/>
        </p:nvSpPr>
        <p:spPr>
          <a:xfrm>
            <a:off x="6797040" y="2186551"/>
            <a:ext cx="1325880" cy="5592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215F9A"/>
                </a:solidFill>
              </a:rPr>
              <a:t>Search engines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EEFF52-B6E4-ED8A-04E8-5061E6BBB104}"/>
              </a:ext>
            </a:extLst>
          </p:cNvPr>
          <p:cNvSpPr txBox="1"/>
          <p:nvPr/>
        </p:nvSpPr>
        <p:spPr>
          <a:xfrm>
            <a:off x="46089" y="5930444"/>
            <a:ext cx="6937583" cy="120032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/>
          <a:p>
            <a:r>
              <a:rPr lang="en-US" sz="7200">
                <a:solidFill>
                  <a:srgbClr val="215F9A">
                    <a:alpha val="6000"/>
                  </a:srgbClr>
                </a:solidFill>
                <a:latin typeface="Arial Black" panose="020B0A04020102020204" pitchFamily="34" charset="0"/>
              </a:rPr>
              <a:t>ICALP 2026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9D304F-9819-AE95-5796-13B13D5E04B3}"/>
              </a:ext>
            </a:extLst>
          </p:cNvPr>
          <p:cNvSpPr txBox="1"/>
          <p:nvPr/>
        </p:nvSpPr>
        <p:spPr>
          <a:xfrm>
            <a:off x="6164581" y="5930444"/>
            <a:ext cx="6937583" cy="120032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/>
          <a:p>
            <a:r>
              <a:rPr lang="en-US" sz="7200">
                <a:solidFill>
                  <a:srgbClr val="215F9A">
                    <a:alpha val="6000"/>
                  </a:srgbClr>
                </a:solidFill>
                <a:latin typeface="Arial Black" panose="020B0A04020102020204" pitchFamily="34" charset="0"/>
              </a:rPr>
              <a:t>ICALP 2026</a:t>
            </a:r>
          </a:p>
        </p:txBody>
      </p:sp>
    </p:spTree>
    <p:extLst>
      <p:ext uri="{BB962C8B-B14F-4D97-AF65-F5344CB8AC3E}">
        <p14:creationId xmlns:p14="http://schemas.microsoft.com/office/powerpoint/2010/main" val="3752529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6" dur="2000" fill="hold"/>
                                        <p:tgtEl>
                                          <p:spTgt spid="3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2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8" dur="2000" fill="hold"/>
                                        <p:tgtEl>
                                          <p:spTgt spid="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0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36" grpId="0"/>
      <p:bldP spid="38" grpId="0"/>
      <p:bldP spid="40" grpId="0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0">
              <a:srgbClr val="E9E9E9"/>
            </a:gs>
            <a:gs pos="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B5897-44B5-D6C5-9986-D00176885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1CDC2-C485-6EF3-31AB-4E668EA24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074" y="345137"/>
            <a:ext cx="11760926" cy="72026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Rank aggregation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E3D9560-4338-5E22-B9E9-B6ACACF73D5C}"/>
              </a:ext>
            </a:extLst>
          </p:cNvPr>
          <p:cNvGrpSpPr/>
          <p:nvPr/>
        </p:nvGrpSpPr>
        <p:grpSpPr>
          <a:xfrm>
            <a:off x="7182688" y="2515016"/>
            <a:ext cx="2329759" cy="409796"/>
            <a:chOff x="4138308" y="3861607"/>
            <a:chExt cx="2329759" cy="409796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8B2D73B9-53EB-9385-1BE0-C1D3571000B0}"/>
                </a:ext>
              </a:extLst>
            </p:cNvPr>
            <p:cNvSpPr/>
            <p:nvPr/>
          </p:nvSpPr>
          <p:spPr>
            <a:xfrm>
              <a:off x="4607732" y="3872532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?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85B9CB39-61FB-E085-6A0D-0B7A226693B3}"/>
                </a:ext>
              </a:extLst>
            </p:cNvPr>
            <p:cNvSpPr/>
            <p:nvPr/>
          </p:nvSpPr>
          <p:spPr>
            <a:xfrm>
              <a:off x="4979799" y="3872532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?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97BE5B1C-B2EC-2060-3D08-B2E5AD58C006}"/>
                </a:ext>
              </a:extLst>
            </p:cNvPr>
            <p:cNvSpPr/>
            <p:nvPr/>
          </p:nvSpPr>
          <p:spPr>
            <a:xfrm>
              <a:off x="5351866" y="3872533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?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DF8AAF1B-B8B4-4DB0-FEAF-4E6424CD1E41}"/>
                </a:ext>
              </a:extLst>
            </p:cNvPr>
            <p:cNvSpPr/>
            <p:nvPr/>
          </p:nvSpPr>
          <p:spPr>
            <a:xfrm>
              <a:off x="5723933" y="3874111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?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7209870B-4888-7BA3-D523-9AAE854B9754}"/>
                </a:ext>
              </a:extLst>
            </p:cNvPr>
            <p:cNvSpPr/>
            <p:nvPr/>
          </p:nvSpPr>
          <p:spPr>
            <a:xfrm>
              <a:off x="6096000" y="3874112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B4DC3F6F-A443-AE90-6481-8BB3A1391CF3}"/>
                    </a:ext>
                  </a:extLst>
                </p:cNvPr>
                <p:cNvSpPr txBox="1"/>
                <p:nvPr/>
              </p:nvSpPr>
              <p:spPr>
                <a:xfrm>
                  <a:off x="4138308" y="3861607"/>
                  <a:ext cx="4715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B4DC3F6F-A443-AE90-6481-8BB3A1391C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8308" y="3861607"/>
                  <a:ext cx="471539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57">
            <a:extLst>
              <a:ext uri="{FF2B5EF4-FFF2-40B4-BE49-F238E27FC236}">
                <a16:creationId xmlns:a16="http://schemas.microsoft.com/office/drawing/2014/main" id="{3AB978A6-0B26-25C5-FDDA-8388CA9BEEF3}"/>
              </a:ext>
            </a:extLst>
          </p:cNvPr>
          <p:cNvGrpSpPr/>
          <p:nvPr/>
        </p:nvGrpSpPr>
        <p:grpSpPr>
          <a:xfrm>
            <a:off x="1269929" y="2130639"/>
            <a:ext cx="2338471" cy="3207793"/>
            <a:chOff x="592115" y="2530178"/>
            <a:chExt cx="2338471" cy="3207793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2BA820CA-0F39-0F51-ECB5-4573A4DBBDC8}"/>
                </a:ext>
              </a:extLst>
            </p:cNvPr>
            <p:cNvSpPr/>
            <p:nvPr/>
          </p:nvSpPr>
          <p:spPr>
            <a:xfrm>
              <a:off x="1061539" y="254110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64BF769F-34C1-948A-FF4A-B8F11B6D420E}"/>
                </a:ext>
              </a:extLst>
            </p:cNvPr>
            <p:cNvSpPr/>
            <p:nvPr/>
          </p:nvSpPr>
          <p:spPr>
            <a:xfrm>
              <a:off x="1433606" y="254110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C2039B67-298C-A063-0249-A74A28C34EE8}"/>
                </a:ext>
              </a:extLst>
            </p:cNvPr>
            <p:cNvSpPr/>
            <p:nvPr/>
          </p:nvSpPr>
          <p:spPr>
            <a:xfrm>
              <a:off x="1805673" y="254110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FDD3404F-D119-2655-D05A-62E0D05724A3}"/>
                </a:ext>
              </a:extLst>
            </p:cNvPr>
            <p:cNvSpPr/>
            <p:nvPr/>
          </p:nvSpPr>
          <p:spPr>
            <a:xfrm>
              <a:off x="2177740" y="2542682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21" name="Rectangle 7">
              <a:extLst>
                <a:ext uri="{FF2B5EF4-FFF2-40B4-BE49-F238E27FC236}">
                  <a16:creationId xmlns:a16="http://schemas.microsoft.com/office/drawing/2014/main" id="{097A7A05-E662-4725-EE41-F61A4A41DB46}"/>
                </a:ext>
              </a:extLst>
            </p:cNvPr>
            <p:cNvSpPr/>
            <p:nvPr/>
          </p:nvSpPr>
          <p:spPr>
            <a:xfrm>
              <a:off x="2549807" y="254268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8">
                  <a:extLst>
                    <a:ext uri="{FF2B5EF4-FFF2-40B4-BE49-F238E27FC236}">
                      <a16:creationId xmlns:a16="http://schemas.microsoft.com/office/drawing/2014/main" id="{8BFD891C-BB09-E645-7AA7-D9230C5BF90C}"/>
                    </a:ext>
                  </a:extLst>
                </p:cNvPr>
                <p:cNvSpPr txBox="1"/>
                <p:nvPr/>
              </p:nvSpPr>
              <p:spPr>
                <a:xfrm>
                  <a:off x="592115" y="2530178"/>
                  <a:ext cx="469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8">
                  <a:extLst>
                    <a:ext uri="{FF2B5EF4-FFF2-40B4-BE49-F238E27FC236}">
                      <a16:creationId xmlns:a16="http://schemas.microsoft.com/office/drawing/2014/main" id="{8BFD891C-BB09-E645-7AA7-D9230C5BF9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15" y="2530178"/>
                  <a:ext cx="46942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362013DC-F807-61BE-2F7E-C505191F555C}"/>
                </a:ext>
              </a:extLst>
            </p:cNvPr>
            <p:cNvSpPr/>
            <p:nvPr/>
          </p:nvSpPr>
          <p:spPr>
            <a:xfrm>
              <a:off x="1061539" y="321708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33" name="Rectangle 10">
              <a:extLst>
                <a:ext uri="{FF2B5EF4-FFF2-40B4-BE49-F238E27FC236}">
                  <a16:creationId xmlns:a16="http://schemas.microsoft.com/office/drawing/2014/main" id="{13F97A94-F473-F081-E16C-47B88B1FAE34}"/>
                </a:ext>
              </a:extLst>
            </p:cNvPr>
            <p:cNvSpPr/>
            <p:nvPr/>
          </p:nvSpPr>
          <p:spPr>
            <a:xfrm>
              <a:off x="1433606" y="321708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34" name="Rectangle 11">
              <a:extLst>
                <a:ext uri="{FF2B5EF4-FFF2-40B4-BE49-F238E27FC236}">
                  <a16:creationId xmlns:a16="http://schemas.microsoft.com/office/drawing/2014/main" id="{00D4384A-8050-1514-0BB4-680F7082F474}"/>
                </a:ext>
              </a:extLst>
            </p:cNvPr>
            <p:cNvSpPr/>
            <p:nvPr/>
          </p:nvSpPr>
          <p:spPr>
            <a:xfrm>
              <a:off x="1805673" y="3217086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35" name="Rectangle 12">
              <a:extLst>
                <a:ext uri="{FF2B5EF4-FFF2-40B4-BE49-F238E27FC236}">
                  <a16:creationId xmlns:a16="http://schemas.microsoft.com/office/drawing/2014/main" id="{FF78F1F2-E6BE-826A-CC80-5984BFE36DDD}"/>
                </a:ext>
              </a:extLst>
            </p:cNvPr>
            <p:cNvSpPr/>
            <p:nvPr/>
          </p:nvSpPr>
          <p:spPr>
            <a:xfrm>
              <a:off x="2177740" y="321866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36" name="Rectangle 13">
              <a:extLst>
                <a:ext uri="{FF2B5EF4-FFF2-40B4-BE49-F238E27FC236}">
                  <a16:creationId xmlns:a16="http://schemas.microsoft.com/office/drawing/2014/main" id="{184C7CB2-2239-0504-4B2F-CEBA987F3422}"/>
                </a:ext>
              </a:extLst>
            </p:cNvPr>
            <p:cNvSpPr/>
            <p:nvPr/>
          </p:nvSpPr>
          <p:spPr>
            <a:xfrm>
              <a:off x="2549807" y="321866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14">
                  <a:extLst>
                    <a:ext uri="{FF2B5EF4-FFF2-40B4-BE49-F238E27FC236}">
                      <a16:creationId xmlns:a16="http://schemas.microsoft.com/office/drawing/2014/main" id="{2C9CF7FF-6B0C-3F2F-95E1-6A431235BCD5}"/>
                    </a:ext>
                  </a:extLst>
                </p:cNvPr>
                <p:cNvSpPr txBox="1"/>
                <p:nvPr/>
              </p:nvSpPr>
              <p:spPr>
                <a:xfrm>
                  <a:off x="592115" y="3206160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14">
                  <a:extLst>
                    <a:ext uri="{FF2B5EF4-FFF2-40B4-BE49-F238E27FC236}">
                      <a16:creationId xmlns:a16="http://schemas.microsoft.com/office/drawing/2014/main" id="{2C9CF7FF-6B0C-3F2F-95E1-6A431235BC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15" y="3206160"/>
                  <a:ext cx="47474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Rectangle 15">
              <a:extLst>
                <a:ext uri="{FF2B5EF4-FFF2-40B4-BE49-F238E27FC236}">
                  <a16:creationId xmlns:a16="http://schemas.microsoft.com/office/drawing/2014/main" id="{29A72BF2-217A-51B5-2C12-9C73006E27EA}"/>
                </a:ext>
              </a:extLst>
            </p:cNvPr>
            <p:cNvSpPr/>
            <p:nvPr/>
          </p:nvSpPr>
          <p:spPr>
            <a:xfrm>
              <a:off x="1061539" y="3918192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39" name="Rectangle 16">
              <a:extLst>
                <a:ext uri="{FF2B5EF4-FFF2-40B4-BE49-F238E27FC236}">
                  <a16:creationId xmlns:a16="http://schemas.microsoft.com/office/drawing/2014/main" id="{ACD91299-9DE0-8054-F4F7-CC70F6E161E5}"/>
                </a:ext>
              </a:extLst>
            </p:cNvPr>
            <p:cNvSpPr/>
            <p:nvPr/>
          </p:nvSpPr>
          <p:spPr>
            <a:xfrm>
              <a:off x="1433606" y="3918192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3</a:t>
              </a:r>
            </a:p>
          </p:txBody>
        </p:sp>
        <p:sp>
          <p:nvSpPr>
            <p:cNvPr id="40" name="Rectangle 17">
              <a:extLst>
                <a:ext uri="{FF2B5EF4-FFF2-40B4-BE49-F238E27FC236}">
                  <a16:creationId xmlns:a16="http://schemas.microsoft.com/office/drawing/2014/main" id="{E01BBBF8-0D2E-9CEA-5887-7634AB536287}"/>
                </a:ext>
              </a:extLst>
            </p:cNvPr>
            <p:cNvSpPr/>
            <p:nvPr/>
          </p:nvSpPr>
          <p:spPr>
            <a:xfrm>
              <a:off x="1805673" y="3918193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41" name="Rectangle 18">
              <a:extLst>
                <a:ext uri="{FF2B5EF4-FFF2-40B4-BE49-F238E27FC236}">
                  <a16:creationId xmlns:a16="http://schemas.microsoft.com/office/drawing/2014/main" id="{076482E1-F587-6867-F489-D56BCA2F0F1E}"/>
                </a:ext>
              </a:extLst>
            </p:cNvPr>
            <p:cNvSpPr/>
            <p:nvPr/>
          </p:nvSpPr>
          <p:spPr>
            <a:xfrm>
              <a:off x="2177740" y="3919771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42" name="Rectangle 19">
              <a:extLst>
                <a:ext uri="{FF2B5EF4-FFF2-40B4-BE49-F238E27FC236}">
                  <a16:creationId xmlns:a16="http://schemas.microsoft.com/office/drawing/2014/main" id="{77CE125A-1D36-EBE6-515E-3797C346EDB7}"/>
                </a:ext>
              </a:extLst>
            </p:cNvPr>
            <p:cNvSpPr/>
            <p:nvPr/>
          </p:nvSpPr>
          <p:spPr>
            <a:xfrm>
              <a:off x="2549807" y="3919772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4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20">
                  <a:extLst>
                    <a:ext uri="{FF2B5EF4-FFF2-40B4-BE49-F238E27FC236}">
                      <a16:creationId xmlns:a16="http://schemas.microsoft.com/office/drawing/2014/main" id="{6E3317A6-616E-93C9-01F7-7D85DFF5A758}"/>
                    </a:ext>
                  </a:extLst>
                </p:cNvPr>
                <p:cNvSpPr txBox="1"/>
                <p:nvPr/>
              </p:nvSpPr>
              <p:spPr>
                <a:xfrm>
                  <a:off x="592115" y="3907267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20">
                  <a:extLst>
                    <a:ext uri="{FF2B5EF4-FFF2-40B4-BE49-F238E27FC236}">
                      <a16:creationId xmlns:a16="http://schemas.microsoft.com/office/drawing/2014/main" id="{6E3317A6-616E-93C9-01F7-7D85DFF5A7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15" y="3907267"/>
                  <a:ext cx="47474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Rectangle 21">
              <a:extLst>
                <a:ext uri="{FF2B5EF4-FFF2-40B4-BE49-F238E27FC236}">
                  <a16:creationId xmlns:a16="http://schemas.microsoft.com/office/drawing/2014/main" id="{8F710165-757A-BDDE-EA5E-7502E0D1AF36}"/>
                </a:ext>
              </a:extLst>
            </p:cNvPr>
            <p:cNvSpPr/>
            <p:nvPr/>
          </p:nvSpPr>
          <p:spPr>
            <a:xfrm>
              <a:off x="1070251" y="533910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45" name="Rectangle 22">
              <a:extLst>
                <a:ext uri="{FF2B5EF4-FFF2-40B4-BE49-F238E27FC236}">
                  <a16:creationId xmlns:a16="http://schemas.microsoft.com/office/drawing/2014/main" id="{2D5417B4-AC6F-050C-6FAE-9DCB7D40D190}"/>
                </a:ext>
              </a:extLst>
            </p:cNvPr>
            <p:cNvSpPr/>
            <p:nvPr/>
          </p:nvSpPr>
          <p:spPr>
            <a:xfrm>
              <a:off x="1442318" y="533910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46" name="Rectangle 23">
              <a:extLst>
                <a:ext uri="{FF2B5EF4-FFF2-40B4-BE49-F238E27FC236}">
                  <a16:creationId xmlns:a16="http://schemas.microsoft.com/office/drawing/2014/main" id="{890A8561-D940-43EB-0050-113FED71C3E1}"/>
                </a:ext>
              </a:extLst>
            </p:cNvPr>
            <p:cNvSpPr/>
            <p:nvPr/>
          </p:nvSpPr>
          <p:spPr>
            <a:xfrm>
              <a:off x="1814385" y="533910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p:sp>
          <p:nvSpPr>
            <p:cNvPr id="47" name="Rectangle 24">
              <a:extLst>
                <a:ext uri="{FF2B5EF4-FFF2-40B4-BE49-F238E27FC236}">
                  <a16:creationId xmlns:a16="http://schemas.microsoft.com/office/drawing/2014/main" id="{BF18D41E-8C1F-6428-D469-4BE1C9C791DC}"/>
                </a:ext>
              </a:extLst>
            </p:cNvPr>
            <p:cNvSpPr/>
            <p:nvPr/>
          </p:nvSpPr>
          <p:spPr>
            <a:xfrm>
              <a:off x="2186452" y="5340679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48" name="Rectangle 25">
              <a:extLst>
                <a:ext uri="{FF2B5EF4-FFF2-40B4-BE49-F238E27FC236}">
                  <a16:creationId xmlns:a16="http://schemas.microsoft.com/office/drawing/2014/main" id="{B7A6CEA4-1324-0824-1094-0F559CA4D972}"/>
                </a:ext>
              </a:extLst>
            </p:cNvPr>
            <p:cNvSpPr/>
            <p:nvPr/>
          </p:nvSpPr>
          <p:spPr>
            <a:xfrm>
              <a:off x="2558519" y="534068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26">
                  <a:extLst>
                    <a:ext uri="{FF2B5EF4-FFF2-40B4-BE49-F238E27FC236}">
                      <a16:creationId xmlns:a16="http://schemas.microsoft.com/office/drawing/2014/main" id="{A085CE59-F77D-09B7-EB75-F49904BD852E}"/>
                    </a:ext>
                  </a:extLst>
                </p:cNvPr>
                <p:cNvSpPr txBox="1"/>
                <p:nvPr/>
              </p:nvSpPr>
              <p:spPr>
                <a:xfrm>
                  <a:off x="600827" y="5328175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26">
                  <a:extLst>
                    <a:ext uri="{FF2B5EF4-FFF2-40B4-BE49-F238E27FC236}">
                      <a16:creationId xmlns:a16="http://schemas.microsoft.com/office/drawing/2014/main" id="{A085CE59-F77D-09B7-EB75-F49904BD85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827" y="5328175"/>
                  <a:ext cx="47474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Rectangle 27">
              <a:extLst>
                <a:ext uri="{FF2B5EF4-FFF2-40B4-BE49-F238E27FC236}">
                  <a16:creationId xmlns:a16="http://schemas.microsoft.com/office/drawing/2014/main" id="{9E74D3C0-396B-A6A8-1971-F959ABEBD43E}"/>
                </a:ext>
              </a:extLst>
            </p:cNvPr>
            <p:cNvSpPr/>
            <p:nvPr/>
          </p:nvSpPr>
          <p:spPr>
            <a:xfrm>
              <a:off x="1053772" y="461772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51" name="Rectangle 28">
              <a:extLst>
                <a:ext uri="{FF2B5EF4-FFF2-40B4-BE49-F238E27FC236}">
                  <a16:creationId xmlns:a16="http://schemas.microsoft.com/office/drawing/2014/main" id="{FB3A32EB-3E0F-B2A5-E2AE-26FDFF5E5CE9}"/>
                </a:ext>
              </a:extLst>
            </p:cNvPr>
            <p:cNvSpPr/>
            <p:nvPr/>
          </p:nvSpPr>
          <p:spPr>
            <a:xfrm>
              <a:off x="1425839" y="461772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52" name="Rectangle 29">
              <a:extLst>
                <a:ext uri="{FF2B5EF4-FFF2-40B4-BE49-F238E27FC236}">
                  <a16:creationId xmlns:a16="http://schemas.microsoft.com/office/drawing/2014/main" id="{8A2ECD2E-2DB9-7388-115C-8B73CD747CD0}"/>
                </a:ext>
              </a:extLst>
            </p:cNvPr>
            <p:cNvSpPr/>
            <p:nvPr/>
          </p:nvSpPr>
          <p:spPr>
            <a:xfrm>
              <a:off x="1797906" y="4617722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53" name="Rectangle 30">
              <a:extLst>
                <a:ext uri="{FF2B5EF4-FFF2-40B4-BE49-F238E27FC236}">
                  <a16:creationId xmlns:a16="http://schemas.microsoft.com/office/drawing/2014/main" id="{2F0B541F-CED0-3591-E87A-9392BBFBE22D}"/>
                </a:ext>
              </a:extLst>
            </p:cNvPr>
            <p:cNvSpPr/>
            <p:nvPr/>
          </p:nvSpPr>
          <p:spPr>
            <a:xfrm>
              <a:off x="2169973" y="461930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54" name="Rectangle 31">
              <a:extLst>
                <a:ext uri="{FF2B5EF4-FFF2-40B4-BE49-F238E27FC236}">
                  <a16:creationId xmlns:a16="http://schemas.microsoft.com/office/drawing/2014/main" id="{40FF1AE1-D101-9B77-1D7D-83E4B15CDC2B}"/>
                </a:ext>
              </a:extLst>
            </p:cNvPr>
            <p:cNvSpPr/>
            <p:nvPr/>
          </p:nvSpPr>
          <p:spPr>
            <a:xfrm>
              <a:off x="2542040" y="461930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32">
                  <a:extLst>
                    <a:ext uri="{FF2B5EF4-FFF2-40B4-BE49-F238E27FC236}">
                      <a16:creationId xmlns:a16="http://schemas.microsoft.com/office/drawing/2014/main" id="{C1ABF8E6-10D0-4310-82EF-BFF2BB5056B7}"/>
                    </a:ext>
                  </a:extLst>
                </p:cNvPr>
                <p:cNvSpPr txBox="1"/>
                <p:nvPr/>
              </p:nvSpPr>
              <p:spPr>
                <a:xfrm>
                  <a:off x="600827" y="4617721"/>
                  <a:ext cx="474745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32">
                  <a:extLst>
                    <a:ext uri="{FF2B5EF4-FFF2-40B4-BE49-F238E27FC236}">
                      <a16:creationId xmlns:a16="http://schemas.microsoft.com/office/drawing/2014/main" id="{C1ABF8E6-10D0-4310-82EF-BFF2BB5056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827" y="4617721"/>
                  <a:ext cx="47474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4" name="Left Brace 52">
            <a:extLst>
              <a:ext uri="{FF2B5EF4-FFF2-40B4-BE49-F238E27FC236}">
                <a16:creationId xmlns:a16="http://schemas.microsoft.com/office/drawing/2014/main" id="{DD8247ED-9EBA-2DB2-AE74-3F3D9F911BC3}"/>
              </a:ext>
            </a:extLst>
          </p:cNvPr>
          <p:cNvSpPr/>
          <p:nvPr/>
        </p:nvSpPr>
        <p:spPr>
          <a:xfrm rot="10800000">
            <a:off x="3898780" y="2030857"/>
            <a:ext cx="315305" cy="338643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: Rounded Corners 10">
            <a:extLst>
              <a:ext uri="{FF2B5EF4-FFF2-40B4-BE49-F238E27FC236}">
                <a16:creationId xmlns:a16="http://schemas.microsoft.com/office/drawing/2014/main" id="{200EC18A-A6C0-1C30-DDAC-CDE4562D17A5}"/>
              </a:ext>
            </a:extLst>
          </p:cNvPr>
          <p:cNvSpPr/>
          <p:nvPr/>
        </p:nvSpPr>
        <p:spPr>
          <a:xfrm>
            <a:off x="5768990" y="3185369"/>
            <a:ext cx="2747380" cy="50849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What is the objective?</a:t>
            </a:r>
          </a:p>
        </p:txBody>
      </p:sp>
      <p:sp>
        <p:nvSpPr>
          <p:cNvPr id="68" name="Rectangle: Rounded Corners 10">
            <a:extLst>
              <a:ext uri="{FF2B5EF4-FFF2-40B4-BE49-F238E27FC236}">
                <a16:creationId xmlns:a16="http://schemas.microsoft.com/office/drawing/2014/main" id="{4C4D6614-AACA-08C9-54B5-E77C6BED301C}"/>
              </a:ext>
            </a:extLst>
          </p:cNvPr>
          <p:cNvSpPr/>
          <p:nvPr/>
        </p:nvSpPr>
        <p:spPr>
          <a:xfrm>
            <a:off x="5768991" y="3729738"/>
            <a:ext cx="2747380" cy="508492"/>
          </a:xfrm>
          <a:prstGeom prst="roundRect">
            <a:avLst/>
          </a:prstGeom>
          <a:solidFill>
            <a:srgbClr val="E7F0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002060"/>
                </a:solidFill>
              </a:rPr>
              <a:t>(k-) median</a:t>
            </a:r>
          </a:p>
        </p:txBody>
      </p:sp>
      <p:sp>
        <p:nvSpPr>
          <p:cNvPr id="69" name="Rectangle: Rounded Corners 10">
            <a:extLst>
              <a:ext uri="{FF2B5EF4-FFF2-40B4-BE49-F238E27FC236}">
                <a16:creationId xmlns:a16="http://schemas.microsoft.com/office/drawing/2014/main" id="{0774B446-D8AE-F467-656C-AFB61A757A93}"/>
              </a:ext>
            </a:extLst>
          </p:cNvPr>
          <p:cNvSpPr/>
          <p:nvPr/>
        </p:nvSpPr>
        <p:spPr>
          <a:xfrm>
            <a:off x="5768990" y="4279049"/>
            <a:ext cx="2747380" cy="508492"/>
          </a:xfrm>
          <a:prstGeom prst="roundRect">
            <a:avLst/>
          </a:prstGeom>
          <a:solidFill>
            <a:srgbClr val="E7F0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002060"/>
                </a:solidFill>
              </a:rPr>
              <a:t>(k-) </a:t>
            </a:r>
            <a:r>
              <a:rPr lang="en-US" dirty="0">
                <a:solidFill>
                  <a:srgbClr val="002060"/>
                </a:solidFill>
              </a:rPr>
              <a:t>center</a:t>
            </a:r>
            <a:endParaRPr lang="en-US" i="1" dirty="0">
              <a:solidFill>
                <a:srgbClr val="002060"/>
              </a:solidFill>
            </a:endParaRPr>
          </a:p>
        </p:txBody>
      </p:sp>
      <p:sp>
        <p:nvSpPr>
          <p:cNvPr id="70" name="Rectangle: Rounded Corners 10">
            <a:extLst>
              <a:ext uri="{FF2B5EF4-FFF2-40B4-BE49-F238E27FC236}">
                <a16:creationId xmlns:a16="http://schemas.microsoft.com/office/drawing/2014/main" id="{CA4B6C3B-67B8-DC8B-F562-EDEA8F7F4965}"/>
              </a:ext>
            </a:extLst>
          </p:cNvPr>
          <p:cNvSpPr/>
          <p:nvPr/>
        </p:nvSpPr>
        <p:spPr>
          <a:xfrm>
            <a:off x="5768990" y="4828360"/>
            <a:ext cx="2747380" cy="508492"/>
          </a:xfrm>
          <a:prstGeom prst="roundRect">
            <a:avLst/>
          </a:prstGeom>
          <a:solidFill>
            <a:srgbClr val="E7F0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002060"/>
                </a:solidFill>
              </a:rPr>
              <a:t>…</a:t>
            </a:r>
          </a:p>
        </p:txBody>
      </p:sp>
      <p:sp>
        <p:nvSpPr>
          <p:cNvPr id="71" name="Rectangle: Rounded Corners 10">
            <a:extLst>
              <a:ext uri="{FF2B5EF4-FFF2-40B4-BE49-F238E27FC236}">
                <a16:creationId xmlns:a16="http://schemas.microsoft.com/office/drawing/2014/main" id="{E16FD423-DF2B-6555-3576-89454457ADCB}"/>
              </a:ext>
            </a:extLst>
          </p:cNvPr>
          <p:cNvSpPr/>
          <p:nvPr/>
        </p:nvSpPr>
        <p:spPr>
          <a:xfrm>
            <a:off x="7142680" y="1884217"/>
            <a:ext cx="2747380" cy="50849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Aggregated Rank</a:t>
            </a:r>
          </a:p>
        </p:txBody>
      </p:sp>
      <p:sp>
        <p:nvSpPr>
          <p:cNvPr id="72" name="Rectangle: Rounded Corners 10">
            <a:extLst>
              <a:ext uri="{FF2B5EF4-FFF2-40B4-BE49-F238E27FC236}">
                <a16:creationId xmlns:a16="http://schemas.microsoft.com/office/drawing/2014/main" id="{6B4CAF6E-E9C0-9D9A-DE11-BF12F4079696}"/>
              </a:ext>
            </a:extLst>
          </p:cNvPr>
          <p:cNvSpPr/>
          <p:nvPr/>
        </p:nvSpPr>
        <p:spPr>
          <a:xfrm>
            <a:off x="8706890" y="3189698"/>
            <a:ext cx="2747380" cy="50849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What is the metric?</a:t>
            </a:r>
          </a:p>
        </p:txBody>
      </p:sp>
      <p:sp>
        <p:nvSpPr>
          <p:cNvPr id="73" name="Rectangle: Rounded Corners 10">
            <a:extLst>
              <a:ext uri="{FF2B5EF4-FFF2-40B4-BE49-F238E27FC236}">
                <a16:creationId xmlns:a16="http://schemas.microsoft.com/office/drawing/2014/main" id="{A1B0D5FD-E622-28C7-60CD-CA4C842870ED}"/>
              </a:ext>
            </a:extLst>
          </p:cNvPr>
          <p:cNvSpPr/>
          <p:nvPr/>
        </p:nvSpPr>
        <p:spPr>
          <a:xfrm>
            <a:off x="8714658" y="3729738"/>
            <a:ext cx="2747380" cy="508492"/>
          </a:xfrm>
          <a:prstGeom prst="roundRect">
            <a:avLst/>
          </a:prstGeom>
          <a:solidFill>
            <a:srgbClr val="E7F0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002060"/>
                </a:solidFill>
              </a:rPr>
              <a:t>Kendall-tau</a:t>
            </a:r>
          </a:p>
        </p:txBody>
      </p:sp>
      <p:sp>
        <p:nvSpPr>
          <p:cNvPr id="74" name="Rectangle: Rounded Corners 10">
            <a:extLst>
              <a:ext uri="{FF2B5EF4-FFF2-40B4-BE49-F238E27FC236}">
                <a16:creationId xmlns:a16="http://schemas.microsoft.com/office/drawing/2014/main" id="{9C22D20C-8F29-BDBC-C4D3-7C68C3B5A7F1}"/>
              </a:ext>
            </a:extLst>
          </p:cNvPr>
          <p:cNvSpPr/>
          <p:nvPr/>
        </p:nvSpPr>
        <p:spPr>
          <a:xfrm>
            <a:off x="8714657" y="4279049"/>
            <a:ext cx="2747380" cy="508492"/>
          </a:xfrm>
          <a:prstGeom prst="roundRect">
            <a:avLst/>
          </a:prstGeom>
          <a:solidFill>
            <a:srgbClr val="E7F0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002060"/>
                </a:solidFill>
              </a:rPr>
              <a:t>Edit</a:t>
            </a:r>
          </a:p>
        </p:txBody>
      </p:sp>
      <p:sp>
        <p:nvSpPr>
          <p:cNvPr id="75" name="Rectangle: Rounded Corners 10">
            <a:extLst>
              <a:ext uri="{FF2B5EF4-FFF2-40B4-BE49-F238E27FC236}">
                <a16:creationId xmlns:a16="http://schemas.microsoft.com/office/drawing/2014/main" id="{5F1CCE5F-61D8-AF20-0291-585641B7AA9E}"/>
              </a:ext>
            </a:extLst>
          </p:cNvPr>
          <p:cNvSpPr/>
          <p:nvPr/>
        </p:nvSpPr>
        <p:spPr>
          <a:xfrm>
            <a:off x="8714657" y="4828360"/>
            <a:ext cx="2747380" cy="508492"/>
          </a:xfrm>
          <a:prstGeom prst="roundRect">
            <a:avLst/>
          </a:prstGeom>
          <a:solidFill>
            <a:srgbClr val="E7F0F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002060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140050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0">
              <a:srgbClr val="E9E9E9"/>
            </a:gs>
            <a:gs pos="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60336-4273-28CB-F698-7975A6459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886" y="365125"/>
            <a:ext cx="11607114" cy="804077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1-Median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8D823-B3D9-052D-67B9-6AD2C25BCB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6803"/>
                <a:ext cx="10527687" cy="4351338"/>
              </a:xfrm>
            </p:spPr>
            <p:txBody>
              <a:bodyPr/>
              <a:lstStyle/>
              <a:p>
                <a:r>
                  <a:rPr lang="en-US" dirty="0"/>
                  <a:t>Input: a set of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from a metric space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Output: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med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≝ 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minimizing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box>
                      <m:box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8D823-B3D9-052D-67B9-6AD2C25BCB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6803"/>
                <a:ext cx="10527687" cy="4351338"/>
              </a:xfrm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016FE37-5350-066B-4DB7-A8D37404787A}"/>
                  </a:ext>
                </a:extLst>
              </p:cNvPr>
              <p:cNvSpPr/>
              <p:nvPr/>
            </p:nvSpPr>
            <p:spPr>
              <a:xfrm>
                <a:off x="2030599" y="3036439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016FE37-5350-066B-4DB7-A8D3740478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599" y="3036439"/>
                <a:ext cx="491884" cy="42251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0366F13-852C-5B95-14D5-B16AE06AFADC}"/>
                  </a:ext>
                </a:extLst>
              </p:cNvPr>
              <p:cNvSpPr/>
              <p:nvPr/>
            </p:nvSpPr>
            <p:spPr>
              <a:xfrm>
                <a:off x="5204723" y="4115851"/>
                <a:ext cx="401495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0366F13-852C-5B95-14D5-B16AE06AFA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4723" y="4115851"/>
                <a:ext cx="401495" cy="42251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A2BCFD7-A4F1-F339-280E-629EFBA59640}"/>
                  </a:ext>
                </a:extLst>
              </p:cNvPr>
              <p:cNvSpPr/>
              <p:nvPr/>
            </p:nvSpPr>
            <p:spPr>
              <a:xfrm>
                <a:off x="4782208" y="5688798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A2BCFD7-A4F1-F339-280E-629EFBA596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208" y="5688798"/>
                <a:ext cx="491884" cy="42251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3E7BD03-1E95-BF88-CA6F-E011F2577045}"/>
                  </a:ext>
                </a:extLst>
              </p:cNvPr>
              <p:cNvSpPr/>
              <p:nvPr/>
            </p:nvSpPr>
            <p:spPr>
              <a:xfrm>
                <a:off x="2051620" y="5014508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3E7BD03-1E95-BF88-CA6F-E011F25770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620" y="5014508"/>
                <a:ext cx="491884" cy="42251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7DE8A97-5976-9F0F-84E8-D6FFCB0190D0}"/>
                  </a:ext>
                </a:extLst>
              </p:cNvPr>
              <p:cNvSpPr/>
              <p:nvPr/>
            </p:nvSpPr>
            <p:spPr>
              <a:xfrm>
                <a:off x="8083506" y="5170067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7DE8A97-5976-9F0F-84E8-D6FFCB0190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3506" y="5170067"/>
                <a:ext cx="491884" cy="422515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2181C26F-B446-94AA-E24D-96639E0AEF28}"/>
                  </a:ext>
                </a:extLst>
              </p:cNvPr>
              <p:cNvSpPr/>
              <p:nvPr/>
            </p:nvSpPr>
            <p:spPr>
              <a:xfrm>
                <a:off x="7169106" y="2809416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2181C26F-B446-94AA-E24D-96639E0AEF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9106" y="2809416"/>
                <a:ext cx="491884" cy="422515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69D72A-21CA-3C4D-CAEB-A1A8BFDC13A0}"/>
              </a:ext>
            </a:extLst>
          </p:cNvPr>
          <p:cNvCxnSpPr>
            <a:cxnSpLocks/>
            <a:stCxn id="4" idx="6"/>
            <a:endCxn id="6" idx="1"/>
          </p:cNvCxnSpPr>
          <p:nvPr/>
        </p:nvCxnSpPr>
        <p:spPr>
          <a:xfrm>
            <a:off x="2522483" y="3247697"/>
            <a:ext cx="2741038" cy="93003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E4B837-A86A-F47A-909B-89E498348B02}"/>
              </a:ext>
            </a:extLst>
          </p:cNvPr>
          <p:cNvCxnSpPr>
            <a:cxnSpLocks/>
            <a:stCxn id="6" idx="6"/>
            <a:endCxn id="14" idx="3"/>
          </p:cNvCxnSpPr>
          <p:nvPr/>
        </p:nvCxnSpPr>
        <p:spPr>
          <a:xfrm flipV="1">
            <a:off x="5606218" y="3170055"/>
            <a:ext cx="1634923" cy="115705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BD57F96-A486-B053-AFB0-C38C7517B6CF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flipV="1">
            <a:off x="5028150" y="4538366"/>
            <a:ext cx="377321" cy="115043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0866919-7CF1-DB68-2D70-EFD4B0FFACBC}"/>
              </a:ext>
            </a:extLst>
          </p:cNvPr>
          <p:cNvCxnSpPr>
            <a:cxnSpLocks/>
            <a:stCxn id="10" idx="6"/>
            <a:endCxn id="6" idx="2"/>
          </p:cNvCxnSpPr>
          <p:nvPr/>
        </p:nvCxnSpPr>
        <p:spPr>
          <a:xfrm flipV="1">
            <a:off x="2543504" y="4327109"/>
            <a:ext cx="2661219" cy="898657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541D6DC-827D-AA1D-3937-0F1B449B6287}"/>
              </a:ext>
            </a:extLst>
          </p:cNvPr>
          <p:cNvCxnSpPr>
            <a:cxnSpLocks/>
            <a:stCxn id="6" idx="5"/>
            <a:endCxn id="12" idx="2"/>
          </p:cNvCxnSpPr>
          <p:nvPr/>
        </p:nvCxnSpPr>
        <p:spPr>
          <a:xfrm>
            <a:off x="5547420" y="4476490"/>
            <a:ext cx="2536086" cy="90483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536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0">
              <a:srgbClr val="E9E9E9"/>
            </a:gs>
            <a:gs pos="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0D6C2-B5A4-429D-3D8F-7C6C87F34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6" y="345137"/>
            <a:ext cx="11656354" cy="72026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Rank aggregation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F4ADF3-757F-4C03-D1F3-25A8282F55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5646" y="1198739"/>
                <a:ext cx="10789920" cy="1147730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>
                    <a:solidFill>
                      <a:srgbClr val="002060"/>
                    </a:solidFill>
                  </a:rPr>
                  <a:t>Input: a set of permutations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lit/>
                      </m:rP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000" dirty="0"/>
              </a:p>
              <a:p>
                <a:r>
                  <a:rPr lang="en-US" sz="2000" dirty="0">
                    <a:solidFill>
                      <a:srgbClr val="002060"/>
                    </a:solidFill>
                  </a:rPr>
                  <a:t>Output: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ed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d>
                    <m: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≝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2060"/>
                    </a:solidFill>
                  </a:rPr>
                  <a:t>minimizing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F4ADF3-757F-4C03-D1F3-25A8282F55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5646" y="1198739"/>
                <a:ext cx="10789920" cy="1147730"/>
              </a:xfrm>
              <a:blipFill>
                <a:blip r:embed="rId2"/>
                <a:stretch>
                  <a:fillRect l="-508" t="-10638" b="-31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C232A4B6-4B42-05E2-F713-D524349EC226}"/>
              </a:ext>
            </a:extLst>
          </p:cNvPr>
          <p:cNvGrpSpPr/>
          <p:nvPr/>
        </p:nvGrpSpPr>
        <p:grpSpPr>
          <a:xfrm>
            <a:off x="862405" y="2709394"/>
            <a:ext cx="2982836" cy="902948"/>
            <a:chOff x="383623" y="2817764"/>
            <a:chExt cx="2982836" cy="9029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4F2F27E-30B5-BF00-83E2-1CE83EAB56CD}"/>
                </a:ext>
              </a:extLst>
            </p:cNvPr>
            <p:cNvSpPr/>
            <p:nvPr/>
          </p:nvSpPr>
          <p:spPr>
            <a:xfrm>
              <a:off x="981663" y="307059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2C9E50B-6B66-C832-0C9E-E99F1ACBBAD4}"/>
                </a:ext>
              </a:extLst>
            </p:cNvPr>
            <p:cNvSpPr/>
            <p:nvPr/>
          </p:nvSpPr>
          <p:spPr>
            <a:xfrm>
              <a:off x="1353730" y="307059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B0EDDA1-2858-E17C-2086-78983FC30ECD}"/>
                </a:ext>
              </a:extLst>
            </p:cNvPr>
            <p:cNvSpPr/>
            <p:nvPr/>
          </p:nvSpPr>
          <p:spPr>
            <a:xfrm>
              <a:off x="1725797" y="307059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54D7717-204D-1EB1-95BD-1B61B029FBFC}"/>
                </a:ext>
              </a:extLst>
            </p:cNvPr>
            <p:cNvSpPr/>
            <p:nvPr/>
          </p:nvSpPr>
          <p:spPr>
            <a:xfrm>
              <a:off x="2097864" y="3072172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7167-B9CF-4F55-172A-C79D12C29BBB}"/>
                </a:ext>
              </a:extLst>
            </p:cNvPr>
            <p:cNvSpPr/>
            <p:nvPr/>
          </p:nvSpPr>
          <p:spPr>
            <a:xfrm>
              <a:off x="2469931" y="307217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5266FB0-9CF2-1936-0C70-9A28E083D459}"/>
                    </a:ext>
                  </a:extLst>
                </p:cNvPr>
                <p:cNvSpPr txBox="1"/>
                <p:nvPr/>
              </p:nvSpPr>
              <p:spPr>
                <a:xfrm>
                  <a:off x="512239" y="3059668"/>
                  <a:ext cx="469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5266FB0-9CF2-1936-0C70-9A28E083D4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239" y="3059668"/>
                  <a:ext cx="46942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660B466A-AD18-B415-3E07-AFF1D1A6FB0D}"/>
                </a:ext>
              </a:extLst>
            </p:cNvPr>
            <p:cNvSpPr/>
            <p:nvPr/>
          </p:nvSpPr>
          <p:spPr>
            <a:xfrm>
              <a:off x="383623" y="2817764"/>
              <a:ext cx="2982836" cy="902948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2F9378D-3988-00AD-E8D8-3F51CD86E65E}"/>
              </a:ext>
            </a:extLst>
          </p:cNvPr>
          <p:cNvGrpSpPr/>
          <p:nvPr/>
        </p:nvGrpSpPr>
        <p:grpSpPr>
          <a:xfrm>
            <a:off x="8275827" y="2297123"/>
            <a:ext cx="2982836" cy="902948"/>
            <a:chOff x="7592674" y="2151254"/>
            <a:chExt cx="2982836" cy="90294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35C2AEB-E926-2E0D-74AF-83D3BB93D344}"/>
                </a:ext>
              </a:extLst>
            </p:cNvPr>
            <p:cNvSpPr/>
            <p:nvPr/>
          </p:nvSpPr>
          <p:spPr>
            <a:xfrm>
              <a:off x="8339959" y="240408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140406E-1A7C-ED43-2D2B-ABFD4FBA703E}"/>
                </a:ext>
              </a:extLst>
            </p:cNvPr>
            <p:cNvSpPr/>
            <p:nvPr/>
          </p:nvSpPr>
          <p:spPr>
            <a:xfrm>
              <a:off x="8712026" y="240408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52D456C-EFF3-03CB-7F96-81CC0B0200A4}"/>
                </a:ext>
              </a:extLst>
            </p:cNvPr>
            <p:cNvSpPr/>
            <p:nvPr/>
          </p:nvSpPr>
          <p:spPr>
            <a:xfrm>
              <a:off x="9084093" y="240408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C68B44-634C-25D6-2A7A-13E9C8840982}"/>
                </a:ext>
              </a:extLst>
            </p:cNvPr>
            <p:cNvSpPr/>
            <p:nvPr/>
          </p:nvSpPr>
          <p:spPr>
            <a:xfrm>
              <a:off x="9456160" y="2405662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A62F46F-7D69-255E-5ECB-67685EBE286C}"/>
                </a:ext>
              </a:extLst>
            </p:cNvPr>
            <p:cNvSpPr/>
            <p:nvPr/>
          </p:nvSpPr>
          <p:spPr>
            <a:xfrm>
              <a:off x="9828227" y="240566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DBFBB91-1475-1883-EEC7-F7F1BD1B781B}"/>
                    </a:ext>
                  </a:extLst>
                </p:cNvPr>
                <p:cNvSpPr txBox="1"/>
                <p:nvPr/>
              </p:nvSpPr>
              <p:spPr>
                <a:xfrm>
                  <a:off x="7870535" y="2393158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DBFBB91-1475-1883-EEC7-F7F1BD1B78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0535" y="2393158"/>
                  <a:ext cx="47474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364ED492-5911-BC21-4DA5-EAECBEA97B38}"/>
                </a:ext>
              </a:extLst>
            </p:cNvPr>
            <p:cNvSpPr/>
            <p:nvPr/>
          </p:nvSpPr>
          <p:spPr>
            <a:xfrm>
              <a:off x="7592674" y="2151254"/>
              <a:ext cx="2982836" cy="902948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0CC8784-618B-DA60-BA3E-58840C748B5D}"/>
              </a:ext>
            </a:extLst>
          </p:cNvPr>
          <p:cNvGrpSpPr/>
          <p:nvPr/>
        </p:nvGrpSpPr>
        <p:grpSpPr>
          <a:xfrm>
            <a:off x="8532792" y="5031169"/>
            <a:ext cx="2982836" cy="902948"/>
            <a:chOff x="6992530" y="5040651"/>
            <a:chExt cx="2982836" cy="902948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0E69358E-08F1-DC25-B4B0-8A6AE3AA3976}"/>
                </a:ext>
              </a:extLst>
            </p:cNvPr>
            <p:cNvSpPr/>
            <p:nvPr/>
          </p:nvSpPr>
          <p:spPr>
            <a:xfrm>
              <a:off x="7595824" y="526620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E8DEACC9-DA8F-F9C0-347A-3B1DFEF5FEAC}"/>
                </a:ext>
              </a:extLst>
            </p:cNvPr>
            <p:cNvSpPr/>
            <p:nvPr/>
          </p:nvSpPr>
          <p:spPr>
            <a:xfrm>
              <a:off x="7967891" y="526620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E038E01-8FBB-263D-BD21-EBAB34609533}"/>
                </a:ext>
              </a:extLst>
            </p:cNvPr>
            <p:cNvSpPr/>
            <p:nvPr/>
          </p:nvSpPr>
          <p:spPr>
            <a:xfrm>
              <a:off x="8339958" y="526620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53937DD-B3B4-0CD2-D33D-0B8F3B7CB648}"/>
                </a:ext>
              </a:extLst>
            </p:cNvPr>
            <p:cNvSpPr/>
            <p:nvPr/>
          </p:nvSpPr>
          <p:spPr>
            <a:xfrm>
              <a:off x="8712025" y="526778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B57EBD5D-7E56-A3AC-F380-D494DB6EEF43}"/>
                </a:ext>
              </a:extLst>
            </p:cNvPr>
            <p:cNvSpPr/>
            <p:nvPr/>
          </p:nvSpPr>
          <p:spPr>
            <a:xfrm>
              <a:off x="9084092" y="526778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7270FB71-7202-B67D-ADCC-0820F44AFC7C}"/>
                    </a:ext>
                  </a:extLst>
                </p:cNvPr>
                <p:cNvSpPr txBox="1"/>
                <p:nvPr/>
              </p:nvSpPr>
              <p:spPr>
                <a:xfrm>
                  <a:off x="7126400" y="5255279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7270FB71-7202-B67D-ADCC-0820F44AFC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400" y="5255279"/>
                  <a:ext cx="47474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D0232ABD-8406-C192-AA67-27EAC1592C05}"/>
                </a:ext>
              </a:extLst>
            </p:cNvPr>
            <p:cNvSpPr/>
            <p:nvPr/>
          </p:nvSpPr>
          <p:spPr>
            <a:xfrm>
              <a:off x="6992530" y="5040651"/>
              <a:ext cx="2982836" cy="902948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1467850-8FDE-F52E-05CF-8999B9D4CC45}"/>
              </a:ext>
            </a:extLst>
          </p:cNvPr>
          <p:cNvGrpSpPr/>
          <p:nvPr/>
        </p:nvGrpSpPr>
        <p:grpSpPr>
          <a:xfrm>
            <a:off x="8598821" y="3549425"/>
            <a:ext cx="2982836" cy="902948"/>
            <a:chOff x="7967891" y="3779465"/>
            <a:chExt cx="2982836" cy="902948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AF67D632-8835-43B4-294D-D79563DABE0A}"/>
                </a:ext>
              </a:extLst>
            </p:cNvPr>
            <p:cNvSpPr/>
            <p:nvPr/>
          </p:nvSpPr>
          <p:spPr>
            <a:xfrm>
              <a:off x="8513487" y="402545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7BD8B0D-71F1-FC9B-878A-0473F33178F0}"/>
                </a:ext>
              </a:extLst>
            </p:cNvPr>
            <p:cNvSpPr/>
            <p:nvPr/>
          </p:nvSpPr>
          <p:spPr>
            <a:xfrm>
              <a:off x="8885554" y="402545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F8C1D13-7060-B42D-E84E-BCDBA5728900}"/>
                </a:ext>
              </a:extLst>
            </p:cNvPr>
            <p:cNvSpPr/>
            <p:nvPr/>
          </p:nvSpPr>
          <p:spPr>
            <a:xfrm>
              <a:off x="9257621" y="4025456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B30501F0-7B55-65EE-A020-326BF40A1023}"/>
                </a:ext>
              </a:extLst>
            </p:cNvPr>
            <p:cNvSpPr/>
            <p:nvPr/>
          </p:nvSpPr>
          <p:spPr>
            <a:xfrm>
              <a:off x="9629688" y="402703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B75DD69A-835B-0BF0-20D4-CCD55208B325}"/>
                </a:ext>
              </a:extLst>
            </p:cNvPr>
            <p:cNvSpPr/>
            <p:nvPr/>
          </p:nvSpPr>
          <p:spPr>
            <a:xfrm>
              <a:off x="10001755" y="402703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FF14699F-BF03-8AA0-7897-33C2922473B0}"/>
                    </a:ext>
                  </a:extLst>
                </p:cNvPr>
                <p:cNvSpPr txBox="1"/>
                <p:nvPr/>
              </p:nvSpPr>
              <p:spPr>
                <a:xfrm>
                  <a:off x="8060542" y="4025455"/>
                  <a:ext cx="474745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FF14699F-BF03-8AA0-7897-33C2922473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0542" y="4025455"/>
                  <a:ext cx="47474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7DDBB545-556E-590E-E4B2-E71B2CDB718A}"/>
                </a:ext>
              </a:extLst>
            </p:cNvPr>
            <p:cNvSpPr/>
            <p:nvPr/>
          </p:nvSpPr>
          <p:spPr>
            <a:xfrm>
              <a:off x="7967891" y="3779465"/>
              <a:ext cx="2982836" cy="902948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7C0752F-947F-F892-6408-4FD8562ABA09}"/>
              </a:ext>
            </a:extLst>
          </p:cNvPr>
          <p:cNvGrpSpPr/>
          <p:nvPr/>
        </p:nvGrpSpPr>
        <p:grpSpPr>
          <a:xfrm>
            <a:off x="1016702" y="4421964"/>
            <a:ext cx="2982836" cy="902948"/>
            <a:chOff x="1769343" y="4988471"/>
            <a:chExt cx="2982836" cy="902948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B0F2146-9A30-CBA3-2976-5519580C933D}"/>
                </a:ext>
              </a:extLst>
            </p:cNvPr>
            <p:cNvSpPr/>
            <p:nvPr/>
          </p:nvSpPr>
          <p:spPr>
            <a:xfrm>
              <a:off x="2363774" y="5177917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6A51C1B-8FC2-256C-79E7-049BF300B7B0}"/>
                </a:ext>
              </a:extLst>
            </p:cNvPr>
            <p:cNvSpPr/>
            <p:nvPr/>
          </p:nvSpPr>
          <p:spPr>
            <a:xfrm>
              <a:off x="2735841" y="5177917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AF431CFD-AD45-76CC-56DD-0FA3310A19F0}"/>
                </a:ext>
              </a:extLst>
            </p:cNvPr>
            <p:cNvSpPr/>
            <p:nvPr/>
          </p:nvSpPr>
          <p:spPr>
            <a:xfrm>
              <a:off x="3107908" y="5177918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4C21AAE-2E8D-A94C-FD7A-2EA7C69E4971}"/>
                </a:ext>
              </a:extLst>
            </p:cNvPr>
            <p:cNvSpPr/>
            <p:nvPr/>
          </p:nvSpPr>
          <p:spPr>
            <a:xfrm>
              <a:off x="3479975" y="5179496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B6D4897A-50DF-15EC-E7F6-5AA75B93876C}"/>
                </a:ext>
              </a:extLst>
            </p:cNvPr>
            <p:cNvSpPr/>
            <p:nvPr/>
          </p:nvSpPr>
          <p:spPr>
            <a:xfrm>
              <a:off x="3852042" y="5179497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7265BA20-B633-517C-6870-35D96AF24CBC}"/>
                    </a:ext>
                  </a:extLst>
                </p:cNvPr>
                <p:cNvSpPr txBox="1"/>
                <p:nvPr/>
              </p:nvSpPr>
              <p:spPr>
                <a:xfrm>
                  <a:off x="1894350" y="5166992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7265BA20-B633-517C-6870-35D96AF24C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4350" y="5166992"/>
                  <a:ext cx="47474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F8A29F86-E63B-06D5-80C3-26160CBF333B}"/>
                </a:ext>
              </a:extLst>
            </p:cNvPr>
            <p:cNvSpPr/>
            <p:nvPr/>
          </p:nvSpPr>
          <p:spPr>
            <a:xfrm>
              <a:off x="1769343" y="4988471"/>
              <a:ext cx="2982836" cy="902948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C216F6E-C6A1-6380-E0CE-5178C5AC6354}"/>
              </a:ext>
            </a:extLst>
          </p:cNvPr>
          <p:cNvGrpSpPr/>
          <p:nvPr/>
        </p:nvGrpSpPr>
        <p:grpSpPr>
          <a:xfrm>
            <a:off x="4639132" y="3097951"/>
            <a:ext cx="2982836" cy="902948"/>
            <a:chOff x="3952469" y="3594799"/>
            <a:chExt cx="2982836" cy="902948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A135407-0876-44BA-1738-D0DB525F1D8B}"/>
                </a:ext>
              </a:extLst>
            </p:cNvPr>
            <p:cNvSpPr/>
            <p:nvPr/>
          </p:nvSpPr>
          <p:spPr>
            <a:xfrm>
              <a:off x="4607732" y="3872532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?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D9768DCB-F91E-8C76-83B9-0ABFE9AD33F9}"/>
                </a:ext>
              </a:extLst>
            </p:cNvPr>
            <p:cNvSpPr/>
            <p:nvPr/>
          </p:nvSpPr>
          <p:spPr>
            <a:xfrm>
              <a:off x="4979799" y="3872532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?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E20B2422-9962-57DE-87BF-55165A0E1838}"/>
                </a:ext>
              </a:extLst>
            </p:cNvPr>
            <p:cNvSpPr/>
            <p:nvPr/>
          </p:nvSpPr>
          <p:spPr>
            <a:xfrm>
              <a:off x="5351866" y="3872533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?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6BE5007B-E7B6-1189-1052-183B77E97667}"/>
                </a:ext>
              </a:extLst>
            </p:cNvPr>
            <p:cNvSpPr/>
            <p:nvPr/>
          </p:nvSpPr>
          <p:spPr>
            <a:xfrm>
              <a:off x="5723933" y="3874111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?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AE58D321-1FE8-CFA2-9DF7-F873EC7239A4}"/>
                </a:ext>
              </a:extLst>
            </p:cNvPr>
            <p:cNvSpPr/>
            <p:nvPr/>
          </p:nvSpPr>
          <p:spPr>
            <a:xfrm>
              <a:off x="6096000" y="3874112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C2594825-BBDE-D9F9-972E-09592DBA8C33}"/>
                    </a:ext>
                  </a:extLst>
                </p:cNvPr>
                <p:cNvSpPr txBox="1"/>
                <p:nvPr/>
              </p:nvSpPr>
              <p:spPr>
                <a:xfrm>
                  <a:off x="4138308" y="3861607"/>
                  <a:ext cx="4715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C2594825-BBDE-D9F9-972E-09592DBA8C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8308" y="3861607"/>
                  <a:ext cx="47153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96D169BD-8308-0463-AA1C-B3B689884D42}"/>
                </a:ext>
              </a:extLst>
            </p:cNvPr>
            <p:cNvSpPr/>
            <p:nvPr/>
          </p:nvSpPr>
          <p:spPr>
            <a:xfrm>
              <a:off x="3952469" y="3594799"/>
              <a:ext cx="2982836" cy="90294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9665646D-28F1-0DF3-606A-47AA796462DF}"/>
              </a:ext>
            </a:extLst>
          </p:cNvPr>
          <p:cNvCxnSpPr>
            <a:cxnSpLocks/>
            <a:stCxn id="123" idx="5"/>
            <a:endCxn id="133" idx="2"/>
          </p:cNvCxnSpPr>
          <p:nvPr/>
        </p:nvCxnSpPr>
        <p:spPr>
          <a:xfrm>
            <a:off x="3408415" y="3480108"/>
            <a:ext cx="1230717" cy="69317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5E76C1E4-F966-D442-7FA1-8B5A202DEA95}"/>
              </a:ext>
            </a:extLst>
          </p:cNvPr>
          <p:cNvCxnSpPr>
            <a:cxnSpLocks/>
            <a:stCxn id="125" idx="3"/>
            <a:endCxn id="133" idx="7"/>
          </p:cNvCxnSpPr>
          <p:nvPr/>
        </p:nvCxnSpPr>
        <p:spPr>
          <a:xfrm flipH="1">
            <a:off x="7185142" y="3067837"/>
            <a:ext cx="1527511" cy="162348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F3084D6D-0D4B-2E46-B782-4B589EBC5581}"/>
              </a:ext>
            </a:extLst>
          </p:cNvPr>
          <p:cNvCxnSpPr>
            <a:cxnSpLocks/>
            <a:stCxn id="133" idx="6"/>
            <a:endCxn id="129" idx="2"/>
          </p:cNvCxnSpPr>
          <p:nvPr/>
        </p:nvCxnSpPr>
        <p:spPr>
          <a:xfrm>
            <a:off x="7621968" y="3549425"/>
            <a:ext cx="976853" cy="45147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C352B3D9-DDD5-A345-05F7-13D0ECF96D75}"/>
              </a:ext>
            </a:extLst>
          </p:cNvPr>
          <p:cNvCxnSpPr>
            <a:cxnSpLocks/>
            <a:stCxn id="131" idx="7"/>
            <a:endCxn id="133" idx="3"/>
          </p:cNvCxnSpPr>
          <p:nvPr/>
        </p:nvCxnSpPr>
        <p:spPr>
          <a:xfrm flipV="1">
            <a:off x="3562712" y="3868665"/>
            <a:ext cx="1513246" cy="685533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756CE64-E691-9DA0-1D88-148E983711E1}"/>
              </a:ext>
            </a:extLst>
          </p:cNvPr>
          <p:cNvCxnSpPr>
            <a:cxnSpLocks/>
            <a:stCxn id="133" idx="5"/>
            <a:endCxn id="127" idx="1"/>
          </p:cNvCxnSpPr>
          <p:nvPr/>
        </p:nvCxnSpPr>
        <p:spPr>
          <a:xfrm>
            <a:off x="7185142" y="3868665"/>
            <a:ext cx="1784476" cy="1294738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E635667-D4EB-08AC-A4F3-F57A1643EC00}"/>
              </a:ext>
            </a:extLst>
          </p:cNvPr>
          <p:cNvGrpSpPr/>
          <p:nvPr/>
        </p:nvGrpSpPr>
        <p:grpSpPr>
          <a:xfrm>
            <a:off x="4659452" y="4854183"/>
            <a:ext cx="2982836" cy="1634490"/>
            <a:chOff x="4659452" y="4854183"/>
            <a:chExt cx="2982836" cy="163449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15FBAD9-4232-1C95-DEF3-BEED4602B2D5}"/>
                </a:ext>
              </a:extLst>
            </p:cNvPr>
            <p:cNvSpPr/>
            <p:nvPr/>
          </p:nvSpPr>
          <p:spPr>
            <a:xfrm>
              <a:off x="4659452" y="4854183"/>
              <a:ext cx="2982836" cy="163449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355600" sx="103000" sy="103000" algn="ctr" rotWithShape="0">
                <a:prstClr val="black">
                  <a:alpha val="26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215F9A"/>
                  </a:solidFill>
                </a:rPr>
                <a:t>Metrics of interest:</a:t>
              </a:r>
            </a:p>
            <a:p>
              <a:pPr algn="ctr"/>
              <a:r>
                <a:rPr lang="en-US" dirty="0">
                  <a:solidFill>
                    <a:srgbClr val="002060"/>
                  </a:solidFill>
                </a:rPr>
                <a:t>Ulam</a:t>
              </a:r>
            </a:p>
            <a:p>
              <a:pPr algn="ctr"/>
              <a:r>
                <a:rPr lang="en-US" dirty="0">
                  <a:solidFill>
                    <a:srgbClr val="002060"/>
                  </a:solidFill>
                </a:rPr>
                <a:t>Kendall-tau</a:t>
              </a:r>
            </a:p>
            <a:p>
              <a:pPr algn="ctr"/>
              <a:r>
                <a:rPr lang="en-US" dirty="0">
                  <a:solidFill>
                    <a:srgbClr val="002060"/>
                  </a:solidFill>
                </a:rPr>
                <a:t>Hamming</a:t>
              </a:r>
            </a:p>
            <a:p>
              <a:pPr algn="ctr"/>
              <a:r>
                <a:rPr lang="en-US" dirty="0">
                  <a:solidFill>
                    <a:srgbClr val="002060"/>
                  </a:solidFill>
                </a:rPr>
                <a:t>Spearman-footrule</a:t>
              </a:r>
            </a:p>
          </p:txBody>
        </p:sp>
        <p:pic>
          <p:nvPicPr>
            <p:cNvPr id="35" name="Picture 34" descr="Cross Tick Images – Browse 90,299 Stock Photos, Vectors, and Video | Adobe  Stock">
              <a:extLst>
                <a:ext uri="{FF2B5EF4-FFF2-40B4-BE49-F238E27FC236}">
                  <a16:creationId xmlns:a16="http://schemas.microsoft.com/office/drawing/2014/main" id="{6766AB9A-E8D7-2FEB-1B03-52CF095F7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20000"/>
            </a:blip>
            <a:srcRect l="9629" t="8720" r="53178" b="17710"/>
            <a:stretch>
              <a:fillRect/>
            </a:stretch>
          </p:blipFill>
          <p:spPr>
            <a:xfrm>
              <a:off x="5666462" y="5052558"/>
              <a:ext cx="1033712" cy="11002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6584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9B89E-9BDF-BCA2-10C3-33A2BF5B7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262" y="365125"/>
            <a:ext cx="11652738" cy="73977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Real world dataset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4E891C5-09BB-FC86-4E2E-E31BF9778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183" y="1818126"/>
            <a:ext cx="2844799" cy="85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7F61F1F-3F22-93A8-70F3-682D56B3F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370" y="1668476"/>
            <a:ext cx="2571259" cy="78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5E054EE-FA5E-7A19-62E0-1AECF3610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9984" y="1668476"/>
            <a:ext cx="2711937" cy="816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Đường nối Thẳng 3">
            <a:extLst>
              <a:ext uri="{FF2B5EF4-FFF2-40B4-BE49-F238E27FC236}">
                <a16:creationId xmlns:a16="http://schemas.microsoft.com/office/drawing/2014/main" id="{7F115A9A-B1BD-1E06-0B12-26B35F052259}"/>
              </a:ext>
            </a:extLst>
          </p:cNvPr>
          <p:cNvCxnSpPr/>
          <p:nvPr/>
        </p:nvCxnSpPr>
        <p:spPr>
          <a:xfrm>
            <a:off x="4314092" y="1896043"/>
            <a:ext cx="0" cy="410617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Đường nối Thẳng 4">
            <a:extLst>
              <a:ext uri="{FF2B5EF4-FFF2-40B4-BE49-F238E27FC236}">
                <a16:creationId xmlns:a16="http://schemas.microsoft.com/office/drawing/2014/main" id="{11CB7A01-69C4-1082-99FD-6B183E345756}"/>
              </a:ext>
            </a:extLst>
          </p:cNvPr>
          <p:cNvCxnSpPr/>
          <p:nvPr/>
        </p:nvCxnSpPr>
        <p:spPr>
          <a:xfrm>
            <a:off x="7874000" y="1818126"/>
            <a:ext cx="0" cy="410617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Nhóm 10">
            <a:extLst>
              <a:ext uri="{FF2B5EF4-FFF2-40B4-BE49-F238E27FC236}">
                <a16:creationId xmlns:a16="http://schemas.microsoft.com/office/drawing/2014/main" id="{6BCAF23D-7EC2-4400-11F1-6AB2C7DD9DEB}"/>
              </a:ext>
            </a:extLst>
          </p:cNvPr>
          <p:cNvGrpSpPr/>
          <p:nvPr/>
        </p:nvGrpSpPr>
        <p:grpSpPr>
          <a:xfrm>
            <a:off x="1317726" y="3595186"/>
            <a:ext cx="2219571" cy="707886"/>
            <a:chOff x="1317728" y="3687519"/>
            <a:chExt cx="2219571" cy="707886"/>
          </a:xfrm>
        </p:grpSpPr>
        <p:sp>
          <p:nvSpPr>
            <p:cNvPr id="7" name="Hộp Văn bản 6">
              <a:extLst>
                <a:ext uri="{FF2B5EF4-FFF2-40B4-BE49-F238E27FC236}">
                  <a16:creationId xmlns:a16="http://schemas.microsoft.com/office/drawing/2014/main" id="{38658DAA-A757-919E-3631-8B13357DD46D}"/>
                </a:ext>
              </a:extLst>
            </p:cNvPr>
            <p:cNvSpPr txBox="1"/>
            <p:nvPr/>
          </p:nvSpPr>
          <p:spPr>
            <a:xfrm>
              <a:off x="1317728" y="3687519"/>
              <a:ext cx="22195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>
                  <a:solidFill>
                    <a:srgbClr val="215F9A"/>
                  </a:solidFill>
                </a:rPr>
                <a:t>600 MILION</a:t>
              </a:r>
              <a:endParaRPr lang="en-US" sz="2800" b="1">
                <a:solidFill>
                  <a:srgbClr val="215F9A"/>
                </a:solidFill>
              </a:endParaRPr>
            </a:p>
          </p:txBody>
        </p:sp>
        <p:sp>
          <p:nvSpPr>
            <p:cNvPr id="9" name="Hộp Văn bản 8">
              <a:extLst>
                <a:ext uri="{FF2B5EF4-FFF2-40B4-BE49-F238E27FC236}">
                  <a16:creationId xmlns:a16="http://schemas.microsoft.com/office/drawing/2014/main" id="{9ABB37C6-F93B-6D24-34CE-8AB98CCE290E}"/>
                </a:ext>
              </a:extLst>
            </p:cNvPr>
            <p:cNvSpPr txBox="1"/>
            <p:nvPr/>
          </p:nvSpPr>
          <p:spPr>
            <a:xfrm>
              <a:off x="1406769" y="4026073"/>
              <a:ext cx="19159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err="1">
                  <a:solidFill>
                    <a:srgbClr val="215F9A"/>
                  </a:solidFill>
                  <a:latin typeface="Aptos (Body)"/>
                </a:rPr>
                <a:t>Product</a:t>
              </a:r>
              <a:r>
                <a:rPr lang="vi-VN">
                  <a:solidFill>
                    <a:srgbClr val="215F9A"/>
                  </a:solidFill>
                  <a:latin typeface="Aptos (Body)"/>
                </a:rPr>
                <a:t> </a:t>
              </a:r>
              <a:r>
                <a:rPr lang="vi-VN" err="1">
                  <a:solidFill>
                    <a:srgbClr val="215F9A"/>
                  </a:solidFill>
                  <a:latin typeface="Aptos (Body)"/>
                </a:rPr>
                <a:t>rankings</a:t>
              </a:r>
              <a:endParaRPr lang="en-US">
                <a:solidFill>
                  <a:srgbClr val="215F9A"/>
                </a:solidFill>
                <a:latin typeface="Aptos (Body)"/>
              </a:endParaRPr>
            </a:p>
          </p:txBody>
        </p:sp>
      </p:grpSp>
      <p:grpSp>
        <p:nvGrpSpPr>
          <p:cNvPr id="12" name="Nhóm 11">
            <a:extLst>
              <a:ext uri="{FF2B5EF4-FFF2-40B4-BE49-F238E27FC236}">
                <a16:creationId xmlns:a16="http://schemas.microsoft.com/office/drawing/2014/main" id="{00936DF3-6676-4DD2-26C2-CBF5EA5B025F}"/>
              </a:ext>
            </a:extLst>
          </p:cNvPr>
          <p:cNvGrpSpPr/>
          <p:nvPr/>
        </p:nvGrpSpPr>
        <p:grpSpPr>
          <a:xfrm>
            <a:off x="1317727" y="4549293"/>
            <a:ext cx="2219571" cy="707886"/>
            <a:chOff x="1317727" y="4549293"/>
            <a:chExt cx="2219571" cy="707886"/>
          </a:xfrm>
        </p:grpSpPr>
        <p:sp>
          <p:nvSpPr>
            <p:cNvPr id="8" name="Hộp Văn bản 7">
              <a:extLst>
                <a:ext uri="{FF2B5EF4-FFF2-40B4-BE49-F238E27FC236}">
                  <a16:creationId xmlns:a16="http://schemas.microsoft.com/office/drawing/2014/main" id="{52F820FA-6A39-3044-527A-154A20801905}"/>
                </a:ext>
              </a:extLst>
            </p:cNvPr>
            <p:cNvSpPr txBox="1"/>
            <p:nvPr/>
          </p:nvSpPr>
          <p:spPr>
            <a:xfrm>
              <a:off x="1317727" y="4549293"/>
              <a:ext cx="22195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>
                  <a:solidFill>
                    <a:srgbClr val="215F9A"/>
                  </a:solidFill>
                </a:rPr>
                <a:t>300 MILION</a:t>
              </a:r>
              <a:endParaRPr lang="en-US" sz="2800" b="1">
                <a:solidFill>
                  <a:srgbClr val="215F9A"/>
                </a:solidFill>
              </a:endParaRPr>
            </a:p>
          </p:txBody>
        </p:sp>
        <p:sp>
          <p:nvSpPr>
            <p:cNvPr id="10" name="Hộp Văn bản 9">
              <a:extLst>
                <a:ext uri="{FF2B5EF4-FFF2-40B4-BE49-F238E27FC236}">
                  <a16:creationId xmlns:a16="http://schemas.microsoft.com/office/drawing/2014/main" id="{FFFAAA15-8BE6-447A-9F1B-1D8AFA0BBA62}"/>
                </a:ext>
              </a:extLst>
            </p:cNvPr>
            <p:cNvSpPr txBox="1"/>
            <p:nvPr/>
          </p:nvSpPr>
          <p:spPr>
            <a:xfrm>
              <a:off x="1327419" y="4887847"/>
              <a:ext cx="20746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err="1">
                  <a:solidFill>
                    <a:srgbClr val="215F9A"/>
                  </a:solidFill>
                  <a:latin typeface="Aptos (Body)"/>
                </a:rPr>
                <a:t>Active</a:t>
              </a:r>
              <a:r>
                <a:rPr lang="vi-VN">
                  <a:solidFill>
                    <a:srgbClr val="215F9A"/>
                  </a:solidFill>
                  <a:latin typeface="Aptos (Body)"/>
                </a:rPr>
                <a:t> </a:t>
              </a:r>
              <a:r>
                <a:rPr lang="vi-VN" err="1">
                  <a:solidFill>
                    <a:srgbClr val="215F9A"/>
                  </a:solidFill>
                  <a:latin typeface="Aptos (Body)"/>
                </a:rPr>
                <a:t>user</a:t>
              </a:r>
              <a:r>
                <a:rPr lang="vi-VN">
                  <a:solidFill>
                    <a:srgbClr val="215F9A"/>
                  </a:solidFill>
                  <a:latin typeface="Aptos (Body)"/>
                </a:rPr>
                <a:t> </a:t>
              </a:r>
              <a:r>
                <a:rPr lang="vi-VN" err="1">
                  <a:solidFill>
                    <a:srgbClr val="215F9A"/>
                  </a:solidFill>
                  <a:latin typeface="Aptos (Body)"/>
                </a:rPr>
                <a:t>profiles</a:t>
              </a:r>
              <a:endParaRPr lang="en-US">
                <a:solidFill>
                  <a:srgbClr val="215F9A"/>
                </a:solidFill>
                <a:latin typeface="Aptos (Body)"/>
              </a:endParaRPr>
            </a:p>
          </p:txBody>
        </p:sp>
      </p:grpSp>
      <p:grpSp>
        <p:nvGrpSpPr>
          <p:cNvPr id="13" name="Nhóm 12">
            <a:extLst>
              <a:ext uri="{FF2B5EF4-FFF2-40B4-BE49-F238E27FC236}">
                <a16:creationId xmlns:a16="http://schemas.microsoft.com/office/drawing/2014/main" id="{0A4062C9-498B-9D59-E036-60C438F0C270}"/>
              </a:ext>
            </a:extLst>
          </p:cNvPr>
          <p:cNvGrpSpPr/>
          <p:nvPr/>
        </p:nvGrpSpPr>
        <p:grpSpPr>
          <a:xfrm>
            <a:off x="5019989" y="3595186"/>
            <a:ext cx="2245689" cy="707886"/>
            <a:chOff x="1317727" y="4549293"/>
            <a:chExt cx="2245689" cy="707886"/>
          </a:xfrm>
        </p:grpSpPr>
        <p:sp>
          <p:nvSpPr>
            <p:cNvPr id="14" name="Hộp Văn bản 13">
              <a:extLst>
                <a:ext uri="{FF2B5EF4-FFF2-40B4-BE49-F238E27FC236}">
                  <a16:creationId xmlns:a16="http://schemas.microsoft.com/office/drawing/2014/main" id="{F6929805-AB91-C78F-8C69-108D4D74CE50}"/>
                </a:ext>
              </a:extLst>
            </p:cNvPr>
            <p:cNvSpPr txBox="1"/>
            <p:nvPr/>
          </p:nvSpPr>
          <p:spPr>
            <a:xfrm>
              <a:off x="1317727" y="4549293"/>
              <a:ext cx="22195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>
                  <a:solidFill>
                    <a:srgbClr val="215F9A"/>
                  </a:solidFill>
                </a:rPr>
                <a:t>100 MILION</a:t>
              </a:r>
              <a:endParaRPr lang="en-US" sz="2800" b="1">
                <a:solidFill>
                  <a:srgbClr val="215F9A"/>
                </a:solidFill>
              </a:endParaRPr>
            </a:p>
          </p:txBody>
        </p:sp>
        <p:sp>
          <p:nvSpPr>
            <p:cNvPr id="15" name="Hộp Văn bản 14">
              <a:extLst>
                <a:ext uri="{FF2B5EF4-FFF2-40B4-BE49-F238E27FC236}">
                  <a16:creationId xmlns:a16="http://schemas.microsoft.com/office/drawing/2014/main" id="{342D6382-02D4-0B2F-AD73-D3507E00A444}"/>
                </a:ext>
              </a:extLst>
            </p:cNvPr>
            <p:cNvSpPr txBox="1"/>
            <p:nvPr/>
          </p:nvSpPr>
          <p:spPr>
            <a:xfrm>
              <a:off x="1327419" y="4887847"/>
              <a:ext cx="22359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err="1">
                  <a:solidFill>
                    <a:srgbClr val="215F9A"/>
                  </a:solidFill>
                  <a:latin typeface="Aptos (Body)"/>
                </a:rPr>
                <a:t>User</a:t>
              </a:r>
              <a:r>
                <a:rPr lang="vi-VN">
                  <a:solidFill>
                    <a:srgbClr val="215F9A"/>
                  </a:solidFill>
                  <a:latin typeface="Aptos (Body)"/>
                </a:rPr>
                <a:t> </a:t>
              </a:r>
              <a:r>
                <a:rPr lang="vi-VN" err="1">
                  <a:solidFill>
                    <a:srgbClr val="215F9A"/>
                  </a:solidFill>
                  <a:latin typeface="Aptos (Body)"/>
                </a:rPr>
                <a:t>preference</a:t>
              </a:r>
              <a:r>
                <a:rPr lang="vi-VN">
                  <a:solidFill>
                    <a:srgbClr val="215F9A"/>
                  </a:solidFill>
                  <a:latin typeface="Aptos (Body)"/>
                </a:rPr>
                <a:t> </a:t>
              </a:r>
              <a:r>
                <a:rPr lang="vi-VN" err="1">
                  <a:solidFill>
                    <a:srgbClr val="215F9A"/>
                  </a:solidFill>
                  <a:latin typeface="Aptos (Body)"/>
                </a:rPr>
                <a:t>lists</a:t>
              </a:r>
              <a:endParaRPr lang="en-US">
                <a:solidFill>
                  <a:srgbClr val="215F9A"/>
                </a:solidFill>
                <a:latin typeface="Aptos (Body)"/>
              </a:endParaRPr>
            </a:p>
          </p:txBody>
        </p:sp>
      </p:grpSp>
      <p:grpSp>
        <p:nvGrpSpPr>
          <p:cNvPr id="16" name="Nhóm 15">
            <a:extLst>
              <a:ext uri="{FF2B5EF4-FFF2-40B4-BE49-F238E27FC236}">
                <a16:creationId xmlns:a16="http://schemas.microsoft.com/office/drawing/2014/main" id="{5DE1132C-5EE3-1AE3-79F8-4F1AB70B5253}"/>
              </a:ext>
            </a:extLst>
          </p:cNvPr>
          <p:cNvGrpSpPr/>
          <p:nvPr/>
        </p:nvGrpSpPr>
        <p:grpSpPr>
          <a:xfrm>
            <a:off x="5029681" y="4504651"/>
            <a:ext cx="2351948" cy="707886"/>
            <a:chOff x="1327419" y="4549293"/>
            <a:chExt cx="2351948" cy="707886"/>
          </a:xfrm>
        </p:grpSpPr>
        <p:sp>
          <p:nvSpPr>
            <p:cNvPr id="17" name="Hộp Văn bản 16">
              <a:extLst>
                <a:ext uri="{FF2B5EF4-FFF2-40B4-BE49-F238E27FC236}">
                  <a16:creationId xmlns:a16="http://schemas.microsoft.com/office/drawing/2014/main" id="{F1A52CCD-597A-5401-95A6-CB0BC2DD1210}"/>
                </a:ext>
              </a:extLst>
            </p:cNvPr>
            <p:cNvSpPr txBox="1"/>
            <p:nvPr/>
          </p:nvSpPr>
          <p:spPr>
            <a:xfrm>
              <a:off x="1459796" y="4549293"/>
              <a:ext cx="22195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>
                  <a:solidFill>
                    <a:srgbClr val="215F9A"/>
                  </a:solidFill>
                </a:rPr>
                <a:t>5 BILLION</a:t>
              </a:r>
              <a:endParaRPr lang="en-US" sz="2800" b="1">
                <a:solidFill>
                  <a:srgbClr val="215F9A"/>
                </a:solidFill>
              </a:endParaRPr>
            </a:p>
          </p:txBody>
        </p:sp>
        <p:sp>
          <p:nvSpPr>
            <p:cNvPr id="18" name="Hộp Văn bản 17">
              <a:extLst>
                <a:ext uri="{FF2B5EF4-FFF2-40B4-BE49-F238E27FC236}">
                  <a16:creationId xmlns:a16="http://schemas.microsoft.com/office/drawing/2014/main" id="{7166C546-6EF1-CCAB-301B-0A8567808BA8}"/>
                </a:ext>
              </a:extLst>
            </p:cNvPr>
            <p:cNvSpPr txBox="1"/>
            <p:nvPr/>
          </p:nvSpPr>
          <p:spPr>
            <a:xfrm>
              <a:off x="1327419" y="4887847"/>
              <a:ext cx="2319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err="1">
                  <a:solidFill>
                    <a:srgbClr val="215F9A"/>
                  </a:solidFill>
                  <a:latin typeface="Aptos (Body)"/>
                </a:rPr>
                <a:t>Ratings</a:t>
              </a:r>
              <a:r>
                <a:rPr lang="vi-VN">
                  <a:solidFill>
                    <a:srgbClr val="215F9A"/>
                  </a:solidFill>
                  <a:latin typeface="Aptos (Body)"/>
                </a:rPr>
                <a:t> </a:t>
              </a:r>
              <a:r>
                <a:rPr lang="vi-VN" err="1">
                  <a:solidFill>
                    <a:srgbClr val="215F9A"/>
                  </a:solidFill>
                  <a:latin typeface="Aptos (Body)"/>
                </a:rPr>
                <a:t>permutations</a:t>
              </a:r>
              <a:endParaRPr lang="en-US">
                <a:solidFill>
                  <a:srgbClr val="215F9A"/>
                </a:solidFill>
                <a:latin typeface="Aptos (Body)"/>
              </a:endParaRPr>
            </a:p>
          </p:txBody>
        </p:sp>
      </p:grpSp>
      <p:grpSp>
        <p:nvGrpSpPr>
          <p:cNvPr id="19" name="Nhóm 18">
            <a:extLst>
              <a:ext uri="{FF2B5EF4-FFF2-40B4-BE49-F238E27FC236}">
                <a16:creationId xmlns:a16="http://schemas.microsoft.com/office/drawing/2014/main" id="{A83980CF-7F30-0896-9416-9397C53DED2A}"/>
              </a:ext>
            </a:extLst>
          </p:cNvPr>
          <p:cNvGrpSpPr/>
          <p:nvPr/>
        </p:nvGrpSpPr>
        <p:grpSpPr>
          <a:xfrm>
            <a:off x="8899973" y="3579797"/>
            <a:ext cx="2389565" cy="707886"/>
            <a:chOff x="1327419" y="4549293"/>
            <a:chExt cx="2389565" cy="707886"/>
          </a:xfrm>
        </p:grpSpPr>
        <p:sp>
          <p:nvSpPr>
            <p:cNvPr id="20" name="Hộp Văn bản 19">
              <a:extLst>
                <a:ext uri="{FF2B5EF4-FFF2-40B4-BE49-F238E27FC236}">
                  <a16:creationId xmlns:a16="http://schemas.microsoft.com/office/drawing/2014/main" id="{E92D39DB-D836-0B79-C73B-C255CD109310}"/>
                </a:ext>
              </a:extLst>
            </p:cNvPr>
            <p:cNvSpPr txBox="1"/>
            <p:nvPr/>
          </p:nvSpPr>
          <p:spPr>
            <a:xfrm>
              <a:off x="1459796" y="4549293"/>
              <a:ext cx="22195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>
                  <a:solidFill>
                    <a:srgbClr val="215F9A"/>
                  </a:solidFill>
                </a:rPr>
                <a:t>4 BILLION</a:t>
              </a:r>
              <a:endParaRPr lang="en-US" sz="2800" b="1">
                <a:solidFill>
                  <a:srgbClr val="215F9A"/>
                </a:solidFill>
              </a:endParaRPr>
            </a:p>
          </p:txBody>
        </p:sp>
        <p:sp>
          <p:nvSpPr>
            <p:cNvPr id="21" name="Hộp Văn bản 20">
              <a:extLst>
                <a:ext uri="{FF2B5EF4-FFF2-40B4-BE49-F238E27FC236}">
                  <a16:creationId xmlns:a16="http://schemas.microsoft.com/office/drawing/2014/main" id="{98293F44-AD56-9818-25C9-D41AC1FA8A91}"/>
                </a:ext>
              </a:extLst>
            </p:cNvPr>
            <p:cNvSpPr txBox="1"/>
            <p:nvPr/>
          </p:nvSpPr>
          <p:spPr>
            <a:xfrm>
              <a:off x="1327419" y="4887847"/>
              <a:ext cx="23895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err="1">
                  <a:solidFill>
                    <a:srgbClr val="215F9A"/>
                  </a:solidFill>
                  <a:latin typeface="Aptos (Body)"/>
                </a:rPr>
                <a:t>Collaborative</a:t>
              </a:r>
              <a:r>
                <a:rPr lang="vi-VN">
                  <a:solidFill>
                    <a:srgbClr val="215F9A"/>
                  </a:solidFill>
                  <a:latin typeface="Aptos (Body)"/>
                </a:rPr>
                <a:t> </a:t>
              </a:r>
              <a:r>
                <a:rPr lang="vi-VN" err="1">
                  <a:solidFill>
                    <a:srgbClr val="215F9A"/>
                  </a:solidFill>
                  <a:latin typeface="Aptos (Body)"/>
                </a:rPr>
                <a:t>playlists</a:t>
              </a:r>
              <a:endParaRPr lang="en-US">
                <a:solidFill>
                  <a:srgbClr val="215F9A"/>
                </a:solidFill>
                <a:latin typeface="Aptos (Body)"/>
              </a:endParaRPr>
            </a:p>
          </p:txBody>
        </p:sp>
      </p:grpSp>
      <p:grpSp>
        <p:nvGrpSpPr>
          <p:cNvPr id="22" name="Nhóm 21">
            <a:extLst>
              <a:ext uri="{FF2B5EF4-FFF2-40B4-BE49-F238E27FC236}">
                <a16:creationId xmlns:a16="http://schemas.microsoft.com/office/drawing/2014/main" id="{9C5C7C04-2230-330C-2084-03D26C191AE4}"/>
              </a:ext>
            </a:extLst>
          </p:cNvPr>
          <p:cNvGrpSpPr/>
          <p:nvPr/>
        </p:nvGrpSpPr>
        <p:grpSpPr>
          <a:xfrm>
            <a:off x="8901624" y="4486150"/>
            <a:ext cx="2302916" cy="707886"/>
            <a:chOff x="1327419" y="4549293"/>
            <a:chExt cx="2302916" cy="707886"/>
          </a:xfrm>
        </p:grpSpPr>
        <p:sp>
          <p:nvSpPr>
            <p:cNvPr id="23" name="Hộp Văn bản 22">
              <a:extLst>
                <a:ext uri="{FF2B5EF4-FFF2-40B4-BE49-F238E27FC236}">
                  <a16:creationId xmlns:a16="http://schemas.microsoft.com/office/drawing/2014/main" id="{C78CF9C3-0BA2-B3CA-98FC-A568A935A607}"/>
                </a:ext>
              </a:extLst>
            </p:cNvPr>
            <p:cNvSpPr txBox="1"/>
            <p:nvPr/>
          </p:nvSpPr>
          <p:spPr>
            <a:xfrm>
              <a:off x="1410764" y="4549293"/>
              <a:ext cx="22195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>
                  <a:solidFill>
                    <a:srgbClr val="215F9A"/>
                  </a:solidFill>
                </a:rPr>
                <a:t>70 MILION</a:t>
              </a:r>
              <a:endParaRPr lang="en-US" sz="2800" b="1">
                <a:solidFill>
                  <a:srgbClr val="215F9A"/>
                </a:solidFill>
              </a:endParaRPr>
            </a:p>
          </p:txBody>
        </p:sp>
        <p:sp>
          <p:nvSpPr>
            <p:cNvPr id="24" name="Hộp Văn bản 23">
              <a:extLst>
                <a:ext uri="{FF2B5EF4-FFF2-40B4-BE49-F238E27FC236}">
                  <a16:creationId xmlns:a16="http://schemas.microsoft.com/office/drawing/2014/main" id="{C131159A-E128-6148-8612-A8B096C8801C}"/>
                </a:ext>
              </a:extLst>
            </p:cNvPr>
            <p:cNvSpPr txBox="1"/>
            <p:nvPr/>
          </p:nvSpPr>
          <p:spPr>
            <a:xfrm>
              <a:off x="1327419" y="4887847"/>
              <a:ext cx="2086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err="1">
                  <a:solidFill>
                    <a:srgbClr val="215F9A"/>
                  </a:solidFill>
                  <a:latin typeface="Aptos (Body)"/>
                </a:rPr>
                <a:t>Tracks</a:t>
              </a:r>
              <a:r>
                <a:rPr lang="vi-VN">
                  <a:solidFill>
                    <a:srgbClr val="215F9A"/>
                  </a:solidFill>
                  <a:latin typeface="Aptos (Body)"/>
                </a:rPr>
                <a:t> to </a:t>
              </a:r>
              <a:r>
                <a:rPr lang="vi-VN" err="1">
                  <a:solidFill>
                    <a:srgbClr val="215F9A"/>
                  </a:solidFill>
                  <a:latin typeface="Aptos (Body)"/>
                </a:rPr>
                <a:t>aggregate</a:t>
              </a:r>
              <a:endParaRPr lang="en-US">
                <a:solidFill>
                  <a:srgbClr val="215F9A"/>
                </a:solidFill>
                <a:latin typeface="Aptos (Body)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7896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0">
              <a:srgbClr val="E9E9E9"/>
            </a:gs>
            <a:gs pos="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89B28-4A31-B744-5615-AC30611F0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9C76F-14AD-16FD-10CE-D6658EA03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188" y="365125"/>
            <a:ext cx="11415812" cy="73977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Massively Parallel Computation (MPC)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FB6272-5FFD-ABA0-B8EC-C04711FE5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88" y="2172363"/>
            <a:ext cx="11154229" cy="46856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E4D9FE-FEAB-3704-26DF-28E1937AB17D}"/>
              </a:ext>
            </a:extLst>
          </p:cNvPr>
          <p:cNvSpPr txBox="1"/>
          <p:nvPr/>
        </p:nvSpPr>
        <p:spPr>
          <a:xfrm>
            <a:off x="776188" y="1427517"/>
            <a:ext cx="633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215F9A"/>
                </a:solidFill>
              </a:rPr>
              <a:t>A theoretical abstraction of tools for handling massive data</a:t>
            </a:r>
          </a:p>
        </p:txBody>
      </p:sp>
    </p:spTree>
    <p:extLst>
      <p:ext uri="{BB962C8B-B14F-4D97-AF65-F5344CB8AC3E}">
        <p14:creationId xmlns:p14="http://schemas.microsoft.com/office/powerpoint/2010/main" val="2078689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0">
              <a:srgbClr val="E9E9E9"/>
            </a:gs>
            <a:gs pos="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7C7C33-D4BB-0D15-D02B-EB6E14F6C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BD836-670C-F1B7-CDC8-14B862E2E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188" y="365125"/>
            <a:ext cx="11415812" cy="73977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Massively Parallel Computation (MPC)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C49625-AE7C-651E-BB68-0CF4EA7E2EB0}"/>
              </a:ext>
            </a:extLst>
          </p:cNvPr>
          <p:cNvSpPr txBox="1"/>
          <p:nvPr/>
        </p:nvSpPr>
        <p:spPr>
          <a:xfrm>
            <a:off x="776188" y="1427517"/>
            <a:ext cx="5435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215F9A"/>
                </a:solidFill>
              </a:rPr>
              <a:t>All-to-all synchronous-round communication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9044AF-6DCC-E0E1-FC1B-EC9B09743405}"/>
              </a:ext>
            </a:extLst>
          </p:cNvPr>
          <p:cNvCxnSpPr>
            <a:cxnSpLocks/>
          </p:cNvCxnSpPr>
          <p:nvPr/>
        </p:nvCxnSpPr>
        <p:spPr>
          <a:xfrm flipV="1">
            <a:off x="1671253" y="2972695"/>
            <a:ext cx="1465943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F45F19-F420-12FF-F8A3-0D9A8F11A31D}"/>
              </a:ext>
            </a:extLst>
          </p:cNvPr>
          <p:cNvCxnSpPr>
            <a:cxnSpLocks/>
          </p:cNvCxnSpPr>
          <p:nvPr/>
        </p:nvCxnSpPr>
        <p:spPr>
          <a:xfrm>
            <a:off x="1671253" y="3429896"/>
            <a:ext cx="152400" cy="1219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49F9163-40A0-8048-31E7-C9E22742526A}"/>
              </a:ext>
            </a:extLst>
          </p:cNvPr>
          <p:cNvCxnSpPr>
            <a:cxnSpLocks/>
          </p:cNvCxnSpPr>
          <p:nvPr/>
        </p:nvCxnSpPr>
        <p:spPr>
          <a:xfrm>
            <a:off x="1671253" y="3429896"/>
            <a:ext cx="2510971" cy="11538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46CED2D-F623-AAB0-2994-5928E8FA4E26}"/>
              </a:ext>
            </a:extLst>
          </p:cNvPr>
          <p:cNvCxnSpPr>
            <a:cxnSpLocks/>
          </p:cNvCxnSpPr>
          <p:nvPr/>
        </p:nvCxnSpPr>
        <p:spPr>
          <a:xfrm>
            <a:off x="1671253" y="3429896"/>
            <a:ext cx="27286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DB094FE-9A98-8DFC-0C48-7306797DF176}"/>
              </a:ext>
            </a:extLst>
          </p:cNvPr>
          <p:cNvCxnSpPr>
            <a:cxnSpLocks/>
          </p:cNvCxnSpPr>
          <p:nvPr/>
        </p:nvCxnSpPr>
        <p:spPr>
          <a:xfrm>
            <a:off x="3137197" y="2972696"/>
            <a:ext cx="1262742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70976B0-530C-F49B-4AE6-6C92015DF917}"/>
              </a:ext>
            </a:extLst>
          </p:cNvPr>
          <p:cNvCxnSpPr>
            <a:cxnSpLocks/>
          </p:cNvCxnSpPr>
          <p:nvPr/>
        </p:nvCxnSpPr>
        <p:spPr>
          <a:xfrm flipH="1">
            <a:off x="4182224" y="3429896"/>
            <a:ext cx="217715" cy="11538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A7D5676-4300-C559-D4CC-82348A1FC013}"/>
              </a:ext>
            </a:extLst>
          </p:cNvPr>
          <p:cNvCxnSpPr>
            <a:cxnSpLocks/>
          </p:cNvCxnSpPr>
          <p:nvPr/>
        </p:nvCxnSpPr>
        <p:spPr>
          <a:xfrm flipH="1">
            <a:off x="1823653" y="3429896"/>
            <a:ext cx="2576286" cy="1219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E6F2B8C-00D1-D02A-2720-8823096467BF}"/>
              </a:ext>
            </a:extLst>
          </p:cNvPr>
          <p:cNvCxnSpPr>
            <a:cxnSpLocks/>
          </p:cNvCxnSpPr>
          <p:nvPr/>
        </p:nvCxnSpPr>
        <p:spPr>
          <a:xfrm flipV="1">
            <a:off x="1823653" y="4583781"/>
            <a:ext cx="2358571" cy="653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FCB850B-CA3E-6C77-DA3D-282048BCD93A}"/>
              </a:ext>
            </a:extLst>
          </p:cNvPr>
          <p:cNvCxnSpPr>
            <a:cxnSpLocks/>
          </p:cNvCxnSpPr>
          <p:nvPr/>
        </p:nvCxnSpPr>
        <p:spPr>
          <a:xfrm flipH="1">
            <a:off x="1823653" y="2972696"/>
            <a:ext cx="1313544" cy="167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612D193-EE95-3843-0F4A-7A8E4BF29A42}"/>
              </a:ext>
            </a:extLst>
          </p:cNvPr>
          <p:cNvCxnSpPr>
            <a:cxnSpLocks/>
          </p:cNvCxnSpPr>
          <p:nvPr/>
        </p:nvCxnSpPr>
        <p:spPr>
          <a:xfrm>
            <a:off x="3137197" y="2972696"/>
            <a:ext cx="1045027" cy="16110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Nhóm 39">
            <a:extLst>
              <a:ext uri="{FF2B5EF4-FFF2-40B4-BE49-F238E27FC236}">
                <a16:creationId xmlns:a16="http://schemas.microsoft.com/office/drawing/2014/main" id="{2F37A5B1-C4D9-F9A8-7FF7-891C14F2B720}"/>
              </a:ext>
            </a:extLst>
          </p:cNvPr>
          <p:cNvGrpSpPr/>
          <p:nvPr/>
        </p:nvGrpSpPr>
        <p:grpSpPr>
          <a:xfrm>
            <a:off x="776188" y="2117898"/>
            <a:ext cx="4557538" cy="3312585"/>
            <a:chOff x="776188" y="2117898"/>
            <a:chExt cx="4557538" cy="3312585"/>
          </a:xfrm>
        </p:grpSpPr>
        <p:grpSp>
          <p:nvGrpSpPr>
            <p:cNvPr id="4" name="Nhóm 3">
              <a:extLst>
                <a:ext uri="{FF2B5EF4-FFF2-40B4-BE49-F238E27FC236}">
                  <a16:creationId xmlns:a16="http://schemas.microsoft.com/office/drawing/2014/main" id="{3B89EA10-0109-8708-05BC-546214AD95CB}"/>
                </a:ext>
              </a:extLst>
            </p:cNvPr>
            <p:cNvGrpSpPr/>
            <p:nvPr/>
          </p:nvGrpSpPr>
          <p:grpSpPr>
            <a:xfrm>
              <a:off x="2746503" y="2117898"/>
              <a:ext cx="781387" cy="781387"/>
              <a:chOff x="5439193" y="4858657"/>
              <a:chExt cx="781387" cy="781387"/>
            </a:xfrm>
          </p:grpSpPr>
          <p:pic>
            <p:nvPicPr>
              <p:cNvPr id="1026" name="Picture 2" descr="Free Imac Icon - Download SVG, PNG for E-commerce &amp; Shopping | IconScout">
                <a:extLst>
                  <a:ext uri="{FF2B5EF4-FFF2-40B4-BE49-F238E27FC236}">
                    <a16:creationId xmlns:a16="http://schemas.microsoft.com/office/drawing/2014/main" id="{5AF5A4AD-E175-3DEC-BF77-574835C02F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39193" y="4858657"/>
                <a:ext cx="781387" cy="781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" name="TextBox 47">
                <a:extLst>
                  <a:ext uri="{FF2B5EF4-FFF2-40B4-BE49-F238E27FC236}">
                    <a16:creationId xmlns:a16="http://schemas.microsoft.com/office/drawing/2014/main" id="{58801F94-53E9-91CE-71CD-C70C20454727}"/>
                  </a:ext>
                </a:extLst>
              </p:cNvPr>
              <p:cNvSpPr txBox="1"/>
              <p:nvPr/>
            </p:nvSpPr>
            <p:spPr>
              <a:xfrm>
                <a:off x="5672632" y="4913084"/>
                <a:ext cx="3145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215F9A"/>
                    </a:solidFill>
                  </a:rPr>
                  <a:t>S</a:t>
                </a:r>
              </a:p>
            </p:txBody>
          </p:sp>
        </p:grpSp>
        <p:grpSp>
          <p:nvGrpSpPr>
            <p:cNvPr id="7" name="Nhóm 6">
              <a:extLst>
                <a:ext uri="{FF2B5EF4-FFF2-40B4-BE49-F238E27FC236}">
                  <a16:creationId xmlns:a16="http://schemas.microsoft.com/office/drawing/2014/main" id="{E0C4551A-9F96-5A95-1789-2CBF7A234AAA}"/>
                </a:ext>
              </a:extLst>
            </p:cNvPr>
            <p:cNvGrpSpPr/>
            <p:nvPr/>
          </p:nvGrpSpPr>
          <p:grpSpPr>
            <a:xfrm>
              <a:off x="4552339" y="3105709"/>
              <a:ext cx="781387" cy="781387"/>
              <a:chOff x="5439193" y="4858657"/>
              <a:chExt cx="781387" cy="781387"/>
            </a:xfrm>
          </p:grpSpPr>
          <p:pic>
            <p:nvPicPr>
              <p:cNvPr id="9" name="Picture 2" descr="Free Imac Icon - Download SVG, PNG for E-commerce &amp; Shopping | IconScout">
                <a:extLst>
                  <a:ext uri="{FF2B5EF4-FFF2-40B4-BE49-F238E27FC236}">
                    <a16:creationId xmlns:a16="http://schemas.microsoft.com/office/drawing/2014/main" id="{91D529B8-C6BE-80AE-A51E-185B61F6BF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39193" y="4858657"/>
                <a:ext cx="781387" cy="781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TextBox 47">
                <a:extLst>
                  <a:ext uri="{FF2B5EF4-FFF2-40B4-BE49-F238E27FC236}">
                    <a16:creationId xmlns:a16="http://schemas.microsoft.com/office/drawing/2014/main" id="{8CDABE7A-D057-DC9A-F6C5-9DFF6C61E464}"/>
                  </a:ext>
                </a:extLst>
              </p:cNvPr>
              <p:cNvSpPr txBox="1"/>
              <p:nvPr/>
            </p:nvSpPr>
            <p:spPr>
              <a:xfrm>
                <a:off x="5672632" y="4913084"/>
                <a:ext cx="3145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215F9A"/>
                    </a:solidFill>
                  </a:rPr>
                  <a:t>S</a:t>
                </a:r>
              </a:p>
            </p:txBody>
          </p:sp>
        </p:grpSp>
        <p:grpSp>
          <p:nvGrpSpPr>
            <p:cNvPr id="13" name="Nhóm 12">
              <a:extLst>
                <a:ext uri="{FF2B5EF4-FFF2-40B4-BE49-F238E27FC236}">
                  <a16:creationId xmlns:a16="http://schemas.microsoft.com/office/drawing/2014/main" id="{2A6D5FF3-0D4F-CFFF-5BE4-10010D923F47}"/>
                </a:ext>
              </a:extLst>
            </p:cNvPr>
            <p:cNvGrpSpPr/>
            <p:nvPr/>
          </p:nvGrpSpPr>
          <p:grpSpPr>
            <a:xfrm>
              <a:off x="776188" y="3105709"/>
              <a:ext cx="781387" cy="781387"/>
              <a:chOff x="5439193" y="4858657"/>
              <a:chExt cx="781387" cy="781387"/>
            </a:xfrm>
          </p:grpSpPr>
          <p:pic>
            <p:nvPicPr>
              <p:cNvPr id="15" name="Picture 2" descr="Free Imac Icon - Download SVG, PNG for E-commerce &amp; Shopping | IconScout">
                <a:extLst>
                  <a:ext uri="{FF2B5EF4-FFF2-40B4-BE49-F238E27FC236}">
                    <a16:creationId xmlns:a16="http://schemas.microsoft.com/office/drawing/2014/main" id="{73D7D8E9-4828-B58E-A56C-14885B0D12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39193" y="4858657"/>
                <a:ext cx="781387" cy="781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TextBox 47">
                <a:extLst>
                  <a:ext uri="{FF2B5EF4-FFF2-40B4-BE49-F238E27FC236}">
                    <a16:creationId xmlns:a16="http://schemas.microsoft.com/office/drawing/2014/main" id="{3D535BAB-FEA5-055C-C492-899984DDB113}"/>
                  </a:ext>
                </a:extLst>
              </p:cNvPr>
              <p:cNvSpPr txBox="1"/>
              <p:nvPr/>
            </p:nvSpPr>
            <p:spPr>
              <a:xfrm>
                <a:off x="5672632" y="4913084"/>
                <a:ext cx="3145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215F9A"/>
                    </a:solidFill>
                  </a:rPr>
                  <a:t>S</a:t>
                </a:r>
              </a:p>
            </p:txBody>
          </p:sp>
        </p:grpSp>
        <p:grpSp>
          <p:nvGrpSpPr>
            <p:cNvPr id="19" name="Nhóm 18">
              <a:extLst>
                <a:ext uri="{FF2B5EF4-FFF2-40B4-BE49-F238E27FC236}">
                  <a16:creationId xmlns:a16="http://schemas.microsoft.com/office/drawing/2014/main" id="{F390CBB6-1A29-BB77-C365-27BB7B83E061}"/>
                </a:ext>
              </a:extLst>
            </p:cNvPr>
            <p:cNvGrpSpPr/>
            <p:nvPr/>
          </p:nvGrpSpPr>
          <p:grpSpPr>
            <a:xfrm>
              <a:off x="1009627" y="4649096"/>
              <a:ext cx="781387" cy="781387"/>
              <a:chOff x="5439193" y="4858657"/>
              <a:chExt cx="781387" cy="781387"/>
            </a:xfrm>
          </p:grpSpPr>
          <p:pic>
            <p:nvPicPr>
              <p:cNvPr id="21" name="Picture 2" descr="Free Imac Icon - Download SVG, PNG for E-commerce &amp; Shopping | IconScout">
                <a:extLst>
                  <a:ext uri="{FF2B5EF4-FFF2-40B4-BE49-F238E27FC236}">
                    <a16:creationId xmlns:a16="http://schemas.microsoft.com/office/drawing/2014/main" id="{B3C6C799-DBE8-1744-05FC-76464E6D17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39193" y="4858657"/>
                <a:ext cx="781387" cy="781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TextBox 47">
                <a:extLst>
                  <a:ext uri="{FF2B5EF4-FFF2-40B4-BE49-F238E27FC236}">
                    <a16:creationId xmlns:a16="http://schemas.microsoft.com/office/drawing/2014/main" id="{9A7373AC-3B1F-1C3B-5ABF-FF2559BD2E23}"/>
                  </a:ext>
                </a:extLst>
              </p:cNvPr>
              <p:cNvSpPr txBox="1"/>
              <p:nvPr/>
            </p:nvSpPr>
            <p:spPr>
              <a:xfrm>
                <a:off x="5672632" y="4913084"/>
                <a:ext cx="3145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215F9A"/>
                    </a:solidFill>
                  </a:rPr>
                  <a:t>S</a:t>
                </a:r>
              </a:p>
            </p:txBody>
          </p:sp>
        </p:grpSp>
        <p:grpSp>
          <p:nvGrpSpPr>
            <p:cNvPr id="24" name="Nhóm 23">
              <a:extLst>
                <a:ext uri="{FF2B5EF4-FFF2-40B4-BE49-F238E27FC236}">
                  <a16:creationId xmlns:a16="http://schemas.microsoft.com/office/drawing/2014/main" id="{B2445E4A-ED32-AE2C-1472-85961807D9F3}"/>
                </a:ext>
              </a:extLst>
            </p:cNvPr>
            <p:cNvGrpSpPr/>
            <p:nvPr/>
          </p:nvGrpSpPr>
          <p:grpSpPr>
            <a:xfrm>
              <a:off x="4073577" y="4616438"/>
              <a:ext cx="781387" cy="781387"/>
              <a:chOff x="5439193" y="4858657"/>
              <a:chExt cx="781387" cy="781387"/>
            </a:xfrm>
          </p:grpSpPr>
          <p:pic>
            <p:nvPicPr>
              <p:cNvPr id="25" name="Picture 2" descr="Free Imac Icon - Download SVG, PNG for E-commerce &amp; Shopping | IconScout">
                <a:extLst>
                  <a:ext uri="{FF2B5EF4-FFF2-40B4-BE49-F238E27FC236}">
                    <a16:creationId xmlns:a16="http://schemas.microsoft.com/office/drawing/2014/main" id="{FCD6B610-1848-50E3-4EEC-85F3B470D6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39193" y="4858657"/>
                <a:ext cx="781387" cy="781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" name="TextBox 47">
                <a:extLst>
                  <a:ext uri="{FF2B5EF4-FFF2-40B4-BE49-F238E27FC236}">
                    <a16:creationId xmlns:a16="http://schemas.microsoft.com/office/drawing/2014/main" id="{69A70FD3-5537-982A-46ED-267BA5478859}"/>
                  </a:ext>
                </a:extLst>
              </p:cNvPr>
              <p:cNvSpPr txBox="1"/>
              <p:nvPr/>
            </p:nvSpPr>
            <p:spPr>
              <a:xfrm>
                <a:off x="5672632" y="4913084"/>
                <a:ext cx="3145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215F9A"/>
                    </a:solidFill>
                  </a:rPr>
                  <a:t>S</a:t>
                </a:r>
              </a:p>
            </p:txBody>
          </p:sp>
        </p:grpSp>
      </p:grpSp>
      <p:sp>
        <p:nvSpPr>
          <p:cNvPr id="34" name="Rectangle: Rounded Corners 10">
            <a:extLst>
              <a:ext uri="{FF2B5EF4-FFF2-40B4-BE49-F238E27FC236}">
                <a16:creationId xmlns:a16="http://schemas.microsoft.com/office/drawing/2014/main" id="{CBD85D3C-4101-35A2-294A-4AC4FF6AFE39}"/>
              </a:ext>
            </a:extLst>
          </p:cNvPr>
          <p:cNvSpPr/>
          <p:nvPr/>
        </p:nvSpPr>
        <p:spPr>
          <a:xfrm>
            <a:off x="6096000" y="3235853"/>
            <a:ext cx="5670665" cy="50849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Sublinear regime: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: Rounded Corners 10">
                <a:extLst>
                  <a:ext uri="{FF2B5EF4-FFF2-40B4-BE49-F238E27FC236}">
                    <a16:creationId xmlns:a16="http://schemas.microsoft.com/office/drawing/2014/main" id="{AE71F656-658B-ED89-516E-F5B4274E9B6B}"/>
                  </a:ext>
                </a:extLst>
              </p:cNvPr>
              <p:cNvSpPr/>
              <p:nvPr/>
            </p:nvSpPr>
            <p:spPr>
              <a:xfrm>
                <a:off x="6096002" y="3887096"/>
                <a:ext cx="5670663" cy="508492"/>
              </a:xfrm>
              <a:prstGeom prst="roundRect">
                <a:avLst/>
              </a:prstGeom>
              <a:solidFill>
                <a:srgbClr val="E7F0F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rgbClr val="215F9A"/>
                    </a:solidFill>
                  </a:rPr>
                  <a:t>Each machine has local memory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i="1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i="1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sup>
                        </m:sSup>
                      </m:e>
                    </m:d>
                  </m:oMath>
                </a14:m>
                <a:endParaRPr lang="en-US" i="1" dirty="0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35" name="Rectangle: Rounded Corners 10">
                <a:extLst>
                  <a:ext uri="{FF2B5EF4-FFF2-40B4-BE49-F238E27FC236}">
                    <a16:creationId xmlns:a16="http://schemas.microsoft.com/office/drawing/2014/main" id="{AE71F656-658B-ED89-516E-F5B4274E9B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2" y="3887096"/>
                <a:ext cx="5670663" cy="50849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: Rounded Corners 10">
                <a:extLst>
                  <a:ext uri="{FF2B5EF4-FFF2-40B4-BE49-F238E27FC236}">
                    <a16:creationId xmlns:a16="http://schemas.microsoft.com/office/drawing/2014/main" id="{E6B312C4-023D-07E6-3655-86F0DBB1405B}"/>
                  </a:ext>
                </a:extLst>
              </p:cNvPr>
              <p:cNvSpPr/>
              <p:nvPr/>
            </p:nvSpPr>
            <p:spPr>
              <a:xfrm>
                <a:off x="6096000" y="4531705"/>
                <a:ext cx="5670665" cy="508492"/>
              </a:xfrm>
              <a:prstGeom prst="roundRect">
                <a:avLst/>
              </a:prstGeom>
              <a:solidFill>
                <a:srgbClr val="E7F0F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rgbClr val="215F9A"/>
                    </a:solidFill>
                  </a:rPr>
                  <a:t>Total size of send/received message in each round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36" name="Rectangle: Rounded Corners 10">
                <a:extLst>
                  <a:ext uri="{FF2B5EF4-FFF2-40B4-BE49-F238E27FC236}">
                    <a16:creationId xmlns:a16="http://schemas.microsoft.com/office/drawing/2014/main" id="{E6B312C4-023D-07E6-3655-86F0DBB140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31705"/>
                <a:ext cx="5670665" cy="50849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: Rounded Corners 10">
                <a:extLst>
                  <a:ext uri="{FF2B5EF4-FFF2-40B4-BE49-F238E27FC236}">
                    <a16:creationId xmlns:a16="http://schemas.microsoft.com/office/drawing/2014/main" id="{4A376E92-19BB-985D-DB77-F31EAF6BF408}"/>
                  </a:ext>
                </a:extLst>
              </p:cNvPr>
              <p:cNvSpPr/>
              <p:nvPr/>
            </p:nvSpPr>
            <p:spPr>
              <a:xfrm>
                <a:off x="6096000" y="2269905"/>
                <a:ext cx="5670665" cy="508492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b="1" dirty="0"/>
                  <a:t>Permutations of size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8" name="Rectangle: Rounded Corners 10">
                <a:extLst>
                  <a:ext uri="{FF2B5EF4-FFF2-40B4-BE49-F238E27FC236}">
                    <a16:creationId xmlns:a16="http://schemas.microsoft.com/office/drawing/2014/main" id="{4A376E92-19BB-985D-DB77-F31EAF6BF4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269905"/>
                <a:ext cx="5670665" cy="50849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374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4" grpId="0" animBg="1"/>
      <p:bldP spid="35" grpId="0" animBg="1"/>
      <p:bldP spid="36" grpId="0" animBg="1"/>
      <p:bldP spid="3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0">
              <a:srgbClr val="E9E9E9"/>
            </a:gs>
            <a:gs pos="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C8A2DD-6799-04E0-A1A1-992A1F671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5FF3B-AF4F-C475-2B11-0D328B235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188" y="365125"/>
            <a:ext cx="11415812" cy="73977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Massively Parallel Computation (MPC) model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D949BC4-18DD-DEE2-76B1-DAD18924D877}"/>
              </a:ext>
            </a:extLst>
          </p:cNvPr>
          <p:cNvSpPr/>
          <p:nvPr/>
        </p:nvSpPr>
        <p:spPr>
          <a:xfrm flipH="1">
            <a:off x="3533766" y="2322576"/>
            <a:ext cx="883455" cy="73977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E164CAE9-5F94-1D45-0979-892E907B987D}"/>
              </a:ext>
            </a:extLst>
          </p:cNvPr>
          <p:cNvSpPr/>
          <p:nvPr/>
        </p:nvSpPr>
        <p:spPr>
          <a:xfrm flipH="1">
            <a:off x="4417220" y="2322576"/>
            <a:ext cx="883454" cy="73977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28" name="Rectangle 5">
            <a:extLst>
              <a:ext uri="{FF2B5EF4-FFF2-40B4-BE49-F238E27FC236}">
                <a16:creationId xmlns:a16="http://schemas.microsoft.com/office/drawing/2014/main" id="{212F08E2-D872-6888-43E3-D73C6CC3BF15}"/>
              </a:ext>
            </a:extLst>
          </p:cNvPr>
          <p:cNvSpPr/>
          <p:nvPr/>
        </p:nvSpPr>
        <p:spPr>
          <a:xfrm flipH="1">
            <a:off x="5307304" y="2322576"/>
            <a:ext cx="817535" cy="73977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5</a:t>
            </a: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A8EABF87-5766-B113-EB60-D32125F615B3}"/>
              </a:ext>
            </a:extLst>
          </p:cNvPr>
          <p:cNvSpPr/>
          <p:nvPr/>
        </p:nvSpPr>
        <p:spPr>
          <a:xfrm flipH="1">
            <a:off x="6137428" y="2322576"/>
            <a:ext cx="885137" cy="73977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42" name="Rectangle 7">
            <a:extLst>
              <a:ext uri="{FF2B5EF4-FFF2-40B4-BE49-F238E27FC236}">
                <a16:creationId xmlns:a16="http://schemas.microsoft.com/office/drawing/2014/main" id="{64CC69EC-BE56-CA08-128C-1165D7E9DFA9}"/>
              </a:ext>
            </a:extLst>
          </p:cNvPr>
          <p:cNvSpPr/>
          <p:nvPr/>
        </p:nvSpPr>
        <p:spPr>
          <a:xfrm flipH="1">
            <a:off x="7032957" y="2322575"/>
            <a:ext cx="887331" cy="73977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2060"/>
                </a:solidFill>
              </a:rPr>
              <a:t>3</a:t>
            </a:r>
          </a:p>
        </p:txBody>
      </p:sp>
      <p:pic>
        <p:nvPicPr>
          <p:cNvPr id="44" name="Picture 2" descr="Free Imac Icon - Download SVG, PNG for E-commerce &amp; Shopping | IconScout">
            <a:extLst>
              <a:ext uri="{FF2B5EF4-FFF2-40B4-BE49-F238E27FC236}">
                <a16:creationId xmlns:a16="http://schemas.microsoft.com/office/drawing/2014/main" id="{F4249DFB-AF4B-EE82-E4B2-77BDD161B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7232" y="4040892"/>
            <a:ext cx="3194103" cy="305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 descr="Free Imac Icon - Download SVG, PNG for E-commerce &amp; Shopping | IconScout">
            <a:extLst>
              <a:ext uri="{FF2B5EF4-FFF2-40B4-BE49-F238E27FC236}">
                <a16:creationId xmlns:a16="http://schemas.microsoft.com/office/drawing/2014/main" id="{8EB2C748-C730-BA15-6337-5F55B4D22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821" y="4040893"/>
            <a:ext cx="3194103" cy="3052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" descr="Free Imac Icon - Download SVG, PNG for E-commerce &amp; Shopping | IconScout">
            <a:extLst>
              <a:ext uri="{FF2B5EF4-FFF2-40B4-BE49-F238E27FC236}">
                <a16:creationId xmlns:a16="http://schemas.microsoft.com/office/drawing/2014/main" id="{36D7F51C-489E-C90D-AB6A-463D40A11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848" y="4040893"/>
            <a:ext cx="3194102" cy="3052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5E322AC-883A-271C-A8DE-6F828FD4C7A9}"/>
              </a:ext>
            </a:extLst>
          </p:cNvPr>
          <p:cNvCxnSpPr>
            <a:cxnSpLocks/>
          </p:cNvCxnSpPr>
          <p:nvPr/>
        </p:nvCxnSpPr>
        <p:spPr>
          <a:xfrm>
            <a:off x="5300674" y="1819656"/>
            <a:ext cx="0" cy="174650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E99E971-F230-1A68-BFCE-B2E5DB778E9E}"/>
              </a:ext>
            </a:extLst>
          </p:cNvPr>
          <p:cNvCxnSpPr>
            <a:cxnSpLocks/>
          </p:cNvCxnSpPr>
          <p:nvPr/>
        </p:nvCxnSpPr>
        <p:spPr>
          <a:xfrm>
            <a:off x="7022565" y="1856232"/>
            <a:ext cx="0" cy="17099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Arrow: Up 56">
            <a:extLst>
              <a:ext uri="{FF2B5EF4-FFF2-40B4-BE49-F238E27FC236}">
                <a16:creationId xmlns:a16="http://schemas.microsoft.com/office/drawing/2014/main" id="{1114A7B6-8205-B5B6-128A-5C12DB48CE22}"/>
              </a:ext>
            </a:extLst>
          </p:cNvPr>
          <p:cNvSpPr/>
          <p:nvPr/>
        </p:nvSpPr>
        <p:spPr>
          <a:xfrm rot="13452311">
            <a:off x="3718811" y="3209362"/>
            <a:ext cx="484632" cy="97840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Up 58">
            <a:extLst>
              <a:ext uri="{FF2B5EF4-FFF2-40B4-BE49-F238E27FC236}">
                <a16:creationId xmlns:a16="http://schemas.microsoft.com/office/drawing/2014/main" id="{C2776743-621B-7122-DA88-921590A049A5}"/>
              </a:ext>
            </a:extLst>
          </p:cNvPr>
          <p:cNvSpPr/>
          <p:nvPr/>
        </p:nvSpPr>
        <p:spPr>
          <a:xfrm rot="10800000">
            <a:off x="5882523" y="3178931"/>
            <a:ext cx="484632" cy="97840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Up 60">
            <a:extLst>
              <a:ext uri="{FF2B5EF4-FFF2-40B4-BE49-F238E27FC236}">
                <a16:creationId xmlns:a16="http://schemas.microsoft.com/office/drawing/2014/main" id="{5611F956-E94A-64B5-2B21-A6C5001100A5}"/>
              </a:ext>
            </a:extLst>
          </p:cNvPr>
          <p:cNvSpPr/>
          <p:nvPr/>
        </p:nvSpPr>
        <p:spPr>
          <a:xfrm rot="8549572">
            <a:off x="8215455" y="3178930"/>
            <a:ext cx="484632" cy="97840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4E938A0-86F8-5C64-5AD1-9A30BA35A4C8}"/>
              </a:ext>
            </a:extLst>
          </p:cNvPr>
          <p:cNvSpPr/>
          <p:nvPr/>
        </p:nvSpPr>
        <p:spPr>
          <a:xfrm flipH="1">
            <a:off x="2025164" y="4572636"/>
            <a:ext cx="883455" cy="73977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1D17915C-5C73-1DA3-E7BD-D4D19FDD4A9F}"/>
              </a:ext>
            </a:extLst>
          </p:cNvPr>
          <p:cNvSpPr/>
          <p:nvPr/>
        </p:nvSpPr>
        <p:spPr>
          <a:xfrm flipH="1">
            <a:off x="2908618" y="4572636"/>
            <a:ext cx="883454" cy="73977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031" name="Rectangle 5">
            <a:extLst>
              <a:ext uri="{FF2B5EF4-FFF2-40B4-BE49-F238E27FC236}">
                <a16:creationId xmlns:a16="http://schemas.microsoft.com/office/drawing/2014/main" id="{C44A2914-C7A4-95BE-C512-FA11F092170D}"/>
              </a:ext>
            </a:extLst>
          </p:cNvPr>
          <p:cNvSpPr/>
          <p:nvPr/>
        </p:nvSpPr>
        <p:spPr>
          <a:xfrm flipH="1">
            <a:off x="5413687" y="4572636"/>
            <a:ext cx="817535" cy="73977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5</a:t>
            </a:r>
          </a:p>
        </p:txBody>
      </p:sp>
      <p:sp>
        <p:nvSpPr>
          <p:cNvPr id="1033" name="Rectangle 6">
            <a:extLst>
              <a:ext uri="{FF2B5EF4-FFF2-40B4-BE49-F238E27FC236}">
                <a16:creationId xmlns:a16="http://schemas.microsoft.com/office/drawing/2014/main" id="{04A7064F-E6B3-D081-BB74-7AF373B21C73}"/>
              </a:ext>
            </a:extLst>
          </p:cNvPr>
          <p:cNvSpPr/>
          <p:nvPr/>
        </p:nvSpPr>
        <p:spPr>
          <a:xfrm flipH="1">
            <a:off x="6243811" y="4572636"/>
            <a:ext cx="885137" cy="73977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1035" name="Rectangle 7">
            <a:extLst>
              <a:ext uri="{FF2B5EF4-FFF2-40B4-BE49-F238E27FC236}">
                <a16:creationId xmlns:a16="http://schemas.microsoft.com/office/drawing/2014/main" id="{622FFB9E-EC96-CF79-AB33-7FC17C9C55F9}"/>
              </a:ext>
            </a:extLst>
          </p:cNvPr>
          <p:cNvSpPr/>
          <p:nvPr/>
        </p:nvSpPr>
        <p:spPr>
          <a:xfrm flipH="1">
            <a:off x="9283382" y="4581351"/>
            <a:ext cx="954443" cy="731060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2060"/>
                </a:solidFill>
              </a:rPr>
              <a:t>3</a:t>
            </a:r>
          </a:p>
        </p:txBody>
      </p:sp>
      <p:cxnSp>
        <p:nvCxnSpPr>
          <p:cNvPr id="1040" name="Straight Arrow Connector 17">
            <a:extLst>
              <a:ext uri="{FF2B5EF4-FFF2-40B4-BE49-F238E27FC236}">
                <a16:creationId xmlns:a16="http://schemas.microsoft.com/office/drawing/2014/main" id="{ECCF0B52-996D-FFE5-3DB5-2283AC87C31A}"/>
              </a:ext>
            </a:extLst>
          </p:cNvPr>
          <p:cNvCxnSpPr>
            <a:cxnSpLocks/>
          </p:cNvCxnSpPr>
          <p:nvPr/>
        </p:nvCxnSpPr>
        <p:spPr>
          <a:xfrm>
            <a:off x="3521177" y="1868186"/>
            <a:ext cx="177007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41" name="TextBox 18">
                <a:extLst>
                  <a:ext uri="{FF2B5EF4-FFF2-40B4-BE49-F238E27FC236}">
                    <a16:creationId xmlns:a16="http://schemas.microsoft.com/office/drawing/2014/main" id="{E10501D2-A818-FA05-DA47-9AB4C2EF0086}"/>
                  </a:ext>
                </a:extLst>
              </p:cNvPr>
              <p:cNvSpPr txBox="1"/>
              <p:nvPr/>
            </p:nvSpPr>
            <p:spPr>
              <a:xfrm>
                <a:off x="4199236" y="1966862"/>
                <a:ext cx="68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041" name="TextBox 18">
                <a:extLst>
                  <a:ext uri="{FF2B5EF4-FFF2-40B4-BE49-F238E27FC236}">
                    <a16:creationId xmlns:a16="http://schemas.microsoft.com/office/drawing/2014/main" id="{E10501D2-A818-FA05-DA47-9AB4C2EF0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236" y="1966862"/>
                <a:ext cx="68589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4" name="Straight Arrow Connector 17">
            <a:extLst>
              <a:ext uri="{FF2B5EF4-FFF2-40B4-BE49-F238E27FC236}">
                <a16:creationId xmlns:a16="http://schemas.microsoft.com/office/drawing/2014/main" id="{2B822B43-F819-3CCB-14A6-466B99C5C23F}"/>
              </a:ext>
            </a:extLst>
          </p:cNvPr>
          <p:cNvCxnSpPr>
            <a:cxnSpLocks/>
          </p:cNvCxnSpPr>
          <p:nvPr/>
        </p:nvCxnSpPr>
        <p:spPr>
          <a:xfrm>
            <a:off x="5348372" y="1868186"/>
            <a:ext cx="167419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45" name="TextBox 18">
                <a:extLst>
                  <a:ext uri="{FF2B5EF4-FFF2-40B4-BE49-F238E27FC236}">
                    <a16:creationId xmlns:a16="http://schemas.microsoft.com/office/drawing/2014/main" id="{07E8B197-36A0-EEC0-74C2-0365ECFBBC88}"/>
                  </a:ext>
                </a:extLst>
              </p:cNvPr>
              <p:cNvSpPr txBox="1"/>
              <p:nvPr/>
            </p:nvSpPr>
            <p:spPr>
              <a:xfrm>
                <a:off x="5788521" y="1953243"/>
                <a:ext cx="68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045" name="TextBox 18">
                <a:extLst>
                  <a:ext uri="{FF2B5EF4-FFF2-40B4-BE49-F238E27FC236}">
                    <a16:creationId xmlns:a16="http://schemas.microsoft.com/office/drawing/2014/main" id="{07E8B197-36A0-EEC0-74C2-0365ECFBB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8521" y="1953243"/>
                <a:ext cx="68589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7050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9" grpId="0" animBg="1"/>
      <p:bldP spid="61" grpId="0" animBg="1"/>
      <p:bldP spid="1027" grpId="0" animBg="1"/>
      <p:bldP spid="1029" grpId="0" animBg="1"/>
      <p:bldP spid="1031" grpId="0" animBg="1"/>
      <p:bldP spid="1033" grpId="0" animBg="1"/>
      <p:bldP spid="1035" grpId="0" animBg="1"/>
      <p:bldP spid="1041" grpId="0"/>
      <p:bldP spid="104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0">
              <a:srgbClr val="E9E9E9"/>
            </a:gs>
            <a:gs pos="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FB51D-E05F-1925-8F3D-70A39F6B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65125"/>
            <a:ext cx="11521440" cy="813040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Results (old and new)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DD420F3-89F5-71CE-CEA1-673F2D605115}"/>
              </a:ext>
            </a:extLst>
          </p:cNvPr>
          <p:cNvGrpSpPr/>
          <p:nvPr/>
        </p:nvGrpSpPr>
        <p:grpSpPr>
          <a:xfrm>
            <a:off x="670560" y="1667023"/>
            <a:ext cx="10573396" cy="1266092"/>
            <a:chOff x="670560" y="1667023"/>
            <a:chExt cx="10573396" cy="126609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51765D-8358-B3AA-8728-B699A698ED9B}"/>
                </a:ext>
              </a:extLst>
            </p:cNvPr>
            <p:cNvSpPr/>
            <p:nvPr/>
          </p:nvSpPr>
          <p:spPr>
            <a:xfrm>
              <a:off x="5190034" y="1769165"/>
              <a:ext cx="6053922" cy="1105535"/>
            </a:xfrm>
            <a:prstGeom prst="rect">
              <a:avLst/>
            </a:prstGeom>
            <a:solidFill>
              <a:srgbClr val="DBE9F5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rgbClr val="215F9A"/>
                  </a:solidFill>
                </a:rPr>
                <a:t>Output the best permutation </a:t>
              </a:r>
            </a:p>
            <a:p>
              <a:pPr algn="ctr"/>
              <a:r>
                <a:rPr lang="en-US" sz="2000">
                  <a:solidFill>
                    <a:srgbClr val="215F9A"/>
                  </a:solidFill>
                </a:rPr>
                <a:t>from the input set</a:t>
              </a:r>
            </a:p>
          </p:txBody>
        </p:sp>
        <p:sp>
          <p:nvSpPr>
            <p:cNvPr id="18" name="Arrow: Pentagon 17">
              <a:extLst>
                <a:ext uri="{FF2B5EF4-FFF2-40B4-BE49-F238E27FC236}">
                  <a16:creationId xmlns:a16="http://schemas.microsoft.com/office/drawing/2014/main" id="{650A3926-E70C-81CE-9D51-7D89AFB8F440}"/>
                </a:ext>
              </a:extLst>
            </p:cNvPr>
            <p:cNvSpPr/>
            <p:nvPr/>
          </p:nvSpPr>
          <p:spPr>
            <a:xfrm>
              <a:off x="670560" y="1667023"/>
              <a:ext cx="5218042" cy="1266092"/>
            </a:xfrm>
            <a:prstGeom prst="homePlate">
              <a:avLst/>
            </a:prstGeom>
            <a:solidFill>
              <a:srgbClr val="9AC6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rgbClr val="215F9A"/>
                  </a:solidFill>
                </a:rPr>
                <a:t>2-approximation algorithm for </a:t>
              </a:r>
              <a:r>
                <a:rPr lang="en-US" sz="2000">
                  <a:solidFill>
                    <a:srgbClr val="FF0000"/>
                  </a:solidFill>
                </a:rPr>
                <a:t>any metric</a:t>
              </a:r>
              <a:r>
                <a:rPr lang="en-US" sz="2000"/>
                <a:t> 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6FFDADE4-BE5B-E408-94BD-D5B006F8B031}"/>
              </a:ext>
            </a:extLst>
          </p:cNvPr>
          <p:cNvSpPr/>
          <p:nvPr/>
        </p:nvSpPr>
        <p:spPr>
          <a:xfrm>
            <a:off x="670560" y="3101902"/>
            <a:ext cx="10573396" cy="1105535"/>
          </a:xfrm>
          <a:prstGeom prst="rect">
            <a:avLst/>
          </a:prstGeom>
          <a:solidFill>
            <a:srgbClr val="DBE9F5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rgbClr val="215F9A"/>
                </a:solidFill>
              </a:rPr>
              <a:t>             Analysis: triangle inequality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AC2D6B6-C648-1145-F287-0502C02F26E3}"/>
              </a:ext>
            </a:extLst>
          </p:cNvPr>
          <p:cNvGrpSpPr/>
          <p:nvPr/>
        </p:nvGrpSpPr>
        <p:grpSpPr>
          <a:xfrm>
            <a:off x="670560" y="4434639"/>
            <a:ext cx="10573396" cy="1266092"/>
            <a:chOff x="670560" y="4434639"/>
            <a:chExt cx="10573396" cy="126609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43CA62B-3321-C4A8-C496-B9BEA09D4BFB}"/>
                </a:ext>
              </a:extLst>
            </p:cNvPr>
            <p:cNvSpPr/>
            <p:nvPr/>
          </p:nvSpPr>
          <p:spPr>
            <a:xfrm>
              <a:off x="5190034" y="4536781"/>
              <a:ext cx="6053922" cy="1105535"/>
            </a:xfrm>
            <a:prstGeom prst="rect">
              <a:avLst/>
            </a:prstGeom>
            <a:solidFill>
              <a:srgbClr val="DBE9F5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1">
                <a:lnSpc>
                  <a:spcPct val="300000"/>
                </a:lnSpc>
              </a:pPr>
              <a:r>
                <a:rPr lang="en-US">
                  <a:solidFill>
                    <a:srgbClr val="FF0000"/>
                  </a:solidFill>
                </a:rPr>
                <a:t>                 Beat</a:t>
              </a:r>
              <a:r>
                <a:rPr lang="en-US"/>
                <a:t> </a:t>
              </a:r>
              <a:r>
                <a:rPr lang="en-US">
                  <a:solidFill>
                    <a:srgbClr val="215F9A"/>
                  </a:solidFill>
                </a:rPr>
                <a:t>the</a:t>
              </a:r>
              <a:r>
                <a:rPr lang="en-US"/>
                <a:t> </a:t>
              </a:r>
              <a:r>
                <a:rPr lang="en-US">
                  <a:solidFill>
                    <a:srgbClr val="FF0000"/>
                  </a:solidFill>
                </a:rPr>
                <a:t>2</a:t>
              </a:r>
              <a:r>
                <a:rPr lang="en-US">
                  <a:solidFill>
                    <a:srgbClr val="215F9A"/>
                  </a:solidFill>
                </a:rPr>
                <a:t>-approximation</a:t>
              </a:r>
            </a:p>
          </p:txBody>
        </p:sp>
        <p:sp>
          <p:nvSpPr>
            <p:cNvPr id="39" name="Arrow: Pentagon 38">
              <a:extLst>
                <a:ext uri="{FF2B5EF4-FFF2-40B4-BE49-F238E27FC236}">
                  <a16:creationId xmlns:a16="http://schemas.microsoft.com/office/drawing/2014/main" id="{86C2B869-3D60-CCD1-6C6F-453E0E69BC00}"/>
                </a:ext>
              </a:extLst>
            </p:cNvPr>
            <p:cNvSpPr/>
            <p:nvPr/>
          </p:nvSpPr>
          <p:spPr>
            <a:xfrm>
              <a:off x="670560" y="4434639"/>
              <a:ext cx="5218042" cy="1266092"/>
            </a:xfrm>
            <a:prstGeom prst="homePlate">
              <a:avLst/>
            </a:prstGeom>
            <a:solidFill>
              <a:srgbClr val="9AC6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/>
                <a:t> </a:t>
              </a:r>
              <a:r>
                <a:rPr lang="en-US" sz="2000">
                  <a:solidFill>
                    <a:srgbClr val="215F9A"/>
                  </a:solidFill>
                </a:rPr>
                <a:t>Main questions for some metrics</a:t>
              </a:r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3495124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6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335A23-97A2-44C2-A3C2-BA66A0FEC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731D7-5E5F-F699-CAFB-DDD040908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783" y="365125"/>
            <a:ext cx="11455217" cy="73143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Results (old and new)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F209CE-A16E-3C88-CCCE-FFF54F14F7BA}"/>
              </a:ext>
            </a:extLst>
          </p:cNvPr>
          <p:cNvSpPr txBox="1"/>
          <p:nvPr/>
        </p:nvSpPr>
        <p:spPr>
          <a:xfrm>
            <a:off x="663272" y="4557457"/>
            <a:ext cx="2967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>
                <a:solidFill>
                  <a:srgbClr val="215F9A"/>
                </a:solidFill>
              </a:rPr>
              <a:t>Via a new unified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7F75233-B593-D41B-3B1D-B8B287F3BC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7177901"/>
                  </p:ext>
                </p:extLst>
              </p:nvPr>
            </p:nvGraphicFramePr>
            <p:xfrm>
              <a:off x="749392" y="1631809"/>
              <a:ext cx="10750946" cy="28483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0897">
                      <a:extLst>
                        <a:ext uri="{9D8B030D-6E8A-4147-A177-3AD203B41FA5}">
                          <a16:colId xmlns:a16="http://schemas.microsoft.com/office/drawing/2014/main" val="113723004"/>
                        </a:ext>
                      </a:extLst>
                    </a:gridCol>
                    <a:gridCol w="2149833">
                      <a:extLst>
                        <a:ext uri="{9D8B030D-6E8A-4147-A177-3AD203B41FA5}">
                          <a16:colId xmlns:a16="http://schemas.microsoft.com/office/drawing/2014/main" val="412546910"/>
                        </a:ext>
                      </a:extLst>
                    </a:gridCol>
                    <a:gridCol w="4775823">
                      <a:extLst>
                        <a:ext uri="{9D8B030D-6E8A-4147-A177-3AD203B41FA5}">
                          <a16:colId xmlns:a16="http://schemas.microsoft.com/office/drawing/2014/main" val="3510761127"/>
                        </a:ext>
                      </a:extLst>
                    </a:gridCol>
                    <a:gridCol w="1744393">
                      <a:extLst>
                        <a:ext uri="{9D8B030D-6E8A-4147-A177-3AD203B41FA5}">
                          <a16:colId xmlns:a16="http://schemas.microsoft.com/office/drawing/2014/main" val="3775414349"/>
                        </a:ext>
                      </a:extLst>
                    </a:gridCol>
                  </a:tblGrid>
                  <a:tr h="434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Metrics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Hardness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Approximation (offline setting)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MPC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0147386"/>
                      </a:ext>
                    </a:extLst>
                  </a:tr>
                  <a:tr h="34509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Hamming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Optimal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>
                              <a:solidFill>
                                <a:srgbClr val="FF0000"/>
                              </a:solidFill>
                            </a:rPr>
                            <a:t>1.75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4219196"/>
                      </a:ext>
                    </a:extLst>
                  </a:tr>
                  <a:tr h="434448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Spearman-footrule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Optimal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>
                              <a:solidFill>
                                <a:srgbClr val="FF0000"/>
                              </a:solidFill>
                            </a:rPr>
                            <a:t>1.75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5696021"/>
                      </a:ext>
                    </a:extLst>
                  </a:tr>
                  <a:tr h="6206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Kendall-tau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NP-hard (Alon 06)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PTAS (Kenyon-Mathieu, Schudy 07)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1.9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6145504"/>
                      </a:ext>
                    </a:extLst>
                  </a:tr>
                  <a:tr h="993023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Ulam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NP-hard (FGHS 25)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oMath>
                          </a14:m>
                          <a:r>
                            <a:rPr lang="en-US" dirty="0"/>
                            <a:t>-approximation (CDK22)</a:t>
                          </a:r>
                        </a:p>
                        <a:p>
                          <a:r>
                            <a:rPr lang="en-US" dirty="0"/>
                            <a:t>(no known lower bound)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sz="1800" kern="120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2−</m:t>
                                </m:r>
                                <m:r>
                                  <a:rPr lang="en-US" sz="1800" kern="120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𝛿</m:t>
                                </m:r>
                              </m:oMath>
                            </m:oMathPara>
                          </a14:m>
                          <a:endParaRPr lang="en-US" sz="18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23080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7F75233-B593-D41B-3B1D-B8B287F3BC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7177901"/>
                  </p:ext>
                </p:extLst>
              </p:nvPr>
            </p:nvGraphicFramePr>
            <p:xfrm>
              <a:off x="749392" y="1631809"/>
              <a:ext cx="10750946" cy="28483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0897">
                      <a:extLst>
                        <a:ext uri="{9D8B030D-6E8A-4147-A177-3AD203B41FA5}">
                          <a16:colId xmlns:a16="http://schemas.microsoft.com/office/drawing/2014/main" val="113723004"/>
                        </a:ext>
                      </a:extLst>
                    </a:gridCol>
                    <a:gridCol w="2149833">
                      <a:extLst>
                        <a:ext uri="{9D8B030D-6E8A-4147-A177-3AD203B41FA5}">
                          <a16:colId xmlns:a16="http://schemas.microsoft.com/office/drawing/2014/main" val="412546910"/>
                        </a:ext>
                      </a:extLst>
                    </a:gridCol>
                    <a:gridCol w="4775823">
                      <a:extLst>
                        <a:ext uri="{9D8B030D-6E8A-4147-A177-3AD203B41FA5}">
                          <a16:colId xmlns:a16="http://schemas.microsoft.com/office/drawing/2014/main" val="3510761127"/>
                        </a:ext>
                      </a:extLst>
                    </a:gridCol>
                    <a:gridCol w="1744393">
                      <a:extLst>
                        <a:ext uri="{9D8B030D-6E8A-4147-A177-3AD203B41FA5}">
                          <a16:colId xmlns:a16="http://schemas.microsoft.com/office/drawing/2014/main" val="3775414349"/>
                        </a:ext>
                      </a:extLst>
                    </a:gridCol>
                  </a:tblGrid>
                  <a:tr h="434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Metrics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Hardness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Approximation (offline setting)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MPC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01473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Hamming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Optimal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>
                              <a:solidFill>
                                <a:srgbClr val="FF0000"/>
                              </a:solidFill>
                            </a:rPr>
                            <a:t>1.75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4219196"/>
                      </a:ext>
                    </a:extLst>
                  </a:tr>
                  <a:tr h="434448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Spearman-footrule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Optimal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>
                              <a:solidFill>
                                <a:srgbClr val="FF0000"/>
                              </a:solidFill>
                            </a:rPr>
                            <a:t>1.75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5696021"/>
                      </a:ext>
                    </a:extLst>
                  </a:tr>
                  <a:tr h="6206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Kendall-tau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NP-hard (Alon 06)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PTAS (Kenyon-Mathieu, Schudy 07)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1.9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6145504"/>
                      </a:ext>
                    </a:extLst>
                  </a:tr>
                  <a:tr h="993023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Ulam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NP-hard (FGHS 25)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8776" t="-189571" r="-36990" b="-1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17483" t="-189571" r="-1399" b="-18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23080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239DB53-EB6C-FB60-37CB-FF6503D9A89D}"/>
              </a:ext>
            </a:extLst>
          </p:cNvPr>
          <p:cNvSpPr/>
          <p:nvPr/>
        </p:nvSpPr>
        <p:spPr>
          <a:xfrm>
            <a:off x="2628960" y="5113853"/>
            <a:ext cx="7274695" cy="10215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55600" sx="103000" sy="103000" algn="ctr" rotWithShape="0">
              <a:prstClr val="black">
                <a:alpha val="26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Remark: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Applies to some weighted version of the above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Improve (weighted) Ulam to 1.968 in offline setting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7D32589-B7ED-CE1A-863F-FDA873C15425}"/>
              </a:ext>
            </a:extLst>
          </p:cNvPr>
          <p:cNvGrpSpPr/>
          <p:nvPr/>
        </p:nvGrpSpPr>
        <p:grpSpPr>
          <a:xfrm>
            <a:off x="10248899" y="2128184"/>
            <a:ext cx="1193708" cy="1988039"/>
            <a:chOff x="10248900" y="2114550"/>
            <a:chExt cx="1193708" cy="198803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FDA65C5-E1EB-7F6E-EF39-8FACE6E01C1A}"/>
                </a:ext>
              </a:extLst>
            </p:cNvPr>
            <p:cNvSpPr/>
            <p:nvPr/>
          </p:nvSpPr>
          <p:spPr>
            <a:xfrm>
              <a:off x="10420350" y="2114550"/>
              <a:ext cx="1022258" cy="274320"/>
            </a:xfrm>
            <a:prstGeom prst="rect">
              <a:avLst/>
            </a:prstGeom>
            <a:solidFill>
              <a:srgbClr val="CCD2D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E60A88A-831C-05DE-D72B-F739D223E562}"/>
                </a:ext>
              </a:extLst>
            </p:cNvPr>
            <p:cNvSpPr/>
            <p:nvPr/>
          </p:nvSpPr>
          <p:spPr>
            <a:xfrm>
              <a:off x="10420350" y="2501211"/>
              <a:ext cx="1022258" cy="274320"/>
            </a:xfrm>
            <a:prstGeom prst="rect">
              <a:avLst/>
            </a:prstGeom>
            <a:solidFill>
              <a:srgbClr val="E7EA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ADEBEA-89E8-3F59-B195-911D570D21FC}"/>
                </a:ext>
              </a:extLst>
            </p:cNvPr>
            <p:cNvSpPr/>
            <p:nvPr/>
          </p:nvSpPr>
          <p:spPr>
            <a:xfrm>
              <a:off x="10420350" y="3023962"/>
              <a:ext cx="1022258" cy="274320"/>
            </a:xfrm>
            <a:prstGeom prst="rect">
              <a:avLst/>
            </a:prstGeom>
            <a:solidFill>
              <a:srgbClr val="CCD2D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D575D4F-EF94-4357-CE1F-122F5DEFB449}"/>
                </a:ext>
              </a:extLst>
            </p:cNvPr>
            <p:cNvSpPr/>
            <p:nvPr/>
          </p:nvSpPr>
          <p:spPr>
            <a:xfrm>
              <a:off x="10248900" y="3828269"/>
              <a:ext cx="1193708" cy="274320"/>
            </a:xfrm>
            <a:prstGeom prst="rect">
              <a:avLst/>
            </a:prstGeom>
            <a:solidFill>
              <a:srgbClr val="E7EA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6DA18CA-C71B-4726-2193-A55DA998B55B}"/>
              </a:ext>
            </a:extLst>
          </p:cNvPr>
          <p:cNvGrpSpPr/>
          <p:nvPr/>
        </p:nvGrpSpPr>
        <p:grpSpPr>
          <a:xfrm>
            <a:off x="11047804" y="2130272"/>
            <a:ext cx="282446" cy="2007762"/>
            <a:chOff x="11168288" y="2114550"/>
            <a:chExt cx="282446" cy="2007762"/>
          </a:xfrm>
        </p:grpSpPr>
        <p:pic>
          <p:nvPicPr>
            <p:cNvPr id="23" name="Graphic 22" descr="Question Mark with solid fill">
              <a:extLst>
                <a:ext uri="{FF2B5EF4-FFF2-40B4-BE49-F238E27FC236}">
                  <a16:creationId xmlns:a16="http://schemas.microsoft.com/office/drawing/2014/main" id="{6567A365-B18C-1F4F-C329-0B857AA71E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68288" y="2114550"/>
              <a:ext cx="274320" cy="27432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5" name="Graphic 24" descr="Question Mark with solid fill">
              <a:extLst>
                <a:ext uri="{FF2B5EF4-FFF2-40B4-BE49-F238E27FC236}">
                  <a16:creationId xmlns:a16="http://schemas.microsoft.com/office/drawing/2014/main" id="{8594D7F3-579B-8EC0-0778-1C9106E4E8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76414" y="2503170"/>
              <a:ext cx="274320" cy="27432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7" name="Graphic 26" descr="Question Mark with solid fill">
              <a:extLst>
                <a:ext uri="{FF2B5EF4-FFF2-40B4-BE49-F238E27FC236}">
                  <a16:creationId xmlns:a16="http://schemas.microsoft.com/office/drawing/2014/main" id="{1B6E81D4-C5B7-B20C-7206-BEEFC74D4B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68288" y="3038421"/>
              <a:ext cx="274320" cy="27432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9" name="Graphic 28" descr="Question Mark with solid fill">
              <a:extLst>
                <a:ext uri="{FF2B5EF4-FFF2-40B4-BE49-F238E27FC236}">
                  <a16:creationId xmlns:a16="http://schemas.microsoft.com/office/drawing/2014/main" id="{1A9E69A6-8CE1-6E67-07DE-68E2EF550F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71224" y="3847992"/>
              <a:ext cx="274320" cy="27432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7F7B21F-CE0E-FAA8-A4D9-D628F150CA0D}"/>
              </a:ext>
            </a:extLst>
          </p:cNvPr>
          <p:cNvSpPr/>
          <p:nvPr/>
        </p:nvSpPr>
        <p:spPr>
          <a:xfrm>
            <a:off x="2802078" y="1546379"/>
            <a:ext cx="2138806" cy="2925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22B86B-B978-5BA6-FC68-4220B105625F}"/>
              </a:ext>
            </a:extLst>
          </p:cNvPr>
          <p:cNvSpPr/>
          <p:nvPr/>
        </p:nvSpPr>
        <p:spPr>
          <a:xfrm>
            <a:off x="4910878" y="1562369"/>
            <a:ext cx="4798492" cy="2925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FAA3B92-1F74-02FF-ECA8-86617F6B726A}"/>
              </a:ext>
            </a:extLst>
          </p:cNvPr>
          <p:cNvSpPr/>
          <p:nvPr/>
        </p:nvSpPr>
        <p:spPr>
          <a:xfrm>
            <a:off x="663272" y="1599830"/>
            <a:ext cx="2138806" cy="29805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7D8EC27-E496-ACAB-9335-3C8017F48320}"/>
              </a:ext>
            </a:extLst>
          </p:cNvPr>
          <p:cNvGrpSpPr/>
          <p:nvPr/>
        </p:nvGrpSpPr>
        <p:grpSpPr>
          <a:xfrm>
            <a:off x="9679364" y="1306946"/>
            <a:ext cx="2003544" cy="3250511"/>
            <a:chOff x="9679364" y="1306946"/>
            <a:chExt cx="2003544" cy="3250511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5CA4A31-933A-7468-7483-C0E61FFE67F6}"/>
                </a:ext>
              </a:extLst>
            </p:cNvPr>
            <p:cNvSpPr/>
            <p:nvPr/>
          </p:nvSpPr>
          <p:spPr>
            <a:xfrm>
              <a:off x="9679364" y="1306946"/>
              <a:ext cx="1911807" cy="325051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E42CC16-9683-0087-9971-4EE500688B0C}"/>
                </a:ext>
              </a:extLst>
            </p:cNvPr>
            <p:cNvSpPr txBox="1"/>
            <p:nvPr/>
          </p:nvSpPr>
          <p:spPr>
            <a:xfrm>
              <a:off x="10008599" y="1309538"/>
              <a:ext cx="16743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New result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14566631-87BA-6B13-3A09-6821A7257271}"/>
              </a:ext>
            </a:extLst>
          </p:cNvPr>
          <p:cNvSpPr/>
          <p:nvPr/>
        </p:nvSpPr>
        <p:spPr>
          <a:xfrm>
            <a:off x="9674651" y="1599830"/>
            <a:ext cx="1911807" cy="2925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71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 animBg="1"/>
      <p:bldP spid="17" grpId="0" animBg="1"/>
      <p:bldP spid="19" grpId="0" animBg="1"/>
      <p:bldP spid="39" grpId="0" animBg="1"/>
      <p:bldP spid="39" grpId="1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6E5157-DA58-F973-C42A-B13849743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B5EF4-1C8E-A475-D0B3-7E9922AC3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353800" cy="79267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Our contributions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1E1963-FE8A-503D-C924-68C88B6060FA}"/>
              </a:ext>
            </a:extLst>
          </p:cNvPr>
          <p:cNvSpPr/>
          <p:nvPr/>
        </p:nvSpPr>
        <p:spPr>
          <a:xfrm>
            <a:off x="2013277" y="1679908"/>
            <a:ext cx="3757153" cy="468712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15F9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751032-AF36-040E-CAE3-A029AD1C313B}"/>
              </a:ext>
            </a:extLst>
          </p:cNvPr>
          <p:cNvSpPr txBox="1"/>
          <p:nvPr/>
        </p:nvSpPr>
        <p:spPr>
          <a:xfrm>
            <a:off x="2392219" y="2019295"/>
            <a:ext cx="2999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>
                <a:gradFill flip="none" rotWithShape="1">
                  <a:gsLst>
                    <a:gs pos="0">
                      <a:srgbClr val="002060"/>
                    </a:gs>
                    <a:gs pos="51000">
                      <a:schemeClr val="accent4">
                        <a:lumMod val="97000"/>
                        <a:lumOff val="3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</a:rPr>
              <a:t>A new unified framework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2453BF-CBFA-486F-E303-B0ABA0B4D8A9}"/>
              </a:ext>
            </a:extLst>
          </p:cNvPr>
          <p:cNvSpPr/>
          <p:nvPr/>
        </p:nvSpPr>
        <p:spPr>
          <a:xfrm>
            <a:off x="6151862" y="1679908"/>
            <a:ext cx="4203608" cy="468712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15F9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84E9BE-E3B1-349A-BE30-B53C5216A800}"/>
                  </a:ext>
                </a:extLst>
              </p:cNvPr>
              <p:cNvSpPr txBox="1"/>
              <p:nvPr/>
            </p:nvSpPr>
            <p:spPr>
              <a:xfrm>
                <a:off x="6487630" y="1881051"/>
                <a:ext cx="353267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gradFill flip="none" rotWithShape="1">
                      <a:gsLst>
                        <a:gs pos="0">
                          <a:srgbClr val="002060"/>
                        </a:gs>
                        <a:gs pos="51000">
                          <a:schemeClr val="accent4">
                            <a:lumMod val="97000"/>
                            <a:lumOff val="3000"/>
                          </a:schemeClr>
                        </a:gs>
                        <a:gs pos="100000">
                          <a:schemeClr val="accent4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  <a:tileRect/>
                    </a:gradFill>
                  </a:defRPr>
                </a:lvl1pPr>
              </a:lstStyle>
              <a:p>
                <a:r>
                  <a:rPr lang="en-US">
                    <a:solidFill>
                      <a:srgbClr val="00B050"/>
                    </a:solidFill>
                  </a:rPr>
                  <a:t>MPC-friendly</a:t>
                </a:r>
                <a:r>
                  <a:rPr lang="en-US"/>
                  <a:t> Local algorithms (aggregating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84E9BE-E3B1-349A-BE30-B53C5216A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630" y="1881051"/>
                <a:ext cx="3532670" cy="646331"/>
              </a:xfrm>
              <a:prstGeom prst="rect">
                <a:avLst/>
              </a:prstGeom>
              <a:blipFill>
                <a:blip r:embed="rId3"/>
                <a:stretch>
                  <a:fillRect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39B474ED-6737-75E7-7628-7A6DEFA85842}"/>
                  </a:ext>
                </a:extLst>
              </p:cNvPr>
              <p:cNvSpPr/>
              <p:nvPr/>
            </p:nvSpPr>
            <p:spPr>
              <a:xfrm>
                <a:off x="2474417" y="2541401"/>
                <a:ext cx="2834871" cy="1598833"/>
              </a:xfrm>
              <a:prstGeom prst="roundRect">
                <a:avLst/>
              </a:prstGeom>
              <a:solidFill>
                <a:srgbClr val="ECF3F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rgbClr val="215F9A"/>
                    </a:solidFill>
                  </a:rPr>
                  <a:t>Either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∃</m:t>
                    </m:r>
                    <m:sSub>
                      <m:sSubPr>
                        <m:ctrlPr>
                          <a:rPr lang="en-US" i="1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>
                    <a:solidFill>
                      <a:srgbClr val="215F9A"/>
                    </a:solidFill>
                  </a:rPr>
                  <a:t> close to a median</a:t>
                </a:r>
              </a:p>
            </p:txBody>
          </p:sp>
        </mc:Choice>
        <mc:Fallback xmlns="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39B474ED-6737-75E7-7628-7A6DEFA858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417" y="2541401"/>
                <a:ext cx="2834871" cy="159883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3536F81E-C9CC-424E-19B3-070C49396882}"/>
                  </a:ext>
                </a:extLst>
              </p:cNvPr>
              <p:cNvSpPr/>
              <p:nvPr/>
            </p:nvSpPr>
            <p:spPr>
              <a:xfrm>
                <a:off x="2474416" y="4284867"/>
                <a:ext cx="2834871" cy="189884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rgbClr val="215F9A"/>
                    </a:solidFill>
                  </a:rPr>
                  <a:t>Or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∃ </m:t>
                    </m:r>
                    <m:r>
                      <m:rPr>
                        <m:sty m:val="p"/>
                      </m:rP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>
                    <a:solidFill>
                      <a:srgbClr val="215F9A"/>
                    </a:solidFill>
                  </a:rPr>
                  <a:t> : a good approximation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med</m:t>
                    </m:r>
                    <m:d>
                      <m:dPr>
                        <m:ctrlPr>
                          <a:rPr lang="en-US" i="1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d>
                  </m:oMath>
                </a14:m>
                <a:r>
                  <a:rPr lang="en-US">
                    <a:solidFill>
                      <a:srgbClr val="215F9A"/>
                    </a:solidFill>
                  </a:rPr>
                  <a:t> (local solution) is close to a median</a:t>
                </a:r>
              </a:p>
              <a:p>
                <a:r>
                  <a:rPr lang="en-US">
                    <a:solidFill>
                      <a:srgbClr val="FF0000"/>
                    </a:solidFill>
                  </a:rPr>
                  <a:t>Local – global property</a:t>
                </a:r>
              </a:p>
            </p:txBody>
          </p:sp>
        </mc:Choice>
        <mc:Fallback xmlns="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3536F81E-C9CC-424E-19B3-070C493968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416" y="4284867"/>
                <a:ext cx="2834871" cy="189884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F67C64E-FCD0-7245-D42A-E54FC98795AA}"/>
              </a:ext>
            </a:extLst>
          </p:cNvPr>
          <p:cNvSpPr/>
          <p:nvPr/>
        </p:nvSpPr>
        <p:spPr>
          <a:xfrm>
            <a:off x="6487631" y="2541402"/>
            <a:ext cx="1645927" cy="159883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>
                <a:solidFill>
                  <a:srgbClr val="215F9A"/>
                </a:solidFill>
              </a:rPr>
              <a:t>Ulam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DD75880-3F6E-815B-5E50-5EFC05FD4B91}"/>
              </a:ext>
            </a:extLst>
          </p:cNvPr>
          <p:cNvSpPr/>
          <p:nvPr/>
        </p:nvSpPr>
        <p:spPr>
          <a:xfrm>
            <a:off x="6487630" y="4286854"/>
            <a:ext cx="1645927" cy="1598833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215F9A"/>
                </a:solidFill>
              </a:rPr>
              <a:t>Hamming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0EBC954-903A-53F3-B631-582855038C54}"/>
              </a:ext>
            </a:extLst>
          </p:cNvPr>
          <p:cNvSpPr/>
          <p:nvPr/>
        </p:nvSpPr>
        <p:spPr>
          <a:xfrm>
            <a:off x="8300147" y="2541401"/>
            <a:ext cx="1645927" cy="159883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215F9A"/>
                </a:solidFill>
              </a:rPr>
              <a:t>Kendall-tau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409DB8B-5FA5-25DF-C561-5F36BA52CA86}"/>
              </a:ext>
            </a:extLst>
          </p:cNvPr>
          <p:cNvSpPr/>
          <p:nvPr/>
        </p:nvSpPr>
        <p:spPr>
          <a:xfrm>
            <a:off x="8300146" y="4286853"/>
            <a:ext cx="1645927" cy="1598833"/>
          </a:xfrm>
          <a:prstGeom prst="roundRect">
            <a:avLst/>
          </a:prstGeom>
          <a:solidFill>
            <a:srgbClr val="CDE0F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215F9A"/>
                </a:solidFill>
              </a:rPr>
              <a:t>Spearman-Footrule</a:t>
            </a:r>
          </a:p>
        </p:txBody>
      </p:sp>
    </p:spTree>
    <p:extLst>
      <p:ext uri="{BB962C8B-B14F-4D97-AF65-F5344CB8AC3E}">
        <p14:creationId xmlns:p14="http://schemas.microsoft.com/office/powerpoint/2010/main" val="1522133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6C6AC"/>
                                      </p:to>
                                    </p:animClr>
                                    <p:set>
                                      <p:cBhvr>
                                        <p:cTn id="6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6C6AC"/>
                                      </p:to>
                                    </p:animClr>
                                    <p:set>
                                      <p:cBhvr>
                                        <p:cTn id="6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6C6AC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3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6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9" dur="indefinite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2" dur="indefinite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5" dur="indefinite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  <p:bldP spid="12" grpId="0" animBg="1"/>
      <p:bldP spid="9" grpId="0"/>
      <p:bldP spid="10" grpId="0" animBg="1"/>
      <p:bldP spid="10" grpId="1" animBg="1"/>
      <p:bldP spid="14" grpId="0" animBg="1"/>
      <p:bldP spid="14" grpId="1" animBg="1"/>
      <p:bldP spid="23" grpId="0" animBg="1"/>
      <p:bldP spid="29" grpId="0" animBg="1"/>
      <p:bldP spid="29" grpId="1" animBg="1"/>
      <p:bldP spid="31" grpId="0" animBg="1"/>
      <p:bldP spid="31" grpId="1" animBg="1"/>
      <p:bldP spid="33" grpId="0" animBg="1"/>
      <p:bldP spid="33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85F79-45C5-FEB9-6E79-A118B71A2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218" y="302468"/>
            <a:ext cx="11682782" cy="796597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Ulam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F01217-B7D2-B504-F228-6E61B29E7A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3102" y="1357409"/>
                <a:ext cx="10565523" cy="87107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0">
                    <a:latin typeface="Cambria Math" panose="02040503050406030204" pitchFamily="18" charset="0"/>
                  </a:rPr>
                  <a:t>Ulam (definition)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≝</m:t>
                    </m:r>
                  </m:oMath>
                </a14:m>
                <a:r>
                  <a:rPr lang="en-US"/>
                  <a:t>min # of moves to turn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/>
                  <a:t>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F01217-B7D2-B504-F228-6E61B29E7A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3102" y="1357409"/>
                <a:ext cx="10565523" cy="871075"/>
              </a:xfrm>
              <a:blipFill>
                <a:blip r:embed="rId2"/>
                <a:stretch>
                  <a:fillRect l="-1039" t="-16084" b="-16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145AA96A-E9AB-DD9E-514F-3A7C27885C33}"/>
              </a:ext>
            </a:extLst>
          </p:cNvPr>
          <p:cNvGrpSpPr/>
          <p:nvPr/>
        </p:nvGrpSpPr>
        <p:grpSpPr>
          <a:xfrm>
            <a:off x="2021778" y="2938209"/>
            <a:ext cx="2329759" cy="1165771"/>
            <a:chOff x="1008318" y="2780803"/>
            <a:chExt cx="2329759" cy="116577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DF6EDF5-B589-D71E-066D-D7FD95752845}"/>
                </a:ext>
              </a:extLst>
            </p:cNvPr>
            <p:cNvSpPr/>
            <p:nvPr/>
          </p:nvSpPr>
          <p:spPr>
            <a:xfrm>
              <a:off x="1477742" y="278080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3EB8E9D-A1DE-AA5E-31BE-F08A45D5DF8A}"/>
                </a:ext>
              </a:extLst>
            </p:cNvPr>
            <p:cNvSpPr/>
            <p:nvPr/>
          </p:nvSpPr>
          <p:spPr>
            <a:xfrm>
              <a:off x="1849809" y="278080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E9A731B-DD9E-5DA8-A946-6A384297E592}"/>
                </a:ext>
              </a:extLst>
            </p:cNvPr>
            <p:cNvSpPr/>
            <p:nvPr/>
          </p:nvSpPr>
          <p:spPr>
            <a:xfrm>
              <a:off x="2221876" y="278080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E1A8E1-EF83-D661-760A-183DE68C0E45}"/>
                </a:ext>
              </a:extLst>
            </p:cNvPr>
            <p:cNvSpPr/>
            <p:nvPr/>
          </p:nvSpPr>
          <p:spPr>
            <a:xfrm>
              <a:off x="2593943" y="2782382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9779BD9-44D1-07DB-2B27-8620D19DEF4C}"/>
                </a:ext>
              </a:extLst>
            </p:cNvPr>
            <p:cNvSpPr/>
            <p:nvPr/>
          </p:nvSpPr>
          <p:spPr>
            <a:xfrm>
              <a:off x="2966010" y="278238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8D5E073-8FAF-0540-5409-93CBBD51BC85}"/>
                </a:ext>
              </a:extLst>
            </p:cNvPr>
            <p:cNvSpPr/>
            <p:nvPr/>
          </p:nvSpPr>
          <p:spPr>
            <a:xfrm>
              <a:off x="1477742" y="3547703"/>
              <a:ext cx="372067" cy="397291"/>
            </a:xfrm>
            <a:prstGeom prst="rect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D69C50D-5342-71EA-55CF-89C3FC169C89}"/>
                </a:ext>
              </a:extLst>
            </p:cNvPr>
            <p:cNvSpPr/>
            <p:nvPr/>
          </p:nvSpPr>
          <p:spPr>
            <a:xfrm>
              <a:off x="1849809" y="3547703"/>
              <a:ext cx="372067" cy="397291"/>
            </a:xfrm>
            <a:prstGeom prst="rect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38C3EF7-FBF5-186D-4BFC-DE839C168C84}"/>
                </a:ext>
              </a:extLst>
            </p:cNvPr>
            <p:cNvSpPr/>
            <p:nvPr/>
          </p:nvSpPr>
          <p:spPr>
            <a:xfrm>
              <a:off x="2221876" y="3547704"/>
              <a:ext cx="372067" cy="397291"/>
            </a:xfrm>
            <a:prstGeom prst="rect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B5E5147-B05A-5A47-7075-0578E09C9845}"/>
                </a:ext>
              </a:extLst>
            </p:cNvPr>
            <p:cNvSpPr/>
            <p:nvPr/>
          </p:nvSpPr>
          <p:spPr>
            <a:xfrm>
              <a:off x="2593943" y="3549282"/>
              <a:ext cx="372067" cy="397291"/>
            </a:xfrm>
            <a:prstGeom prst="rect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5D5B6AA-3B92-CD42-2F86-E3C2B3373549}"/>
                </a:ext>
              </a:extLst>
            </p:cNvPr>
            <p:cNvSpPr/>
            <p:nvPr/>
          </p:nvSpPr>
          <p:spPr>
            <a:xfrm>
              <a:off x="2966010" y="3549283"/>
              <a:ext cx="372067" cy="397291"/>
            </a:xfrm>
            <a:prstGeom prst="rect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AA33F0C-5E87-55D3-5E2A-1D0B843F593D}"/>
                    </a:ext>
                  </a:extLst>
                </p:cNvPr>
                <p:cNvSpPr txBox="1"/>
                <p:nvPr/>
              </p:nvSpPr>
              <p:spPr>
                <a:xfrm>
                  <a:off x="1008318" y="3536778"/>
                  <a:ext cx="37144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AA33F0C-5E87-55D3-5E2A-1D0B843F59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318" y="3536778"/>
                  <a:ext cx="371448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84FBCE6-C9D4-7D21-95E4-ADD33D089299}"/>
                    </a:ext>
                  </a:extLst>
                </p:cNvPr>
                <p:cNvSpPr txBox="1"/>
                <p:nvPr/>
              </p:nvSpPr>
              <p:spPr>
                <a:xfrm>
                  <a:off x="1008318" y="2794782"/>
                  <a:ext cx="37234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84FBCE6-C9D4-7D21-95E4-ADD33D0892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318" y="2794782"/>
                  <a:ext cx="37234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95EFAE0E-FBE6-2C6A-E561-E8A3B402A1D9}"/>
              </a:ext>
            </a:extLst>
          </p:cNvPr>
          <p:cNvSpPr/>
          <p:nvPr/>
        </p:nvSpPr>
        <p:spPr>
          <a:xfrm>
            <a:off x="1736562" y="2692796"/>
            <a:ext cx="3039591" cy="17846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Curved Down 38">
            <a:extLst>
              <a:ext uri="{FF2B5EF4-FFF2-40B4-BE49-F238E27FC236}">
                <a16:creationId xmlns:a16="http://schemas.microsoft.com/office/drawing/2014/main" id="{5F99479A-B175-DF1E-C21A-47C413739597}"/>
              </a:ext>
            </a:extLst>
          </p:cNvPr>
          <p:cNvSpPr/>
          <p:nvPr/>
        </p:nvSpPr>
        <p:spPr>
          <a:xfrm>
            <a:off x="5438305" y="2591897"/>
            <a:ext cx="686324" cy="346312"/>
          </a:xfrm>
          <a:prstGeom prst="curved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4B75E59F-FB52-84D4-E30F-36F9412B7853}"/>
              </a:ext>
            </a:extLst>
          </p:cNvPr>
          <p:cNvSpPr/>
          <p:nvPr/>
        </p:nvSpPr>
        <p:spPr>
          <a:xfrm rot="5400000">
            <a:off x="6079340" y="3441570"/>
            <a:ext cx="290595" cy="200017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F9E4721-AB97-6F51-9A71-9057FD06B4CC}"/>
              </a:ext>
            </a:extLst>
          </p:cNvPr>
          <p:cNvGrpSpPr/>
          <p:nvPr/>
        </p:nvGrpSpPr>
        <p:grpSpPr>
          <a:xfrm>
            <a:off x="5288008" y="2922648"/>
            <a:ext cx="1864537" cy="397293"/>
            <a:chOff x="4274548" y="2765242"/>
            <a:chExt cx="1864537" cy="39729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40E8D37-5970-35C6-B5DE-1864A9444DBD}"/>
                </a:ext>
              </a:extLst>
            </p:cNvPr>
            <p:cNvSpPr/>
            <p:nvPr/>
          </p:nvSpPr>
          <p:spPr>
            <a:xfrm>
              <a:off x="4274548" y="276524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6A75D7A-6E01-29A2-C2F6-6F0A63056DF8}"/>
                </a:ext>
              </a:extLst>
            </p:cNvPr>
            <p:cNvSpPr/>
            <p:nvPr/>
          </p:nvSpPr>
          <p:spPr>
            <a:xfrm>
              <a:off x="4646615" y="276524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871C36C-2F07-CDDE-B1CC-E3883D76BE13}"/>
                </a:ext>
              </a:extLst>
            </p:cNvPr>
            <p:cNvSpPr/>
            <p:nvPr/>
          </p:nvSpPr>
          <p:spPr>
            <a:xfrm>
              <a:off x="5018682" y="276524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27C747E-8B67-F466-CD95-68FCB63F888E}"/>
                </a:ext>
              </a:extLst>
            </p:cNvPr>
            <p:cNvSpPr/>
            <p:nvPr/>
          </p:nvSpPr>
          <p:spPr>
            <a:xfrm>
              <a:off x="5394951" y="2765242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F87B10C-6164-FD3C-2007-9781D5B412DB}"/>
                </a:ext>
              </a:extLst>
            </p:cNvPr>
            <p:cNvSpPr/>
            <p:nvPr/>
          </p:nvSpPr>
          <p:spPr>
            <a:xfrm>
              <a:off x="5767018" y="276524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7C5A0F8-3D06-1B2F-92F3-284897E6AC04}"/>
              </a:ext>
            </a:extLst>
          </p:cNvPr>
          <p:cNvGrpSpPr/>
          <p:nvPr/>
        </p:nvGrpSpPr>
        <p:grpSpPr>
          <a:xfrm>
            <a:off x="5288008" y="3763216"/>
            <a:ext cx="1847720" cy="400217"/>
            <a:chOff x="4274548" y="3605810"/>
            <a:chExt cx="1847720" cy="400217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471E1C-4BEB-EB52-3820-A13E65EFAFEA}"/>
                </a:ext>
              </a:extLst>
            </p:cNvPr>
            <p:cNvSpPr/>
            <p:nvPr/>
          </p:nvSpPr>
          <p:spPr>
            <a:xfrm>
              <a:off x="4646615" y="360581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73C1DD4-B3EF-ED99-5732-765E1B488856}"/>
                </a:ext>
              </a:extLst>
            </p:cNvPr>
            <p:cNvSpPr/>
            <p:nvPr/>
          </p:nvSpPr>
          <p:spPr>
            <a:xfrm>
              <a:off x="4274548" y="360873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A25D541-7C9E-72E9-F17E-079213F6B0C6}"/>
                </a:ext>
              </a:extLst>
            </p:cNvPr>
            <p:cNvSpPr/>
            <p:nvPr/>
          </p:nvSpPr>
          <p:spPr>
            <a:xfrm>
              <a:off x="5006067" y="360873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C6373BF-16B2-3D62-7DE6-26983D3DE187}"/>
                </a:ext>
              </a:extLst>
            </p:cNvPr>
            <p:cNvSpPr/>
            <p:nvPr/>
          </p:nvSpPr>
          <p:spPr>
            <a:xfrm>
              <a:off x="5378134" y="360873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F727B35-17D3-7782-82E4-A137B2D067C7}"/>
                </a:ext>
              </a:extLst>
            </p:cNvPr>
            <p:cNvSpPr/>
            <p:nvPr/>
          </p:nvSpPr>
          <p:spPr>
            <a:xfrm>
              <a:off x="5750201" y="3608736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</a:p>
          </p:txBody>
        </p:sp>
      </p:grpSp>
      <p:sp>
        <p:nvSpPr>
          <p:cNvPr id="60" name="Arrow: Curved Down 59">
            <a:extLst>
              <a:ext uri="{FF2B5EF4-FFF2-40B4-BE49-F238E27FC236}">
                <a16:creationId xmlns:a16="http://schemas.microsoft.com/office/drawing/2014/main" id="{69DEBA9E-EA57-E49E-8598-A328DB2DA252}"/>
              </a:ext>
            </a:extLst>
          </p:cNvPr>
          <p:cNvSpPr/>
          <p:nvPr/>
        </p:nvSpPr>
        <p:spPr>
          <a:xfrm rot="10800000">
            <a:off x="5053627" y="4160507"/>
            <a:ext cx="1059442" cy="375566"/>
          </a:xfrm>
          <a:prstGeom prst="curved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9C1E3E21-58E4-9070-AE2B-117D613B94F4}"/>
              </a:ext>
            </a:extLst>
          </p:cNvPr>
          <p:cNvSpPr/>
          <p:nvPr/>
        </p:nvSpPr>
        <p:spPr>
          <a:xfrm rot="10800000">
            <a:off x="4843163" y="3861852"/>
            <a:ext cx="290595" cy="200017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Equals 62">
            <a:extLst>
              <a:ext uri="{FF2B5EF4-FFF2-40B4-BE49-F238E27FC236}">
                <a16:creationId xmlns:a16="http://schemas.microsoft.com/office/drawing/2014/main" id="{EBA50898-F528-7FE7-043B-7A6996A72599}"/>
              </a:ext>
            </a:extLst>
          </p:cNvPr>
          <p:cNvSpPr/>
          <p:nvPr/>
        </p:nvSpPr>
        <p:spPr>
          <a:xfrm>
            <a:off x="4769845" y="2954317"/>
            <a:ext cx="513961" cy="397291"/>
          </a:xfrm>
          <a:prstGeom prst="mathEqual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46C3CB9-2B8A-B468-6ED7-6C30FE889131}"/>
                  </a:ext>
                </a:extLst>
              </p:cNvPr>
              <p:cNvSpPr txBox="1"/>
              <p:nvPr/>
            </p:nvSpPr>
            <p:spPr>
              <a:xfrm>
                <a:off x="7943993" y="2903866"/>
                <a:ext cx="3039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12543, 52143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46C3CB9-2B8A-B468-6ED7-6C30FE889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3993" y="2903866"/>
                <a:ext cx="303959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F259D099-2B2F-42E9-37BC-5B26450E36CE}"/>
              </a:ext>
            </a:extLst>
          </p:cNvPr>
          <p:cNvSpPr txBox="1">
            <a:spLocks/>
          </p:cNvSpPr>
          <p:nvPr/>
        </p:nvSpPr>
        <p:spPr>
          <a:xfrm>
            <a:off x="900587" y="5073344"/>
            <a:ext cx="11123238" cy="1784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4BD52DD5-3913-C6D8-78B3-7D0B9DA7DCEB}"/>
                  </a:ext>
                </a:extLst>
              </p:cNvPr>
              <p:cNvSpPr/>
              <p:nvPr/>
            </p:nvSpPr>
            <p:spPr>
              <a:xfrm>
                <a:off x="2778125" y="5197697"/>
                <a:ext cx="7576442" cy="84136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355600" sx="103000" sy="103000" algn="ctr" rotWithShape="0">
                  <a:prstClr val="black">
                    <a:alpha val="26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>
                    <a:solidFill>
                      <a:srgbClr val="215F9A"/>
                    </a:solidFill>
                  </a:rPr>
                  <a:t>1 move = 1 delete + 1 insert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>
                    <a:solidFill>
                      <a:srgbClr val="215F9A"/>
                    </a:solidFill>
                  </a:rPr>
                  <a:t> Edit distance </a:t>
                </a:r>
                <a:r>
                  <a:rPr lang="en-US" i="1">
                    <a:solidFill>
                      <a:srgbClr val="215F9A"/>
                    </a:solidFill>
                  </a:rPr>
                  <a:t>with no substitutions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≝</m:t>
                    </m:r>
                  </m:oMath>
                </a14:m>
                <a:r>
                  <a:rPr lang="en-US">
                    <a:solidFill>
                      <a:srgbClr val="215F9A"/>
                    </a:solidFill>
                  </a:rPr>
                  <a:t>min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>
                    <a:solidFill>
                      <a:srgbClr val="215F9A"/>
                    </a:solidFill>
                  </a:rPr>
                  <a:t> # (ins + del) operations to turn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>
                    <a:solidFill>
                      <a:srgbClr val="215F9A"/>
                    </a:solidFill>
                  </a:rPr>
                  <a:t> into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>
                    <a:solidFill>
                      <a:srgbClr val="215F9A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4BD52DD5-3913-C6D8-78B3-7D0B9DA7DC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125" y="5197697"/>
                <a:ext cx="7576442" cy="84136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355600" sx="103000" sy="103000" algn="ctr" rotWithShape="0">
                  <a:prstClr val="black">
                    <a:alpha val="26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49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39" grpId="0" animBg="1"/>
      <p:bldP spid="40" grpId="0" animBg="1"/>
      <p:bldP spid="60" grpId="0" animBg="1"/>
      <p:bldP spid="62" grpId="0" animBg="1"/>
      <p:bldP spid="63" grpId="0" animBg="1"/>
      <p:bldP spid="64" grpId="0"/>
      <p:bldP spid="7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0E04318-6A68-233A-F247-DE23556100FC}"/>
              </a:ext>
            </a:extLst>
          </p:cNvPr>
          <p:cNvGrpSpPr/>
          <p:nvPr/>
        </p:nvGrpSpPr>
        <p:grpSpPr>
          <a:xfrm>
            <a:off x="3352800" y="1598183"/>
            <a:ext cx="6096000" cy="4120991"/>
            <a:chOff x="3352800" y="1598183"/>
            <a:chExt cx="6096000" cy="412099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5F0D466-E6FC-E23A-F6B8-A32A54D179B9}"/>
                </a:ext>
              </a:extLst>
            </p:cNvPr>
            <p:cNvSpPr/>
            <p:nvPr/>
          </p:nvSpPr>
          <p:spPr>
            <a:xfrm>
              <a:off x="4310155" y="2038714"/>
              <a:ext cx="4122420" cy="368046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>
                <a:solidFill>
                  <a:srgbClr val="215F9A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AE61236-01A5-7408-D2D8-43C87DFFC514}"/>
                    </a:ext>
                  </a:extLst>
                </p:cNvPr>
                <p:cNvSpPr txBox="1"/>
                <p:nvPr/>
              </p:nvSpPr>
              <p:spPr>
                <a:xfrm>
                  <a:off x="3352800" y="2512583"/>
                  <a:ext cx="6096000" cy="4664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dirty="0">
                      <a:solidFill>
                        <a:srgbClr val="002060"/>
                      </a:solidFill>
                    </a:rPr>
                    <a:t>Repeat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a14:m>
                  <a:r>
                    <a:rPr lang="en-US" dirty="0">
                      <a:solidFill>
                        <a:srgbClr val="002060"/>
                      </a:solidFill>
                    </a:rPr>
                    <a:t> times: </a:t>
                  </a: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AE61236-01A5-7408-D2D8-43C87DFFC5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2800" y="2512583"/>
                  <a:ext cx="6096000" cy="466474"/>
                </a:xfrm>
                <a:prstGeom prst="rect">
                  <a:avLst/>
                </a:prstGeom>
                <a:blipFill>
                  <a:blip r:embed="rId3"/>
                  <a:stretch>
                    <a:fillRect b="-207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" name="Graphic 16" descr="Badge with solid fill">
              <a:extLst>
                <a:ext uri="{FF2B5EF4-FFF2-40B4-BE49-F238E27FC236}">
                  <a16:creationId xmlns:a16="http://schemas.microsoft.com/office/drawing/2014/main" id="{013778D5-F047-4AC0-8A29-B7668A913D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955029" y="1598183"/>
              <a:ext cx="914400" cy="9144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9A68DE8-2465-B72B-1348-3752CADC5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1582400" cy="83121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Framework 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18E50373-33E0-C013-09BF-A65ED971242A}"/>
                  </a:ext>
                </a:extLst>
              </p:cNvPr>
              <p:cNvSpPr/>
              <p:nvPr/>
            </p:nvSpPr>
            <p:spPr>
              <a:xfrm>
                <a:off x="4544289" y="3284298"/>
                <a:ext cx="3735883" cy="508492"/>
              </a:xfrm>
              <a:prstGeom prst="roundRect">
                <a:avLst/>
              </a:prstGeom>
              <a:solidFill>
                <a:srgbClr val="ECF3F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>
                    <a:solidFill>
                      <a:srgbClr val="215F9A"/>
                    </a:solidFill>
                  </a:rPr>
                  <a:t>a.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>
                    <a:solidFill>
                      <a:srgbClr val="215F9A"/>
                    </a:solidFill>
                  </a:rPr>
                  <a:t> points sampled from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18E50373-33E0-C013-09BF-A65ED97124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289" y="3284298"/>
                <a:ext cx="3735883" cy="50849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AC789C22-9820-6E0C-FD26-C54AF0448516}"/>
                  </a:ext>
                </a:extLst>
              </p:cNvPr>
              <p:cNvSpPr/>
              <p:nvPr/>
            </p:nvSpPr>
            <p:spPr>
              <a:xfrm>
                <a:off x="4544288" y="3936798"/>
                <a:ext cx="3735883" cy="508492"/>
              </a:xfrm>
              <a:prstGeom prst="roundRect">
                <a:avLst/>
              </a:prstGeom>
              <a:solidFill>
                <a:srgbClr val="ECF3F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rgbClr val="215F9A"/>
                    </a:solidFill>
                  </a:rPr>
                  <a:t>b. 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dirty="0">
                    <a:solidFill>
                      <a:srgbClr val="215F9A"/>
                    </a:solidFill>
                  </a:rPr>
                  <a:t> local solution of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AC789C22-9820-6E0C-FD26-C54AF04485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288" y="3936798"/>
                <a:ext cx="3735883" cy="50849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2E698E75-0AC6-C0C9-FB97-FE2D94E7677B}"/>
                  </a:ext>
                </a:extLst>
              </p:cNvPr>
              <p:cNvSpPr/>
              <p:nvPr/>
            </p:nvSpPr>
            <p:spPr>
              <a:xfrm>
                <a:off x="4544288" y="4589298"/>
                <a:ext cx="3735883" cy="508492"/>
              </a:xfrm>
              <a:prstGeom prst="roundRect">
                <a:avLst/>
              </a:prstGeom>
              <a:solidFill>
                <a:srgbClr val="ECF3F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rgbClr val="215F9A"/>
                    </a:solidFill>
                  </a:rPr>
                  <a:t>c.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lit/>
                      </m:rP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lit/>
                      </m:rP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2E698E75-0AC6-C0C9-FB97-FE2D94E767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288" y="4589298"/>
                <a:ext cx="3735883" cy="508492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5E759850-13FF-DC98-D68D-CA057DEC0852}"/>
              </a:ext>
            </a:extLst>
          </p:cNvPr>
          <p:cNvGrpSpPr/>
          <p:nvPr/>
        </p:nvGrpSpPr>
        <p:grpSpPr>
          <a:xfrm>
            <a:off x="8673650" y="2349384"/>
            <a:ext cx="3086100" cy="2124535"/>
            <a:chOff x="8673650" y="2349384"/>
            <a:chExt cx="3086100" cy="21245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: Rounded Corners 5">
                  <a:extLst>
                    <a:ext uri="{FF2B5EF4-FFF2-40B4-BE49-F238E27FC236}">
                      <a16:creationId xmlns:a16="http://schemas.microsoft.com/office/drawing/2014/main" id="{0A638465-4A47-31D3-8D1F-A36299540649}"/>
                    </a:ext>
                  </a:extLst>
                </p:cNvPr>
                <p:cNvSpPr/>
                <p:nvPr/>
              </p:nvSpPr>
              <p:spPr>
                <a:xfrm>
                  <a:off x="8673650" y="2875086"/>
                  <a:ext cx="3086100" cy="1598833"/>
                </a:xfrm>
                <a:prstGeom prst="roundRect">
                  <a:avLst/>
                </a:prstGeom>
                <a:solidFill>
                  <a:srgbClr val="CDE0F3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dirty="0">
                      <a:solidFill>
                        <a:srgbClr val="002060"/>
                      </a:solidFill>
                    </a:rPr>
                    <a:t>Output the best from 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Rectangle: Rounded Corners 5">
                  <a:extLst>
                    <a:ext uri="{FF2B5EF4-FFF2-40B4-BE49-F238E27FC236}">
                      <a16:creationId xmlns:a16="http://schemas.microsoft.com/office/drawing/2014/main" id="{0A638465-4A47-31D3-8D1F-A362995406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3650" y="2875086"/>
                  <a:ext cx="3086100" cy="1598833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9" name="Graphic 18" descr="Badge 3 with solid fill">
              <a:extLst>
                <a:ext uri="{FF2B5EF4-FFF2-40B4-BE49-F238E27FC236}">
                  <a16:creationId xmlns:a16="http://schemas.microsoft.com/office/drawing/2014/main" id="{09177AF0-CD0E-50A4-66DD-2555D1961B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773173" y="2349384"/>
              <a:ext cx="914400" cy="91440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6462FA2-89F0-B527-7B17-DADDD246923C}"/>
              </a:ext>
            </a:extLst>
          </p:cNvPr>
          <p:cNvGrpSpPr/>
          <p:nvPr/>
        </p:nvGrpSpPr>
        <p:grpSpPr>
          <a:xfrm>
            <a:off x="475889" y="2349384"/>
            <a:ext cx="3593191" cy="2095906"/>
            <a:chOff x="475889" y="2349384"/>
            <a:chExt cx="3593191" cy="2095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382FC89B-75A3-1BFF-ACB8-075B7DB58545}"/>
                    </a:ext>
                  </a:extLst>
                </p:cNvPr>
                <p:cNvSpPr/>
                <p:nvPr/>
              </p:nvSpPr>
              <p:spPr>
                <a:xfrm>
                  <a:off x="475889" y="2846457"/>
                  <a:ext cx="3593191" cy="1598833"/>
                </a:xfrm>
                <a:prstGeom prst="roundRect">
                  <a:avLst/>
                </a:prstGeom>
                <a:solidFill>
                  <a:srgbClr val="ECF3FA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>
                      <a:solidFill>
                        <a:srgbClr val="002060"/>
                      </a:solidFill>
                    </a:rPr>
                    <a:t>points sampled from 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382FC89B-75A3-1BFF-ACB8-075B7DB585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889" y="2846457"/>
                  <a:ext cx="3593191" cy="1598833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1" name="Graphic 20" descr="Badge 1 with solid fill">
              <a:extLst>
                <a:ext uri="{FF2B5EF4-FFF2-40B4-BE49-F238E27FC236}">
                  <a16:creationId xmlns:a16="http://schemas.microsoft.com/office/drawing/2014/main" id="{73EB8315-2A5B-40B1-4307-4480350E57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815284" y="234938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4169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1A984"/>
                                      </p:to>
                                    </p:animClr>
                                    <p:set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3FFD7-79B8-6455-287E-13091D537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115" y="365125"/>
            <a:ext cx="11599885" cy="795367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Aggregating under Ulam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8F052B-1335-7638-3C21-999E68E9DA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9096" y="1483002"/>
                <a:ext cx="3506777" cy="46983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>
                    <a:solidFill>
                      <a:srgbClr val="002060"/>
                    </a:solidFill>
                  </a:rPr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lit/>
                      </m:rP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8F052B-1335-7638-3C21-999E68E9DA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9096" y="1483002"/>
                <a:ext cx="3506777" cy="469834"/>
              </a:xfrm>
              <a:blipFill>
                <a:blip r:embed="rId2"/>
                <a:stretch>
                  <a:fillRect l="-1913" t="-2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495584A5-2C8E-12B7-76E3-9F7B98BD54E9}"/>
              </a:ext>
            </a:extLst>
          </p:cNvPr>
          <p:cNvGrpSpPr/>
          <p:nvPr/>
        </p:nvGrpSpPr>
        <p:grpSpPr>
          <a:xfrm>
            <a:off x="1483655" y="2244405"/>
            <a:ext cx="2338471" cy="3207793"/>
            <a:chOff x="592115" y="2530178"/>
            <a:chExt cx="2338471" cy="320779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5E73B22-5954-C20C-CB98-97B8B2EEB2CF}"/>
                </a:ext>
              </a:extLst>
            </p:cNvPr>
            <p:cNvSpPr/>
            <p:nvPr/>
          </p:nvSpPr>
          <p:spPr>
            <a:xfrm>
              <a:off x="1061539" y="254110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66DB71-4AB4-BDE0-63D2-34399815394B}"/>
                </a:ext>
              </a:extLst>
            </p:cNvPr>
            <p:cNvSpPr/>
            <p:nvPr/>
          </p:nvSpPr>
          <p:spPr>
            <a:xfrm>
              <a:off x="1433606" y="254110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FCB27BC-9C78-6F24-5976-25B29A1DEE4B}"/>
                </a:ext>
              </a:extLst>
            </p:cNvPr>
            <p:cNvSpPr/>
            <p:nvPr/>
          </p:nvSpPr>
          <p:spPr>
            <a:xfrm>
              <a:off x="1805673" y="254110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CCAACFF-D9D4-23B7-C8A8-CECD1A6A9B62}"/>
                </a:ext>
              </a:extLst>
            </p:cNvPr>
            <p:cNvSpPr/>
            <p:nvPr/>
          </p:nvSpPr>
          <p:spPr>
            <a:xfrm>
              <a:off x="2177740" y="2542682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08D9B6B-A883-A9D1-C03F-3C906AE64DF0}"/>
                </a:ext>
              </a:extLst>
            </p:cNvPr>
            <p:cNvSpPr/>
            <p:nvPr/>
          </p:nvSpPr>
          <p:spPr>
            <a:xfrm>
              <a:off x="2549807" y="2542683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289F7E5-9EA7-FF52-3102-A6522B9A7487}"/>
                    </a:ext>
                  </a:extLst>
                </p:cNvPr>
                <p:cNvSpPr txBox="1"/>
                <p:nvPr/>
              </p:nvSpPr>
              <p:spPr>
                <a:xfrm>
                  <a:off x="592115" y="2530178"/>
                  <a:ext cx="469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289F7E5-9EA7-FF52-3102-A6522B9A74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15" y="2530178"/>
                  <a:ext cx="46942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5E1DDD2-643C-36CE-F841-A2371C7B12E9}"/>
                </a:ext>
              </a:extLst>
            </p:cNvPr>
            <p:cNvSpPr/>
            <p:nvPr/>
          </p:nvSpPr>
          <p:spPr>
            <a:xfrm>
              <a:off x="1061539" y="321708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EA3CFE5-5624-EBAE-1FD7-7BE52FE7AC4E}"/>
                </a:ext>
              </a:extLst>
            </p:cNvPr>
            <p:cNvSpPr/>
            <p:nvPr/>
          </p:nvSpPr>
          <p:spPr>
            <a:xfrm>
              <a:off x="1433606" y="321708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7BF99DD-1442-0002-4190-C491DF6A4365}"/>
                </a:ext>
              </a:extLst>
            </p:cNvPr>
            <p:cNvSpPr/>
            <p:nvPr/>
          </p:nvSpPr>
          <p:spPr>
            <a:xfrm>
              <a:off x="1805673" y="3217086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208DA8D-2367-DAC0-AF28-95B5390FD41A}"/>
                </a:ext>
              </a:extLst>
            </p:cNvPr>
            <p:cNvSpPr/>
            <p:nvPr/>
          </p:nvSpPr>
          <p:spPr>
            <a:xfrm>
              <a:off x="2177740" y="3218664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A7850E0-9B82-86AE-845D-C46BD274F158}"/>
                </a:ext>
              </a:extLst>
            </p:cNvPr>
            <p:cNvSpPr/>
            <p:nvPr/>
          </p:nvSpPr>
          <p:spPr>
            <a:xfrm>
              <a:off x="2549807" y="3218665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3B07774-6906-5118-F990-C87BE81A3473}"/>
                    </a:ext>
                  </a:extLst>
                </p:cNvPr>
                <p:cNvSpPr txBox="1"/>
                <p:nvPr/>
              </p:nvSpPr>
              <p:spPr>
                <a:xfrm>
                  <a:off x="592115" y="3206160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3B07774-6906-5118-F990-C87BE81A34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15" y="3206160"/>
                  <a:ext cx="47474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DECABF1-A068-D8F8-2423-39AA58BB2905}"/>
                </a:ext>
              </a:extLst>
            </p:cNvPr>
            <p:cNvSpPr/>
            <p:nvPr/>
          </p:nvSpPr>
          <p:spPr>
            <a:xfrm>
              <a:off x="1061539" y="3918192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98DF963-50E2-3B85-DEF4-BEF912054148}"/>
                </a:ext>
              </a:extLst>
            </p:cNvPr>
            <p:cNvSpPr/>
            <p:nvPr/>
          </p:nvSpPr>
          <p:spPr>
            <a:xfrm>
              <a:off x="1433606" y="3918192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6C71217-24EF-E825-9582-7C671BAE1B41}"/>
                </a:ext>
              </a:extLst>
            </p:cNvPr>
            <p:cNvSpPr/>
            <p:nvPr/>
          </p:nvSpPr>
          <p:spPr>
            <a:xfrm>
              <a:off x="1805673" y="3918193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525D4BF-D257-D813-51DA-69B37BCCFD2E}"/>
                </a:ext>
              </a:extLst>
            </p:cNvPr>
            <p:cNvSpPr/>
            <p:nvPr/>
          </p:nvSpPr>
          <p:spPr>
            <a:xfrm>
              <a:off x="2177740" y="3919771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A054B0A-CA22-69CD-3116-DDD948E33181}"/>
                </a:ext>
              </a:extLst>
            </p:cNvPr>
            <p:cNvSpPr/>
            <p:nvPr/>
          </p:nvSpPr>
          <p:spPr>
            <a:xfrm>
              <a:off x="2549807" y="3919772"/>
              <a:ext cx="372067" cy="397291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ED20D40-95EC-5052-2560-66F3E721F9FA}"/>
                    </a:ext>
                  </a:extLst>
                </p:cNvPr>
                <p:cNvSpPr txBox="1"/>
                <p:nvPr/>
              </p:nvSpPr>
              <p:spPr>
                <a:xfrm>
                  <a:off x="592115" y="3907267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ED20D40-95EC-5052-2560-66F3E721F9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115" y="3907267"/>
                  <a:ext cx="47474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D5BC7C-8A9F-2AC6-65E1-075250FFDFEA}"/>
                </a:ext>
              </a:extLst>
            </p:cNvPr>
            <p:cNvSpPr/>
            <p:nvPr/>
          </p:nvSpPr>
          <p:spPr>
            <a:xfrm>
              <a:off x="1070251" y="533910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BCA2ED3-BD5F-56BA-2E10-4487D0880655}"/>
                </a:ext>
              </a:extLst>
            </p:cNvPr>
            <p:cNvSpPr/>
            <p:nvPr/>
          </p:nvSpPr>
          <p:spPr>
            <a:xfrm>
              <a:off x="1442318" y="533910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5194CCC-28ED-06D2-EC24-3A7413E28A90}"/>
                </a:ext>
              </a:extLst>
            </p:cNvPr>
            <p:cNvSpPr/>
            <p:nvPr/>
          </p:nvSpPr>
          <p:spPr>
            <a:xfrm>
              <a:off x="1814385" y="533910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CEC100B-7440-B385-B6AA-4B08F02DD39B}"/>
                </a:ext>
              </a:extLst>
            </p:cNvPr>
            <p:cNvSpPr/>
            <p:nvPr/>
          </p:nvSpPr>
          <p:spPr>
            <a:xfrm>
              <a:off x="2186452" y="5340679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4AB693F-4630-C70C-ED3D-FE9AA55C19B6}"/>
                </a:ext>
              </a:extLst>
            </p:cNvPr>
            <p:cNvSpPr/>
            <p:nvPr/>
          </p:nvSpPr>
          <p:spPr>
            <a:xfrm>
              <a:off x="2558519" y="534068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C746144-0C6D-B871-5C0A-5EACC6788A23}"/>
                    </a:ext>
                  </a:extLst>
                </p:cNvPr>
                <p:cNvSpPr txBox="1"/>
                <p:nvPr/>
              </p:nvSpPr>
              <p:spPr>
                <a:xfrm>
                  <a:off x="600827" y="5328175"/>
                  <a:ext cx="4747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C746144-0C6D-B871-5C0A-5EACC6788A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827" y="5328175"/>
                  <a:ext cx="47474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1C14284-1555-17D7-8EE2-4E81DD889F6D}"/>
                </a:ext>
              </a:extLst>
            </p:cNvPr>
            <p:cNvSpPr/>
            <p:nvPr/>
          </p:nvSpPr>
          <p:spPr>
            <a:xfrm>
              <a:off x="1053772" y="461772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825ACCB-2AF1-A126-43E7-EDA57C233CEA}"/>
                </a:ext>
              </a:extLst>
            </p:cNvPr>
            <p:cNvSpPr/>
            <p:nvPr/>
          </p:nvSpPr>
          <p:spPr>
            <a:xfrm>
              <a:off x="1425839" y="461772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3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ED74CB7-8876-0FE6-54E4-5B11A05D713F}"/>
                </a:ext>
              </a:extLst>
            </p:cNvPr>
            <p:cNvSpPr/>
            <p:nvPr/>
          </p:nvSpPr>
          <p:spPr>
            <a:xfrm>
              <a:off x="1797906" y="4617722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9331FF4-663C-553C-2211-C7B88B17D118}"/>
                </a:ext>
              </a:extLst>
            </p:cNvPr>
            <p:cNvSpPr/>
            <p:nvPr/>
          </p:nvSpPr>
          <p:spPr>
            <a:xfrm>
              <a:off x="2169973" y="4619300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9A819BB-388F-3EEA-32E0-CD281707A561}"/>
                </a:ext>
              </a:extLst>
            </p:cNvPr>
            <p:cNvSpPr/>
            <p:nvPr/>
          </p:nvSpPr>
          <p:spPr>
            <a:xfrm>
              <a:off x="2542040" y="4619301"/>
              <a:ext cx="372067" cy="397291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4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83CCAFA-6F6B-5AFA-9709-A610DBE3D550}"/>
                    </a:ext>
                  </a:extLst>
                </p:cNvPr>
                <p:cNvSpPr txBox="1"/>
                <p:nvPr/>
              </p:nvSpPr>
              <p:spPr>
                <a:xfrm>
                  <a:off x="600827" y="4617721"/>
                  <a:ext cx="474745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83CCAFA-6F6B-5AFA-9709-A610DBE3D5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827" y="4617721"/>
                  <a:ext cx="47474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51ACD15-4AC2-7FC8-0748-62B714CB3D5C}"/>
              </a:ext>
            </a:extLst>
          </p:cNvPr>
          <p:cNvGrpSpPr/>
          <p:nvPr/>
        </p:nvGrpSpPr>
        <p:grpSpPr>
          <a:xfrm>
            <a:off x="5294326" y="3429000"/>
            <a:ext cx="2982836" cy="902948"/>
            <a:chOff x="4402786" y="3714773"/>
            <a:chExt cx="2982836" cy="90294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9F19648-1734-98B7-D60F-6DB777E4DD02}"/>
                </a:ext>
              </a:extLst>
            </p:cNvPr>
            <p:cNvSpPr/>
            <p:nvPr/>
          </p:nvSpPr>
          <p:spPr>
            <a:xfrm>
              <a:off x="5058049" y="3992506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?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6D12EDB-E50E-E5E7-2737-422F9CFB0C21}"/>
                </a:ext>
              </a:extLst>
            </p:cNvPr>
            <p:cNvSpPr/>
            <p:nvPr/>
          </p:nvSpPr>
          <p:spPr>
            <a:xfrm>
              <a:off x="5430116" y="3992506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?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A9ABE1B-8B94-B416-2071-EC0C3D51DB80}"/>
                </a:ext>
              </a:extLst>
            </p:cNvPr>
            <p:cNvSpPr/>
            <p:nvPr/>
          </p:nvSpPr>
          <p:spPr>
            <a:xfrm>
              <a:off x="5802183" y="3992507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?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E40AC62-791D-4028-7E79-A52BC7875428}"/>
                </a:ext>
              </a:extLst>
            </p:cNvPr>
            <p:cNvSpPr/>
            <p:nvPr/>
          </p:nvSpPr>
          <p:spPr>
            <a:xfrm>
              <a:off x="6174250" y="3994085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?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92E6F83-D1F8-2693-12AF-32A9C772F6DA}"/>
                </a:ext>
              </a:extLst>
            </p:cNvPr>
            <p:cNvSpPr/>
            <p:nvPr/>
          </p:nvSpPr>
          <p:spPr>
            <a:xfrm>
              <a:off x="6546317" y="3994086"/>
              <a:ext cx="372067" cy="39729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2060"/>
                  </a:solidFill>
                </a:rPr>
                <a:t>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10A9AC1-5E74-EFE5-5334-A376B54C4D25}"/>
                    </a:ext>
                  </a:extLst>
                </p:cNvPr>
                <p:cNvSpPr txBox="1"/>
                <p:nvPr/>
              </p:nvSpPr>
              <p:spPr>
                <a:xfrm>
                  <a:off x="4588625" y="3981581"/>
                  <a:ext cx="37234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10A9AC1-5E74-EFE5-5334-A376B54C4D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8625" y="3981581"/>
                  <a:ext cx="37234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26F23A0-6BBD-C9A3-9E75-4F2733EF3788}"/>
                </a:ext>
              </a:extLst>
            </p:cNvPr>
            <p:cNvSpPr/>
            <p:nvPr/>
          </p:nvSpPr>
          <p:spPr>
            <a:xfrm>
              <a:off x="4402786" y="3714773"/>
              <a:ext cx="2982836" cy="90294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2060"/>
                </a:solidFill>
              </a:endParaRPr>
            </a:p>
          </p:txBody>
        </p:sp>
      </p:grpSp>
      <p:sp>
        <p:nvSpPr>
          <p:cNvPr id="53" name="Left Brace 52">
            <a:extLst>
              <a:ext uri="{FF2B5EF4-FFF2-40B4-BE49-F238E27FC236}">
                <a16:creationId xmlns:a16="http://schemas.microsoft.com/office/drawing/2014/main" id="{7CAB68B0-B368-A398-4BBD-EECC70A7012A}"/>
              </a:ext>
            </a:extLst>
          </p:cNvPr>
          <p:cNvSpPr/>
          <p:nvPr/>
        </p:nvSpPr>
        <p:spPr>
          <a:xfrm rot="10800000">
            <a:off x="4112506" y="2144623"/>
            <a:ext cx="315305" cy="338643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C59A00D5-883A-1B9A-4C70-4CBAA9E05117}"/>
              </a:ext>
            </a:extLst>
          </p:cNvPr>
          <p:cNvSpPr/>
          <p:nvPr/>
        </p:nvSpPr>
        <p:spPr>
          <a:xfrm>
            <a:off x="4732445" y="3709187"/>
            <a:ext cx="357812" cy="21427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1786EB2-6D34-A995-3C4B-56EC88DA0B4B}"/>
                  </a:ext>
                </a:extLst>
              </p:cNvPr>
              <p:cNvSpPr txBox="1"/>
              <p:nvPr/>
            </p:nvSpPr>
            <p:spPr>
              <a:xfrm>
                <a:off x="8400083" y="3590819"/>
                <a:ext cx="1242426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US" sz="26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med</m:t>
                      </m:r>
                      <m:d>
                        <m:dPr>
                          <m:ctrlPr>
                            <a:rPr lang="en-US" sz="2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</m:oMath>
                  </m:oMathPara>
                </a14:m>
                <a:endParaRPr lang="en-US" sz="260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1786EB2-6D34-A995-3C4B-56EC88DA0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0083" y="3590819"/>
                <a:ext cx="1242426" cy="492443"/>
              </a:xfrm>
              <a:prstGeom prst="rect">
                <a:avLst/>
              </a:prstGeom>
              <a:blipFill>
                <a:blip r:embed="rId9"/>
                <a:stretch>
                  <a:fillRect r="-20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0834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8A9FB-9C33-3EB0-8359-32B793E2B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65125"/>
            <a:ext cx="11620500" cy="77787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Dynamic Programming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F2845606-2216-96B6-6FC8-DC6C14E25C85}"/>
                  </a:ext>
                </a:extLst>
              </p:cNvPr>
              <p:cNvSpPr/>
              <p:nvPr/>
            </p:nvSpPr>
            <p:spPr>
              <a:xfrm>
                <a:off x="1449527" y="1534232"/>
                <a:ext cx="9292951" cy="846675"/>
              </a:xfrm>
              <a:prstGeom prst="roundRect">
                <a:avLst/>
              </a:prstGeom>
              <a:solidFill>
                <a:srgbClr val="ECF3F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>
                    <a:solidFill>
                      <a:srgbClr val="215F9A"/>
                    </a:solidFill>
                    <a:latin typeface="Aptos (Body)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sz="2000" b="1" i="0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000" b="1" i="0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1" i="1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𝐚𝐫𝐠𝐦𝐢𝐧</m:t>
                        </m:r>
                      </m:e>
                      <m:sub>
                        <m:r>
                          <a:rPr lang="en-US" sz="2000" b="1" i="0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  <m:r>
                          <a:rPr lang="en-US" sz="2000" b="1" i="0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lit/>
                          </m:rPr>
                          <a:rPr lang="en-US" sz="2000" b="1" i="0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000" b="1" i="0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0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0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000" b="1" i="0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,…, </m:t>
                        </m:r>
                        <m:r>
                          <a:rPr lang="en-US" sz="2000" b="1" i="0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  <m:sSup>
                          <m:sSupPr>
                            <m:ctrlPr>
                              <a:rPr lang="en-US" sz="2000" b="1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lit/>
                              </m:rPr>
                              <a:rPr lang="en-US" sz="2000" b="1" i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  <m:sup>
                            <m:r>
                              <a:rPr lang="en-US" sz="2000" b="1" i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𝐧</m:t>
                            </m:r>
                          </m:sup>
                        </m:sSup>
                      </m:sub>
                    </m:sSub>
                    <m:nary>
                      <m:naryPr>
                        <m:chr m:val="∑"/>
                        <m:ctrlPr>
                          <a:rPr lang="en-US" sz="2000" b="1" i="1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b="1" i="0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𝐢</m:t>
                        </m:r>
                        <m:r>
                          <a:rPr lang="en-US" sz="2000" b="1" i="0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1" i="0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000" b="1" i="0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  <m:e>
                        <m:r>
                          <a:rPr lang="en-US" sz="2000" b="1" i="0">
                            <a:solidFill>
                              <a:srgbClr val="215F9A"/>
                            </a:solidFill>
                            <a:latin typeface="Cambria Math" panose="02040503050406030204" pitchFamily="18" charset="0"/>
                          </a:rPr>
                          <m:t>𝐝</m:t>
                        </m:r>
                        <m:d>
                          <m:dPr>
                            <m:ctrlPr>
                              <a:rPr lang="en-US" sz="2000" b="1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  <m:r>
                              <a:rPr lang="en-US" sz="2000" b="1" i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0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𝛑</m:t>
                                </m:r>
                              </m:e>
                              <m:sub>
                                <m:r>
                                  <a:rPr lang="en-US" sz="2000" b="1" i="0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𝐢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sz="2000" b="1" i="0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>
                    <a:solidFill>
                      <a:srgbClr val="215F9A"/>
                    </a:solidFill>
                    <a:latin typeface="Aptos (Body)"/>
                  </a:rPr>
                  <a:t>via </a:t>
                </a:r>
                <a:r>
                  <a:rPr lang="en-US" sz="2000" b="1" err="1">
                    <a:solidFill>
                      <a:srgbClr val="215F9A"/>
                    </a:solidFill>
                    <a:latin typeface="Aptos (Body)"/>
                  </a:rPr>
                  <a:t>dp</a:t>
                </a:r>
                <a:endParaRPr lang="en-US" sz="2000" b="1">
                  <a:solidFill>
                    <a:srgbClr val="215F9A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F2845606-2216-96B6-6FC8-DC6C14E25C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527" y="1534232"/>
                <a:ext cx="9292951" cy="84667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FC1B907-AF76-B7F4-BECA-CDB74D8AAE0A}"/>
              </a:ext>
            </a:extLst>
          </p:cNvPr>
          <p:cNvSpPr/>
          <p:nvPr/>
        </p:nvSpPr>
        <p:spPr>
          <a:xfrm>
            <a:off x="1449526" y="2651647"/>
            <a:ext cx="9292951" cy="846675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215F9A"/>
                </a:solidFill>
                <a:latin typeface="Aptos (Body)"/>
              </a:rPr>
              <a:t>Remove repeated symbols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E0AC6C9-F4D6-FA2B-105A-3CF86ACE2A18}"/>
              </a:ext>
            </a:extLst>
          </p:cNvPr>
          <p:cNvSpPr/>
          <p:nvPr/>
        </p:nvSpPr>
        <p:spPr>
          <a:xfrm>
            <a:off x="1449526" y="3783015"/>
            <a:ext cx="9292951" cy="274954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>
                <a:solidFill>
                  <a:srgbClr val="215F9A"/>
                </a:solidFill>
                <a:latin typeface="Aptos (Body)"/>
              </a:rPr>
              <a:t>Append the missing symbols arbitrarily at the end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F3AC9D-3F09-0B54-55AB-ABF60B3C4E79}"/>
              </a:ext>
            </a:extLst>
          </p:cNvPr>
          <p:cNvGrpSpPr/>
          <p:nvPr/>
        </p:nvGrpSpPr>
        <p:grpSpPr>
          <a:xfrm>
            <a:off x="3717250" y="4239405"/>
            <a:ext cx="5194220" cy="1059902"/>
            <a:chOff x="3717250" y="4239405"/>
            <a:chExt cx="5194220" cy="1059902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45968B0-0B57-9C07-11F2-F425DF9CD601}"/>
                </a:ext>
              </a:extLst>
            </p:cNvPr>
            <p:cNvSpPr/>
            <p:nvPr/>
          </p:nvSpPr>
          <p:spPr>
            <a:xfrm>
              <a:off x="3717250" y="4452632"/>
              <a:ext cx="4875938" cy="84667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i="1">
                  <a:solidFill>
                    <a:srgbClr val="215F9A"/>
                  </a:solidFill>
                </a:rPr>
                <a:t>Work in offline setting</a:t>
              </a:r>
              <a:endParaRPr lang="en-US" i="1">
                <a:solidFill>
                  <a:srgbClr val="215F9A"/>
                </a:solidFill>
                <a:latin typeface="Cambria Math" panose="02040503050406030204" pitchFamily="18" charset="0"/>
              </a:endParaRPr>
            </a:p>
          </p:txBody>
        </p:sp>
        <p:pic>
          <p:nvPicPr>
            <p:cNvPr id="9" name="Graphic 8" descr="Badge Tick1 with solid fill">
              <a:extLst>
                <a:ext uri="{FF2B5EF4-FFF2-40B4-BE49-F238E27FC236}">
                  <a16:creationId xmlns:a16="http://schemas.microsoft.com/office/drawing/2014/main" id="{55C6EED2-D758-3210-FD6B-9A776AFF73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74906" y="4239405"/>
              <a:ext cx="636564" cy="636564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D590E6-F73A-35D5-FAB6-3A2A8C30EA6C}"/>
              </a:ext>
            </a:extLst>
          </p:cNvPr>
          <p:cNvGrpSpPr/>
          <p:nvPr/>
        </p:nvGrpSpPr>
        <p:grpSpPr>
          <a:xfrm>
            <a:off x="3717250" y="5195839"/>
            <a:ext cx="5194220" cy="1136783"/>
            <a:chOff x="3717250" y="5195839"/>
            <a:chExt cx="5194220" cy="11367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BF669FEF-555C-64D6-8480-73E1D305075F}"/>
                    </a:ext>
                  </a:extLst>
                </p:cNvPr>
                <p:cNvSpPr/>
                <p:nvPr/>
              </p:nvSpPr>
              <p:spPr>
                <a:xfrm>
                  <a:off x="3717250" y="5485947"/>
                  <a:ext cx="4875938" cy="846675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i="1">
                      <a:solidFill>
                        <a:srgbClr val="215F9A"/>
                      </a:solidFill>
                    </a:rPr>
                    <a:t>Follows the MPC framework for ED requires 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215F9A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i="1">
                          <a:solidFill>
                            <a:srgbClr val="215F9A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215F9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215F9A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215F9A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en-US" i="1">
                      <a:solidFill>
                        <a:srgbClr val="215F9A"/>
                      </a:solidFill>
                    </a:rPr>
                    <a:t>space per machine</a:t>
                  </a:r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BF669FEF-555C-64D6-8480-73E1D30507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7250" y="5485947"/>
                  <a:ext cx="4875938" cy="846675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" name="Graphic 10" descr="Badge Cross with solid fill">
              <a:extLst>
                <a:ext uri="{FF2B5EF4-FFF2-40B4-BE49-F238E27FC236}">
                  <a16:creationId xmlns:a16="http://schemas.microsoft.com/office/drawing/2014/main" id="{0DFF0AA0-76A0-6B8C-42B7-D9A5F4F543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74906" y="5195839"/>
              <a:ext cx="636564" cy="6365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36319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F8D2B-769B-7B4E-7E72-ACB01334C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" y="365126"/>
            <a:ext cx="11666220" cy="754904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Cycle Removal Approach (CDK 21)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EA6D7-65AA-ED93-5BC7-FD3E895EE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827" y="1550389"/>
            <a:ext cx="10515600" cy="447712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Build a majority graph </a:t>
            </a:r>
          </a:p>
        </p:txBody>
      </p:sp>
      <p:sp>
        <p:nvSpPr>
          <p:cNvPr id="65" name="Left Brace 64">
            <a:extLst>
              <a:ext uri="{FF2B5EF4-FFF2-40B4-BE49-F238E27FC236}">
                <a16:creationId xmlns:a16="http://schemas.microsoft.com/office/drawing/2014/main" id="{9FD55CAE-F47C-65B1-F722-A5C76A4F7464}"/>
              </a:ext>
            </a:extLst>
          </p:cNvPr>
          <p:cNvSpPr/>
          <p:nvPr/>
        </p:nvSpPr>
        <p:spPr>
          <a:xfrm rot="10800000">
            <a:off x="4501126" y="2428460"/>
            <a:ext cx="315305" cy="338643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1E8F8421-8F6B-D526-5ED3-B81FCF42EDDC}"/>
              </a:ext>
            </a:extLst>
          </p:cNvPr>
          <p:cNvSpPr/>
          <p:nvPr/>
        </p:nvSpPr>
        <p:spPr>
          <a:xfrm>
            <a:off x="5121065" y="3993024"/>
            <a:ext cx="357812" cy="2142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87BA71F3-3D3C-7BFF-C99A-A3D1C99567EA}"/>
                  </a:ext>
                </a:extLst>
              </p:cNvPr>
              <p:cNvSpPr/>
              <p:nvPr/>
            </p:nvSpPr>
            <p:spPr>
              <a:xfrm>
                <a:off x="6582449" y="2837949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87BA71F3-3D3C-7BFF-C99A-A3D1C99567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449" y="2837949"/>
                <a:ext cx="491884" cy="42251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39129D42-7CD2-85C0-AEDB-81C6D3CBED67}"/>
                  </a:ext>
                </a:extLst>
              </p:cNvPr>
              <p:cNvSpPr/>
              <p:nvPr/>
            </p:nvSpPr>
            <p:spPr>
              <a:xfrm>
                <a:off x="7987369" y="5392378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39129D42-7CD2-85C0-AEDB-81C6D3CBED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7369" y="5392378"/>
                <a:ext cx="491884" cy="42251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FDBDD3E7-6568-399F-521B-19D92C89123A}"/>
                  </a:ext>
                </a:extLst>
              </p:cNvPr>
              <p:cNvSpPr/>
              <p:nvPr/>
            </p:nvSpPr>
            <p:spPr>
              <a:xfrm>
                <a:off x="5894618" y="4853855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FDBDD3E7-6568-399F-521B-19D92C891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4618" y="4853855"/>
                <a:ext cx="491884" cy="42251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5376ACBB-E59F-2FBC-3AF2-28E771F80E68}"/>
                  </a:ext>
                </a:extLst>
              </p:cNvPr>
              <p:cNvSpPr/>
              <p:nvPr/>
            </p:nvSpPr>
            <p:spPr>
              <a:xfrm>
                <a:off x="9689949" y="4562602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5376ACBB-E59F-2FBC-3AF2-28E771F80E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9949" y="4562602"/>
                <a:ext cx="491884" cy="42251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7E851C6-6A9C-3CE2-2B86-BA2B6356FD0B}"/>
                  </a:ext>
                </a:extLst>
              </p:cNvPr>
              <p:cNvSpPr/>
              <p:nvPr/>
            </p:nvSpPr>
            <p:spPr>
              <a:xfrm>
                <a:off x="8918443" y="2781709"/>
                <a:ext cx="491884" cy="47875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7E851C6-6A9C-3CE2-2B86-BA2B6356FD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443" y="2781709"/>
                <a:ext cx="491884" cy="478755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61C9506-1FE8-D144-164F-5DC790C1B4F9}"/>
              </a:ext>
            </a:extLst>
          </p:cNvPr>
          <p:cNvCxnSpPr>
            <a:cxnSpLocks/>
            <a:stCxn id="68" idx="6"/>
            <a:endCxn id="73" idx="2"/>
          </p:cNvCxnSpPr>
          <p:nvPr/>
        </p:nvCxnSpPr>
        <p:spPr>
          <a:xfrm flipV="1">
            <a:off x="7074333" y="3021087"/>
            <a:ext cx="1844110" cy="28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8A9A68C-0962-280B-77F3-DFD43E627DCF}"/>
                  </a:ext>
                </a:extLst>
              </p:cNvPr>
              <p:cNvSpPr txBox="1"/>
              <p:nvPr/>
            </p:nvSpPr>
            <p:spPr>
              <a:xfrm>
                <a:off x="1880987" y="4615785"/>
                <a:ext cx="47474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8A9A68C-0962-280B-77F3-DFD43E627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987" y="4615785"/>
                <a:ext cx="47474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Connector: Curved 82">
            <a:extLst>
              <a:ext uri="{FF2B5EF4-FFF2-40B4-BE49-F238E27FC236}">
                <a16:creationId xmlns:a16="http://schemas.microsoft.com/office/drawing/2014/main" id="{F0DE1121-77B3-AE35-CC92-F946E33A296D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77276" y="4058474"/>
            <a:ext cx="1579" cy="1116201"/>
          </a:xfrm>
          <a:prstGeom prst="curvedConnector3">
            <a:avLst>
              <a:gd name="adj1" fmla="val -14477517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C368D829-494A-371D-82BB-14CBE2FF9A5D}"/>
              </a:ext>
            </a:extLst>
          </p:cNvPr>
          <p:cNvCxnSpPr>
            <a:stCxn id="73" idx="4"/>
            <a:endCxn id="72" idx="0"/>
          </p:cNvCxnSpPr>
          <p:nvPr/>
        </p:nvCxnSpPr>
        <p:spPr>
          <a:xfrm>
            <a:off x="9164385" y="3260464"/>
            <a:ext cx="771506" cy="1302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AE1330-6574-773B-C1BF-043F09C0D064}"/>
                  </a:ext>
                </a:extLst>
              </p:cNvPr>
              <p:cNvSpPr txBox="1"/>
              <p:nvPr/>
            </p:nvSpPr>
            <p:spPr>
              <a:xfrm>
                <a:off x="1872275" y="2528242"/>
                <a:ext cx="469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AE1330-6574-773B-C1BF-043F09C0D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2275" y="2528242"/>
                <a:ext cx="46942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nector: Curved 81">
            <a:extLst>
              <a:ext uri="{FF2B5EF4-FFF2-40B4-BE49-F238E27FC236}">
                <a16:creationId xmlns:a16="http://schemas.microsoft.com/office/drawing/2014/main" id="{2AC8DF46-D178-BD43-3A46-878BD106615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13766" y="2353134"/>
            <a:ext cx="12700" cy="372067"/>
          </a:xfrm>
          <a:prstGeom prst="curvedConnector3">
            <a:avLst>
              <a:gd name="adj1" fmla="val 1800000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7" name="Connector: Curved 96">
            <a:extLst>
              <a:ext uri="{FF2B5EF4-FFF2-40B4-BE49-F238E27FC236}">
                <a16:creationId xmlns:a16="http://schemas.microsoft.com/office/drawing/2014/main" id="{64FCE8FC-1C27-9936-AEB4-37FA3069B74D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57110" y="1981857"/>
            <a:ext cx="1580" cy="1116201"/>
          </a:xfrm>
          <a:prstGeom prst="curvedConnector3">
            <a:avLst>
              <a:gd name="adj1" fmla="val -14468354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C478667-EF06-274A-C83A-745975FC1E9E}"/>
                  </a:ext>
                </a:extLst>
              </p:cNvPr>
              <p:cNvSpPr txBox="1"/>
              <p:nvPr/>
            </p:nvSpPr>
            <p:spPr>
              <a:xfrm>
                <a:off x="1872275" y="3204224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C478667-EF06-274A-C83A-745975FC1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2275" y="3204224"/>
                <a:ext cx="47474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Connector: Curved 99">
            <a:extLst>
              <a:ext uri="{FF2B5EF4-FFF2-40B4-BE49-F238E27FC236}">
                <a16:creationId xmlns:a16="http://schemas.microsoft.com/office/drawing/2014/main" id="{D37C342B-C753-9C9E-CAB1-8B45EAFA33D0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57110" y="2657839"/>
            <a:ext cx="1580" cy="1116201"/>
          </a:xfrm>
          <a:prstGeom prst="curvedConnector3">
            <a:avLst>
              <a:gd name="adj1" fmla="val -14468354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AF4768D-6188-303D-3FE6-9BED742A4096}"/>
                  </a:ext>
                </a:extLst>
              </p:cNvPr>
              <p:cNvSpPr txBox="1"/>
              <p:nvPr/>
            </p:nvSpPr>
            <p:spPr>
              <a:xfrm>
                <a:off x="1872275" y="3905331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AF4768D-6188-303D-3FE6-9BED742A4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2275" y="3905331"/>
                <a:ext cx="47474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Connector: Curved 102">
            <a:extLst>
              <a:ext uri="{FF2B5EF4-FFF2-40B4-BE49-F238E27FC236}">
                <a16:creationId xmlns:a16="http://schemas.microsoft.com/office/drawing/2014/main" id="{3CB22889-C106-F062-9F2F-16BD59A7F19D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71077" y="3172912"/>
            <a:ext cx="1580" cy="1488268"/>
          </a:xfrm>
          <a:prstGeom prst="curvedConnector3">
            <a:avLst>
              <a:gd name="adj1" fmla="val -14468354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1587A9A-8423-C45F-8D49-195704328BFF}"/>
                  </a:ext>
                </a:extLst>
              </p:cNvPr>
              <p:cNvSpPr txBox="1"/>
              <p:nvPr/>
            </p:nvSpPr>
            <p:spPr>
              <a:xfrm>
                <a:off x="1880987" y="5326239"/>
                <a:ext cx="474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1587A9A-8423-C45F-8D49-195704328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987" y="5326239"/>
                <a:ext cx="47474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Connector: Curved 87">
            <a:extLst>
              <a:ext uri="{FF2B5EF4-FFF2-40B4-BE49-F238E27FC236}">
                <a16:creationId xmlns:a16="http://schemas.microsoft.com/office/drawing/2014/main" id="{9E64BD76-0BEE-C362-2944-3D6B12B3434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22478" y="5151131"/>
            <a:ext cx="12700" cy="372067"/>
          </a:xfrm>
          <a:prstGeom prst="curvedConnector3">
            <a:avLst>
              <a:gd name="adj1" fmla="val 1800000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6" name="Connector: Curved 105">
            <a:extLst>
              <a:ext uri="{FF2B5EF4-FFF2-40B4-BE49-F238E27FC236}">
                <a16:creationId xmlns:a16="http://schemas.microsoft.com/office/drawing/2014/main" id="{49662EEC-BFDC-30E8-63EE-4F0ED67D8C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94544" y="5151131"/>
            <a:ext cx="1" cy="372067"/>
          </a:xfrm>
          <a:prstGeom prst="curvedConnector3">
            <a:avLst>
              <a:gd name="adj1" fmla="val -2286000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6CA6EA7-4441-9027-0C55-1E6136A26C71}"/>
              </a:ext>
            </a:extLst>
          </p:cNvPr>
          <p:cNvCxnSpPr>
            <a:cxnSpLocks/>
            <a:stCxn id="70" idx="7"/>
            <a:endCxn id="72" idx="4"/>
          </p:cNvCxnSpPr>
          <p:nvPr/>
        </p:nvCxnSpPr>
        <p:spPr>
          <a:xfrm flipV="1">
            <a:off x="8407218" y="4985117"/>
            <a:ext cx="1528673" cy="4691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E4E6DD7-9BF8-31CB-4089-760152731CBB}"/>
              </a:ext>
            </a:extLst>
          </p:cNvPr>
          <p:cNvCxnSpPr>
            <a:cxnSpLocks/>
            <a:stCxn id="71" idx="6"/>
            <a:endCxn id="70" idx="2"/>
          </p:cNvCxnSpPr>
          <p:nvPr/>
        </p:nvCxnSpPr>
        <p:spPr>
          <a:xfrm>
            <a:off x="6386502" y="5065113"/>
            <a:ext cx="1600867" cy="5385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AA6B2D4-53A4-B8F2-E259-AEC57C64F8EA}"/>
              </a:ext>
            </a:extLst>
          </p:cNvPr>
          <p:cNvCxnSpPr>
            <a:cxnSpLocks/>
            <a:stCxn id="68" idx="3"/>
            <a:endCxn id="71" idx="0"/>
          </p:cNvCxnSpPr>
          <p:nvPr/>
        </p:nvCxnSpPr>
        <p:spPr>
          <a:xfrm flipH="1">
            <a:off x="6140560" y="3198588"/>
            <a:ext cx="513924" cy="16552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20F15680-1E14-8711-6BAF-1E10C22C713A}"/>
              </a:ext>
            </a:extLst>
          </p:cNvPr>
          <p:cNvCxnSpPr>
            <a:cxnSpLocks/>
            <a:stCxn id="68" idx="5"/>
            <a:endCxn id="72" idx="1"/>
          </p:cNvCxnSpPr>
          <p:nvPr/>
        </p:nvCxnSpPr>
        <p:spPr>
          <a:xfrm>
            <a:off x="7002298" y="3198588"/>
            <a:ext cx="2759686" cy="14258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B6401EED-EAB7-0367-861A-BC7181560B28}"/>
              </a:ext>
            </a:extLst>
          </p:cNvPr>
          <p:cNvCxnSpPr>
            <a:cxnSpLocks/>
            <a:stCxn id="68" idx="4"/>
            <a:endCxn id="70" idx="1"/>
          </p:cNvCxnSpPr>
          <p:nvPr/>
        </p:nvCxnSpPr>
        <p:spPr>
          <a:xfrm>
            <a:off x="6828391" y="3260464"/>
            <a:ext cx="1231013" cy="21937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E93F94AC-2A6A-6A1F-40B2-E596F05E1BA0}"/>
              </a:ext>
            </a:extLst>
          </p:cNvPr>
          <p:cNvCxnSpPr>
            <a:cxnSpLocks/>
            <a:stCxn id="73" idx="3"/>
            <a:endCxn id="70" idx="0"/>
          </p:cNvCxnSpPr>
          <p:nvPr/>
        </p:nvCxnSpPr>
        <p:spPr>
          <a:xfrm flipH="1">
            <a:off x="8233311" y="3190352"/>
            <a:ext cx="757167" cy="22020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418EFA76-F045-EBA3-075E-26428D359588}"/>
              </a:ext>
            </a:extLst>
          </p:cNvPr>
          <p:cNvCxnSpPr>
            <a:cxnSpLocks/>
            <a:stCxn id="73" idx="3"/>
            <a:endCxn id="71" idx="7"/>
          </p:cNvCxnSpPr>
          <p:nvPr/>
        </p:nvCxnSpPr>
        <p:spPr>
          <a:xfrm flipH="1">
            <a:off x="6314467" y="3190352"/>
            <a:ext cx="2676011" cy="17253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AB27DD25-ACE8-EFD7-E570-045E9F67D069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6402694" y="4773860"/>
            <a:ext cx="3287255" cy="2912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7" name="Table 186">
            <a:extLst>
              <a:ext uri="{FF2B5EF4-FFF2-40B4-BE49-F238E27FC236}">
                <a16:creationId xmlns:a16="http://schemas.microsoft.com/office/drawing/2014/main" id="{0B8FDD26-BD04-94D1-0BAB-0397E695E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000216"/>
              </p:ext>
            </p:extLst>
          </p:nvPr>
        </p:nvGraphicFramePr>
        <p:xfrm>
          <a:off x="2350411" y="2560493"/>
          <a:ext cx="18768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363">
                  <a:extLst>
                    <a:ext uri="{9D8B030D-6E8A-4147-A177-3AD203B41FA5}">
                      <a16:colId xmlns:a16="http://schemas.microsoft.com/office/drawing/2014/main" val="849757756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609028216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1359536440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4221498527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2558035759"/>
                    </a:ext>
                  </a:extLst>
                </a:gridCol>
              </a:tblGrid>
              <a:tr h="34278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227853"/>
                  </a:ext>
                </a:extLst>
              </a:tr>
            </a:tbl>
          </a:graphicData>
        </a:graphic>
      </p:graphicFrame>
      <p:graphicFrame>
        <p:nvGraphicFramePr>
          <p:cNvPr id="189" name="Table 188">
            <a:extLst>
              <a:ext uri="{FF2B5EF4-FFF2-40B4-BE49-F238E27FC236}">
                <a16:creationId xmlns:a16="http://schemas.microsoft.com/office/drawing/2014/main" id="{7325D116-1D14-2A49-3A82-42B3FD59E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9845"/>
              </p:ext>
            </p:extLst>
          </p:nvPr>
        </p:nvGraphicFramePr>
        <p:xfrm>
          <a:off x="2333931" y="3224113"/>
          <a:ext cx="18768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363">
                  <a:extLst>
                    <a:ext uri="{9D8B030D-6E8A-4147-A177-3AD203B41FA5}">
                      <a16:colId xmlns:a16="http://schemas.microsoft.com/office/drawing/2014/main" val="849757756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609028216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1359536440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4221498527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2558035759"/>
                    </a:ext>
                  </a:extLst>
                </a:gridCol>
              </a:tblGrid>
              <a:tr h="34278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227853"/>
                  </a:ext>
                </a:extLst>
              </a:tr>
            </a:tbl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4275AA77-0BAE-6A68-B8AA-74CC6952C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745828"/>
              </p:ext>
            </p:extLst>
          </p:nvPr>
        </p:nvGraphicFramePr>
        <p:xfrm>
          <a:off x="2317452" y="3920067"/>
          <a:ext cx="18768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363">
                  <a:extLst>
                    <a:ext uri="{9D8B030D-6E8A-4147-A177-3AD203B41FA5}">
                      <a16:colId xmlns:a16="http://schemas.microsoft.com/office/drawing/2014/main" val="849757756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609028216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1359536440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4221498527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2558035759"/>
                    </a:ext>
                  </a:extLst>
                </a:gridCol>
              </a:tblGrid>
              <a:tr h="34278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227853"/>
                  </a:ext>
                </a:extLst>
              </a:tr>
            </a:tbl>
          </a:graphicData>
        </a:graphic>
      </p:graphicFrame>
      <p:graphicFrame>
        <p:nvGraphicFramePr>
          <p:cNvPr id="193" name="Table 192">
            <a:extLst>
              <a:ext uri="{FF2B5EF4-FFF2-40B4-BE49-F238E27FC236}">
                <a16:creationId xmlns:a16="http://schemas.microsoft.com/office/drawing/2014/main" id="{484CAF47-A89F-2961-B853-54796C2FE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699081"/>
              </p:ext>
            </p:extLst>
          </p:nvPr>
        </p:nvGraphicFramePr>
        <p:xfrm>
          <a:off x="2317452" y="4623952"/>
          <a:ext cx="18768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363">
                  <a:extLst>
                    <a:ext uri="{9D8B030D-6E8A-4147-A177-3AD203B41FA5}">
                      <a16:colId xmlns:a16="http://schemas.microsoft.com/office/drawing/2014/main" val="849757756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609028216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1359536440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4221498527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2558035759"/>
                    </a:ext>
                  </a:extLst>
                </a:gridCol>
              </a:tblGrid>
              <a:tr h="34278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227853"/>
                  </a:ext>
                </a:extLst>
              </a:tr>
            </a:tbl>
          </a:graphicData>
        </a:graphic>
      </p:graphicFrame>
      <p:graphicFrame>
        <p:nvGraphicFramePr>
          <p:cNvPr id="195" name="Table 194">
            <a:extLst>
              <a:ext uri="{FF2B5EF4-FFF2-40B4-BE49-F238E27FC236}">
                <a16:creationId xmlns:a16="http://schemas.microsoft.com/office/drawing/2014/main" id="{A56EB7E9-76BC-FA7A-434D-DC17CDF76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806799"/>
              </p:ext>
            </p:extLst>
          </p:nvPr>
        </p:nvGraphicFramePr>
        <p:xfrm>
          <a:off x="2317452" y="5349865"/>
          <a:ext cx="18768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363">
                  <a:extLst>
                    <a:ext uri="{9D8B030D-6E8A-4147-A177-3AD203B41FA5}">
                      <a16:colId xmlns:a16="http://schemas.microsoft.com/office/drawing/2014/main" val="849757756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609028216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1359536440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4221498527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2558035759"/>
                    </a:ext>
                  </a:extLst>
                </a:gridCol>
              </a:tblGrid>
              <a:tr h="342784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215F9A"/>
                          </a:solidFill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227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86909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5" grpId="0" animBg="1"/>
      <p:bldP spid="67" grpId="0" animBg="1"/>
      <p:bldP spid="68" grpId="0" animBg="1"/>
      <p:bldP spid="70" grpId="0" animBg="1"/>
      <p:bldP spid="71" grpId="0" animBg="1"/>
      <p:bldP spid="72" grpId="0" animBg="1"/>
      <p:bldP spid="73" grpId="0" animBg="1"/>
      <p:bldP spid="63" grpId="0"/>
      <p:bldP spid="15" grpId="0"/>
      <p:bldP spid="27" grpId="0"/>
      <p:bldP spid="39" grpId="0"/>
      <p:bldP spid="5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BE8E6C-3A00-7202-FBD7-123C3AF5A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B0448-C8EE-7E38-850D-A2CD07B81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" y="365125"/>
            <a:ext cx="11574780" cy="86156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Cycle Removal Approach (CDK 21)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BA1EC77A-29AD-AF15-8115-7057EA63CC60}"/>
                  </a:ext>
                </a:extLst>
              </p:cNvPr>
              <p:cNvSpPr/>
              <p:nvPr/>
            </p:nvSpPr>
            <p:spPr>
              <a:xfrm>
                <a:off x="7559911" y="1830891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BA1EC77A-29AD-AF15-8115-7057EA63CC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911" y="1830891"/>
                <a:ext cx="491884" cy="42251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10C7B62-B91B-32D9-CE97-9DAC8232C8C6}"/>
                  </a:ext>
                </a:extLst>
              </p:cNvPr>
              <p:cNvSpPr/>
              <p:nvPr/>
            </p:nvSpPr>
            <p:spPr>
              <a:xfrm>
                <a:off x="8964831" y="4385320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10C7B62-B91B-32D9-CE97-9DAC8232C8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4831" y="4385320"/>
                <a:ext cx="491884" cy="42251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31F8E7C4-3BDA-5F92-325D-336749B47A78}"/>
                  </a:ext>
                </a:extLst>
              </p:cNvPr>
              <p:cNvSpPr/>
              <p:nvPr/>
            </p:nvSpPr>
            <p:spPr>
              <a:xfrm>
                <a:off x="6872080" y="3846797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31F8E7C4-3BDA-5F92-325D-336749B47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2080" y="3846797"/>
                <a:ext cx="491884" cy="42251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4D780065-5A5B-82C1-C01A-5D7E55C4ECCB}"/>
                  </a:ext>
                </a:extLst>
              </p:cNvPr>
              <p:cNvSpPr/>
              <p:nvPr/>
            </p:nvSpPr>
            <p:spPr>
              <a:xfrm>
                <a:off x="10667411" y="3555544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4D780065-5A5B-82C1-C01A-5D7E55C4EC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7411" y="3555544"/>
                <a:ext cx="491884" cy="42251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16935F0-17C5-EE72-ACD4-5B4B598A90FE}"/>
                  </a:ext>
                </a:extLst>
              </p:cNvPr>
              <p:cNvSpPr/>
              <p:nvPr/>
            </p:nvSpPr>
            <p:spPr>
              <a:xfrm>
                <a:off x="9895905" y="1774651"/>
                <a:ext cx="491884" cy="47875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16935F0-17C5-EE72-ACD4-5B4B598A90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5905" y="1774651"/>
                <a:ext cx="491884" cy="478755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6B43CE9-8C26-C601-A1EC-E8A14A3615FB}"/>
              </a:ext>
            </a:extLst>
          </p:cNvPr>
          <p:cNvCxnSpPr>
            <a:cxnSpLocks/>
            <a:stCxn id="68" idx="6"/>
            <a:endCxn id="73" idx="2"/>
          </p:cNvCxnSpPr>
          <p:nvPr/>
        </p:nvCxnSpPr>
        <p:spPr>
          <a:xfrm flipV="1">
            <a:off x="8051795" y="2014029"/>
            <a:ext cx="1844110" cy="28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5946FEF-8100-27AA-AB2E-9E3BF3A062D3}"/>
              </a:ext>
            </a:extLst>
          </p:cNvPr>
          <p:cNvCxnSpPr>
            <a:stCxn id="73" idx="4"/>
            <a:endCxn id="72" idx="0"/>
          </p:cNvCxnSpPr>
          <p:nvPr/>
        </p:nvCxnSpPr>
        <p:spPr>
          <a:xfrm>
            <a:off x="10141847" y="2253406"/>
            <a:ext cx="771506" cy="1302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1681E3B2-8224-BD02-0219-1D2814CCD6E2}"/>
              </a:ext>
            </a:extLst>
          </p:cNvPr>
          <p:cNvCxnSpPr>
            <a:cxnSpLocks/>
            <a:stCxn id="70" idx="7"/>
            <a:endCxn id="72" idx="4"/>
          </p:cNvCxnSpPr>
          <p:nvPr/>
        </p:nvCxnSpPr>
        <p:spPr>
          <a:xfrm flipV="1">
            <a:off x="9384680" y="3978059"/>
            <a:ext cx="1528673" cy="4691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5098539-6B6D-B4D7-3D71-CB30BC9B908C}"/>
              </a:ext>
            </a:extLst>
          </p:cNvPr>
          <p:cNvCxnSpPr>
            <a:cxnSpLocks/>
            <a:stCxn id="71" idx="6"/>
            <a:endCxn id="70" idx="2"/>
          </p:cNvCxnSpPr>
          <p:nvPr/>
        </p:nvCxnSpPr>
        <p:spPr>
          <a:xfrm>
            <a:off x="7363964" y="4058055"/>
            <a:ext cx="1600867" cy="5385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BECC2B82-8FE7-A1AB-9990-6D12ED4B20DB}"/>
              </a:ext>
            </a:extLst>
          </p:cNvPr>
          <p:cNvCxnSpPr>
            <a:cxnSpLocks/>
            <a:stCxn id="68" idx="3"/>
            <a:endCxn id="71" idx="0"/>
          </p:cNvCxnSpPr>
          <p:nvPr/>
        </p:nvCxnSpPr>
        <p:spPr>
          <a:xfrm flipH="1">
            <a:off x="7118022" y="2191530"/>
            <a:ext cx="513924" cy="16552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8D42CD3D-80AA-34C6-0E65-A5C75A0B4AF7}"/>
              </a:ext>
            </a:extLst>
          </p:cNvPr>
          <p:cNvCxnSpPr>
            <a:cxnSpLocks/>
            <a:stCxn id="68" idx="5"/>
            <a:endCxn id="72" idx="1"/>
          </p:cNvCxnSpPr>
          <p:nvPr/>
        </p:nvCxnSpPr>
        <p:spPr>
          <a:xfrm>
            <a:off x="7979760" y="2191530"/>
            <a:ext cx="2759686" cy="14258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CD8FA478-BCF8-83DA-ABDD-B83ED2E2CD97}"/>
              </a:ext>
            </a:extLst>
          </p:cNvPr>
          <p:cNvCxnSpPr>
            <a:cxnSpLocks/>
            <a:stCxn id="68" idx="4"/>
            <a:endCxn id="70" idx="1"/>
          </p:cNvCxnSpPr>
          <p:nvPr/>
        </p:nvCxnSpPr>
        <p:spPr>
          <a:xfrm>
            <a:off x="7805853" y="2253406"/>
            <a:ext cx="1231013" cy="21937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3C065735-340F-7F3B-D189-FC8A764E3E8A}"/>
              </a:ext>
            </a:extLst>
          </p:cNvPr>
          <p:cNvCxnSpPr>
            <a:cxnSpLocks/>
            <a:stCxn id="73" idx="3"/>
            <a:endCxn id="70" idx="0"/>
          </p:cNvCxnSpPr>
          <p:nvPr/>
        </p:nvCxnSpPr>
        <p:spPr>
          <a:xfrm flipH="1">
            <a:off x="9210773" y="2183294"/>
            <a:ext cx="757167" cy="22020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BAE07F92-7338-5FED-6E73-A401A142F920}"/>
              </a:ext>
            </a:extLst>
          </p:cNvPr>
          <p:cNvCxnSpPr>
            <a:cxnSpLocks/>
            <a:stCxn id="73" idx="3"/>
            <a:endCxn id="71" idx="7"/>
          </p:cNvCxnSpPr>
          <p:nvPr/>
        </p:nvCxnSpPr>
        <p:spPr>
          <a:xfrm flipH="1">
            <a:off x="7291929" y="2183294"/>
            <a:ext cx="2676011" cy="17253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D1A031A0-E1DE-24EE-64A1-46E2EAB605B9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7380156" y="3766802"/>
            <a:ext cx="3287255" cy="2912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7108B2A8-EB6A-F1F1-193D-497170813E3D}"/>
              </a:ext>
            </a:extLst>
          </p:cNvPr>
          <p:cNvSpPr/>
          <p:nvPr/>
        </p:nvSpPr>
        <p:spPr>
          <a:xfrm>
            <a:off x="6514312" y="2963917"/>
            <a:ext cx="5227845" cy="227023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306B8A-5334-1152-5B2D-D761B67A490D}"/>
              </a:ext>
            </a:extLst>
          </p:cNvPr>
          <p:cNvCxnSpPr>
            <a:cxnSpLocks/>
            <a:stCxn id="72" idx="2"/>
            <a:endCxn id="71" idx="6"/>
          </p:cNvCxnSpPr>
          <p:nvPr/>
        </p:nvCxnSpPr>
        <p:spPr>
          <a:xfrm flipH="1">
            <a:off x="7363964" y="3766802"/>
            <a:ext cx="3303447" cy="291253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E5FE6C-2B89-9DE9-BCF7-56F7DFD4E15B}"/>
              </a:ext>
            </a:extLst>
          </p:cNvPr>
          <p:cNvCxnSpPr>
            <a:cxnSpLocks/>
            <a:stCxn id="71" idx="6"/>
            <a:endCxn id="70" idx="2"/>
          </p:cNvCxnSpPr>
          <p:nvPr/>
        </p:nvCxnSpPr>
        <p:spPr>
          <a:xfrm>
            <a:off x="7363964" y="4058055"/>
            <a:ext cx="1600867" cy="538523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ADB004-8928-3890-1F4A-59103FB7848B}"/>
              </a:ext>
            </a:extLst>
          </p:cNvPr>
          <p:cNvCxnSpPr>
            <a:cxnSpLocks/>
            <a:stCxn id="70" idx="7"/>
            <a:endCxn id="72" idx="4"/>
          </p:cNvCxnSpPr>
          <p:nvPr/>
        </p:nvCxnSpPr>
        <p:spPr>
          <a:xfrm flipV="1">
            <a:off x="9384680" y="3978059"/>
            <a:ext cx="1528673" cy="469137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179F3E-BF24-59B8-EEE1-A0A929A15D02}"/>
              </a:ext>
            </a:extLst>
          </p:cNvPr>
          <p:cNvSpPr/>
          <p:nvPr/>
        </p:nvSpPr>
        <p:spPr>
          <a:xfrm>
            <a:off x="677961" y="1887896"/>
            <a:ext cx="4610029" cy="73102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215F9A"/>
                </a:solidFill>
                <a:latin typeface="Aptos (Body)"/>
              </a:rPr>
              <a:t>Build a majority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E48DC232-5715-9D6B-E37A-C766BEF6EFD4}"/>
                  </a:ext>
                </a:extLst>
              </p:cNvPr>
              <p:cNvSpPr/>
              <p:nvPr/>
            </p:nvSpPr>
            <p:spPr>
              <a:xfrm>
                <a:off x="677961" y="2824524"/>
                <a:ext cx="4610029" cy="731020"/>
              </a:xfrm>
              <a:prstGeom prst="roundRect">
                <a:avLst/>
              </a:prstGeom>
              <a:solidFill>
                <a:srgbClr val="ECF3F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rgbClr val="215F9A"/>
                    </a:solidFill>
                    <a:latin typeface="Aptos (Body)"/>
                  </a:rPr>
                  <a:t>While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000" dirty="0">
                    <a:solidFill>
                      <a:srgbClr val="215F9A"/>
                    </a:solidFill>
                    <a:latin typeface="Aptos (Body)"/>
                  </a:rPr>
                  <a:t>a cycle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215F9A"/>
                    </a:solidFill>
                    <a:latin typeface="Aptos (Body)"/>
                  </a:rPr>
                  <a:t>(a triangle)</a:t>
                </a:r>
              </a:p>
              <a:p>
                <a:pPr algn="ctr"/>
                <a:r>
                  <a:rPr lang="en-US" sz="2000" dirty="0">
                    <a:solidFill>
                      <a:srgbClr val="215F9A"/>
                    </a:solidFill>
                    <a:latin typeface="Aptos (Body)"/>
                  </a:rPr>
                  <a:t>        </a:t>
                </a:r>
                <a:r>
                  <a:rPr lang="en-US" sz="2000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Aptos (Body)"/>
                  </a:rPr>
                  <a:t>Remove C</a:t>
                </a:r>
              </a:p>
            </p:txBody>
          </p:sp>
        </mc:Choice>
        <mc:Fallback xmlns=""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E48DC232-5715-9D6B-E37A-C766BEF6EF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961" y="2824524"/>
                <a:ext cx="4610029" cy="73102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162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6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48">
              <a:srgbClr val="EEEEEE"/>
            </a:gs>
            <a:gs pos="24000">
              <a:schemeClr val="bg1">
                <a:alpha val="98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05A1B9-C849-E806-D7F0-6CD2B767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80DEF16-E987-00B2-A1B1-D1FF995B74D5}"/>
              </a:ext>
            </a:extLst>
          </p:cNvPr>
          <p:cNvSpPr/>
          <p:nvPr/>
        </p:nvSpPr>
        <p:spPr>
          <a:xfrm>
            <a:off x="6391099" y="1981438"/>
            <a:ext cx="5144906" cy="355938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rgbClr val="215F9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E50A5-F8AC-F081-01A6-0B8348626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65126"/>
            <a:ext cx="11620500" cy="841070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Cycle Removal Approach (CDK 21)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A98B414C-3F83-0D2B-B907-597AF08967AB}"/>
                  </a:ext>
                </a:extLst>
              </p:cNvPr>
              <p:cNvSpPr/>
              <p:nvPr/>
            </p:nvSpPr>
            <p:spPr>
              <a:xfrm>
                <a:off x="7681831" y="2128071"/>
                <a:ext cx="491884" cy="42251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A98B414C-3F83-0D2B-B907-597AF08967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831" y="2128071"/>
                <a:ext cx="491884" cy="42251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52474D3-AAF3-9BF8-9CAE-8C9A77C80D9C}"/>
                  </a:ext>
                </a:extLst>
              </p:cNvPr>
              <p:cNvSpPr/>
              <p:nvPr/>
            </p:nvSpPr>
            <p:spPr>
              <a:xfrm>
                <a:off x="10017825" y="2071831"/>
                <a:ext cx="491884" cy="47875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52474D3-AAF3-9BF8-9CAE-8C9A77C80D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7825" y="2071831"/>
                <a:ext cx="491884" cy="47875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4062635-89BD-3B6C-DDDF-B6044B48DE5A}"/>
              </a:ext>
            </a:extLst>
          </p:cNvPr>
          <p:cNvCxnSpPr>
            <a:cxnSpLocks/>
            <a:stCxn id="68" idx="6"/>
            <a:endCxn id="73" idx="2"/>
          </p:cNvCxnSpPr>
          <p:nvPr/>
        </p:nvCxnSpPr>
        <p:spPr>
          <a:xfrm flipV="1">
            <a:off x="8173715" y="2311209"/>
            <a:ext cx="1844110" cy="28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rrow: Down 4">
            <a:extLst>
              <a:ext uri="{FF2B5EF4-FFF2-40B4-BE49-F238E27FC236}">
                <a16:creationId xmlns:a16="http://schemas.microsoft.com/office/drawing/2014/main" id="{A0A70845-D9C1-6B55-468B-0E170B438810}"/>
              </a:ext>
            </a:extLst>
          </p:cNvPr>
          <p:cNvSpPr/>
          <p:nvPr/>
        </p:nvSpPr>
        <p:spPr>
          <a:xfrm>
            <a:off x="8941268" y="2550586"/>
            <a:ext cx="309004" cy="835954"/>
          </a:xfrm>
          <a:prstGeom prst="downArrow">
            <a:avLst/>
          </a:prstGeom>
          <a:gradFill>
            <a:gsLst>
              <a:gs pos="0">
                <a:schemeClr val="bg1">
                  <a:alpha val="98000"/>
                </a:schemeClr>
              </a:gs>
              <a:gs pos="38000">
                <a:srgbClr val="B6CBDE"/>
              </a:gs>
              <a:gs pos="100000">
                <a:srgbClr val="215F9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003004-C107-83DD-9CD1-6F41D3CD8856}"/>
              </a:ext>
            </a:extLst>
          </p:cNvPr>
          <p:cNvSpPr txBox="1"/>
          <p:nvPr/>
        </p:nvSpPr>
        <p:spPr>
          <a:xfrm>
            <a:off x="8871754" y="353994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215F9A"/>
                </a:solidFill>
              </a:rPr>
              <a:t>12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4A07A9A-C4D8-1460-43C5-CD178D1245ED}"/>
              </a:ext>
            </a:extLst>
          </p:cNvPr>
          <p:cNvSpPr/>
          <p:nvPr/>
        </p:nvSpPr>
        <p:spPr>
          <a:xfrm>
            <a:off x="8956586" y="3940040"/>
            <a:ext cx="309004" cy="869757"/>
          </a:xfrm>
          <a:prstGeom prst="downArrow">
            <a:avLst/>
          </a:prstGeom>
          <a:gradFill>
            <a:gsLst>
              <a:gs pos="0">
                <a:schemeClr val="bg1">
                  <a:alpha val="98000"/>
                </a:schemeClr>
              </a:gs>
              <a:gs pos="38000">
                <a:srgbClr val="B6CBDE"/>
              </a:gs>
              <a:gs pos="100000">
                <a:srgbClr val="215F9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ED1644-A33C-64FD-E7FB-A84925D83E24}"/>
              </a:ext>
            </a:extLst>
          </p:cNvPr>
          <p:cNvSpPr txBox="1"/>
          <p:nvPr/>
        </p:nvSpPr>
        <p:spPr>
          <a:xfrm>
            <a:off x="8683481" y="4928366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215F9A"/>
                </a:solidFill>
              </a:rPr>
              <a:t>12345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5887CD4-44E8-BDF6-AEA5-5651294CAAEA}"/>
              </a:ext>
            </a:extLst>
          </p:cNvPr>
          <p:cNvSpPr/>
          <p:nvPr/>
        </p:nvSpPr>
        <p:spPr>
          <a:xfrm>
            <a:off x="874895" y="2042224"/>
            <a:ext cx="5144906" cy="73102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215F9A"/>
                </a:solidFill>
              </a:rPr>
              <a:t>Build a majority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71063D35-012C-4BD9-B6B3-308442133BBB}"/>
                  </a:ext>
                </a:extLst>
              </p:cNvPr>
              <p:cNvSpPr/>
              <p:nvPr/>
            </p:nvSpPr>
            <p:spPr>
              <a:xfrm>
                <a:off x="874895" y="2914515"/>
                <a:ext cx="5144906" cy="892310"/>
              </a:xfrm>
              <a:prstGeom prst="roundRect">
                <a:avLst/>
              </a:prstGeom>
              <a:solidFill>
                <a:srgbClr val="ECF3F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000">
                    <a:solidFill>
                      <a:srgbClr val="215F9A"/>
                    </a:solidFill>
                  </a:rPr>
                  <a:t>While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000">
                    <a:solidFill>
                      <a:srgbClr val="215F9A"/>
                    </a:solidFill>
                  </a:rPr>
                  <a:t>a cycle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>
                    <a:solidFill>
                      <a:srgbClr val="215F9A"/>
                    </a:solidFill>
                  </a:rPr>
                  <a:t>(a triangle)</a:t>
                </a:r>
              </a:p>
            </p:txBody>
          </p:sp>
        </mc:Choice>
        <mc:Fallback xmlns=""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71063D35-012C-4BD9-B6B3-308442133B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895" y="2914515"/>
                <a:ext cx="5144906" cy="89231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EB1CC3-C02F-F973-9C83-6E88128ABC2E}"/>
                  </a:ext>
                </a:extLst>
              </p:cNvPr>
              <p:cNvSpPr txBox="1"/>
              <p:nvPr/>
            </p:nvSpPr>
            <p:spPr>
              <a:xfrm>
                <a:off x="2247900" y="3326070"/>
                <a:ext cx="1905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2000">
                    <a:solidFill>
                      <a:srgbClr val="215F9A"/>
                    </a:solidFill>
                  </a:rPr>
                  <a:t>Remove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2000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EB1CC3-C02F-F973-9C83-6E88128AB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900" y="3326070"/>
                <a:ext cx="1905000" cy="400110"/>
              </a:xfrm>
              <a:prstGeom prst="rect">
                <a:avLst/>
              </a:prstGeom>
              <a:blipFill>
                <a:blip r:embed="rId6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0287589-E7C2-15E7-D8C2-B52C7AEA5703}"/>
              </a:ext>
            </a:extLst>
          </p:cNvPr>
          <p:cNvSpPr/>
          <p:nvPr/>
        </p:nvSpPr>
        <p:spPr>
          <a:xfrm>
            <a:off x="874895" y="3940040"/>
            <a:ext cx="5144906" cy="73102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215F9A"/>
                </a:solidFill>
              </a:rPr>
              <a:t>Topological sort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1E90181-C9EC-285D-2E8A-6C451B07FE4C}"/>
              </a:ext>
            </a:extLst>
          </p:cNvPr>
          <p:cNvSpPr/>
          <p:nvPr/>
        </p:nvSpPr>
        <p:spPr>
          <a:xfrm>
            <a:off x="874894" y="4809798"/>
            <a:ext cx="5144906" cy="73102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215F9A"/>
                </a:solidFill>
              </a:rPr>
              <a:t>Append removed symbols in arbitrary order</a:t>
            </a:r>
          </a:p>
        </p:txBody>
      </p:sp>
    </p:spTree>
    <p:extLst>
      <p:ext uri="{BB962C8B-B14F-4D97-AF65-F5344CB8AC3E}">
        <p14:creationId xmlns:p14="http://schemas.microsoft.com/office/powerpoint/2010/main" val="574208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68" grpId="0" animBg="1"/>
      <p:bldP spid="73" grpId="0" animBg="1"/>
      <p:bldP spid="5" grpId="0" animBg="1"/>
      <p:bldP spid="7" grpId="0"/>
      <p:bldP spid="9" grpId="0" animBg="1"/>
      <p:bldP spid="13" grpId="0"/>
      <p:bldP spid="14" grpId="0" animBg="1"/>
      <p:bldP spid="15" grpId="0" animBg="1"/>
      <p:bldP spid="17" grpId="0"/>
      <p:bldP spid="17" grpId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2">
                <a:lumMod val="90000"/>
              </a:schemeClr>
            </a:gs>
            <a:gs pos="51000">
              <a:schemeClr val="bg1">
                <a:lumMod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F48B95-28E4-E0EC-AE5A-EBE38DB01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2B94F-DA12-7406-4C95-9C8C804B2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980" y="319662"/>
            <a:ext cx="11590020" cy="716389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Attempt for MPC Cycle Removal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C783929-9493-E1B8-B54D-AFE96559F5B6}"/>
                  </a:ext>
                </a:extLst>
              </p:cNvPr>
              <p:cNvSpPr/>
              <p:nvPr/>
            </p:nvSpPr>
            <p:spPr>
              <a:xfrm>
                <a:off x="100898" y="3266617"/>
                <a:ext cx="2333297" cy="97746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={1,2…, 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lit/>
                        </m:rP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C783929-9493-E1B8-B54D-AFE96559F5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98" y="3266617"/>
                <a:ext cx="2333297" cy="97746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120ECD3-B861-58C7-A74E-BFE44878B026}"/>
              </a:ext>
            </a:extLst>
          </p:cNvPr>
          <p:cNvSpPr txBox="1"/>
          <p:nvPr/>
        </p:nvSpPr>
        <p:spPr>
          <a:xfrm>
            <a:off x="4603531" y="4939753"/>
            <a:ext cx="234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2060"/>
                </a:solidFill>
              </a:rPr>
              <a:t>…</a:t>
            </a: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D30D9BA5-9DCD-03F5-DAB1-D9AB6324B955}"/>
              </a:ext>
            </a:extLst>
          </p:cNvPr>
          <p:cNvSpPr/>
          <p:nvPr/>
        </p:nvSpPr>
        <p:spPr>
          <a:xfrm>
            <a:off x="2498832" y="1286467"/>
            <a:ext cx="310579" cy="5429644"/>
          </a:xfrm>
          <a:prstGeom prst="leftBrace">
            <a:avLst>
              <a:gd name="adj1" fmla="val 8333"/>
              <a:gd name="adj2" fmla="val 4605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D66F85-6060-50E4-55AD-7C0DE31C2C69}"/>
              </a:ext>
            </a:extLst>
          </p:cNvPr>
          <p:cNvSpPr txBox="1"/>
          <p:nvPr/>
        </p:nvSpPr>
        <p:spPr>
          <a:xfrm>
            <a:off x="5637749" y="2929233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>
              <a:solidFill>
                <a:srgbClr val="00206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2F0AA2-5586-1A59-E046-673C036275E6}"/>
              </a:ext>
            </a:extLst>
          </p:cNvPr>
          <p:cNvSpPr txBox="1"/>
          <p:nvPr/>
        </p:nvSpPr>
        <p:spPr>
          <a:xfrm>
            <a:off x="9191478" y="2888687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2060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8F3252-752F-C67A-D331-139413654894}"/>
                  </a:ext>
                </a:extLst>
              </p:cNvPr>
              <p:cNvSpPr txBox="1"/>
              <p:nvPr/>
            </p:nvSpPr>
            <p:spPr>
              <a:xfrm>
                <a:off x="7496236" y="5250359"/>
                <a:ext cx="4154155" cy="1271630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2060"/>
                    </a:solidFill>
                  </a:rPr>
                  <a:t>Problem, e.g.: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+1, 2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+1, 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>
                    <a:solidFill>
                      <a:srgbClr val="002060"/>
                    </a:solidFill>
                  </a:rPr>
                  <a:t>Are both triangles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which to delete ?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C8F3252-752F-C67A-D331-139413654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6236" y="5250359"/>
                <a:ext cx="4154155" cy="1271630"/>
              </a:xfrm>
              <a:prstGeom prst="rect">
                <a:avLst/>
              </a:prstGeom>
              <a:blipFill>
                <a:blip r:embed="rId4"/>
                <a:stretch>
                  <a:fillRect l="-1170" t="-1415" b="-5660"/>
                </a:stretch>
              </a:blipFill>
              <a:ln w="19050">
                <a:solidFill>
                  <a:srgbClr val="C00000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02AFDC80-CDF1-6A51-DE0C-0DEDF0DE553C}"/>
                  </a:ext>
                </a:extLst>
              </p:cNvPr>
              <p:cNvSpPr/>
              <p:nvPr/>
            </p:nvSpPr>
            <p:spPr>
              <a:xfrm>
                <a:off x="2809891" y="1408178"/>
                <a:ext cx="3941012" cy="95104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={1,2…, 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m:rPr>
                          <m:lit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02AFDC80-CDF1-6A51-DE0C-0DEDF0DE5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891" y="1408178"/>
                <a:ext cx="3941012" cy="95104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01653F38-5DFC-40CB-EB46-BEB8F42C0D76}"/>
                  </a:ext>
                </a:extLst>
              </p:cNvPr>
              <p:cNvSpPr/>
              <p:nvPr/>
            </p:nvSpPr>
            <p:spPr>
              <a:xfrm>
                <a:off x="2804379" y="2608883"/>
                <a:ext cx="3941012" cy="95104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+1,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+2…, 2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m:rPr>
                          <m:lit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01653F38-5DFC-40CB-EB46-BEB8F42C0D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379" y="2608883"/>
                <a:ext cx="3941012" cy="95104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AB4BDDD1-279E-5F16-48B9-16980C6B4036}"/>
                  </a:ext>
                </a:extLst>
              </p:cNvPr>
              <p:cNvSpPr/>
              <p:nvPr/>
            </p:nvSpPr>
            <p:spPr>
              <a:xfrm>
                <a:off x="2809015" y="3809588"/>
                <a:ext cx="3941012" cy="95104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+1,2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+2…, 3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m:rPr>
                          <m:lit/>
                        </m:rPr>
                        <a:rPr lang="en-US" sz="1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sz="16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AB4BDDD1-279E-5F16-48B9-16980C6B40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015" y="3809588"/>
                <a:ext cx="3941012" cy="95104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DAA39FB0-94DA-D150-7EF9-BAE42866DA21}"/>
                  </a:ext>
                </a:extLst>
              </p:cNvPr>
              <p:cNvSpPr/>
              <p:nvPr/>
            </p:nvSpPr>
            <p:spPr>
              <a:xfrm>
                <a:off x="2809411" y="5488208"/>
                <a:ext cx="3941012" cy="95104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sSup>
                            <m:sSup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p>
                          </m:sSup>
                        </m:sub>
                      </m:sSub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+1,…, </m:t>
                      </m:r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lit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DAA39FB0-94DA-D150-7EF9-BAE42866DA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411" y="5488208"/>
                <a:ext cx="3941012" cy="951042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0A35A4A-9FF6-0644-C3C6-CD5C28A6B6F7}"/>
              </a:ext>
            </a:extLst>
          </p:cNvPr>
          <p:cNvCxnSpPr>
            <a:cxnSpLocks/>
            <a:stCxn id="95" idx="0"/>
          </p:cNvCxnSpPr>
          <p:nvPr/>
        </p:nvCxnSpPr>
        <p:spPr>
          <a:xfrm flipV="1">
            <a:off x="6742176" y="1896641"/>
            <a:ext cx="1203502" cy="11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85B4BEC-3970-63BC-9D2B-648A1D3A6166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6745391" y="1962110"/>
            <a:ext cx="1181883" cy="1122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FFF1117-A952-ED22-0A64-190E662A64AD}"/>
              </a:ext>
            </a:extLst>
          </p:cNvPr>
          <p:cNvCxnSpPr>
            <a:cxnSpLocks/>
            <a:stCxn id="49" idx="3"/>
            <a:endCxn id="3" idx="1"/>
          </p:cNvCxnSpPr>
          <p:nvPr/>
        </p:nvCxnSpPr>
        <p:spPr>
          <a:xfrm flipV="1">
            <a:off x="6750027" y="2080740"/>
            <a:ext cx="1195651" cy="22043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C3509F5D-AC4C-4CA3-C396-CF45C7ECE016}"/>
              </a:ext>
            </a:extLst>
          </p:cNvPr>
          <p:cNvSpPr/>
          <p:nvPr/>
        </p:nvSpPr>
        <p:spPr>
          <a:xfrm flipV="1">
            <a:off x="6742176" y="1229053"/>
            <a:ext cx="3072384" cy="678993"/>
          </a:xfrm>
          <a:custGeom>
            <a:avLst/>
            <a:gdLst>
              <a:gd name="csX0" fmla="*/ 0 w 3584448"/>
              <a:gd name="csY0" fmla="*/ 0 h 874385"/>
              <a:gd name="csX1" fmla="*/ 2060448 w 3584448"/>
              <a:gd name="csY1" fmla="*/ 865632 h 874385"/>
              <a:gd name="csX2" fmla="*/ 3584448 w 3584448"/>
              <a:gd name="csY2" fmla="*/ 371856 h 8743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584448" h="874385">
                <a:moveTo>
                  <a:pt x="0" y="0"/>
                </a:moveTo>
                <a:cubicBezTo>
                  <a:pt x="731520" y="401828"/>
                  <a:pt x="1463040" y="803656"/>
                  <a:pt x="2060448" y="865632"/>
                </a:cubicBezTo>
                <a:cubicBezTo>
                  <a:pt x="2657856" y="927608"/>
                  <a:pt x="3121152" y="649732"/>
                  <a:pt x="3584448" y="371856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F0AF9B0-7950-8C24-B227-7F5FD3089D60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6745391" y="2206752"/>
            <a:ext cx="3008396" cy="877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75D7CA42-4B5C-890E-3E30-DEDA640279E9}"/>
              </a:ext>
            </a:extLst>
          </p:cNvPr>
          <p:cNvCxnSpPr>
            <a:stCxn id="50" idx="3"/>
          </p:cNvCxnSpPr>
          <p:nvPr/>
        </p:nvCxnSpPr>
        <p:spPr>
          <a:xfrm flipV="1">
            <a:off x="6750423" y="2261219"/>
            <a:ext cx="3064137" cy="3702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Nhóm 7">
            <a:extLst>
              <a:ext uri="{FF2B5EF4-FFF2-40B4-BE49-F238E27FC236}">
                <a16:creationId xmlns:a16="http://schemas.microsoft.com/office/drawing/2014/main" id="{2F284964-6EEA-D8EA-BEF1-4F131EA11249}"/>
              </a:ext>
            </a:extLst>
          </p:cNvPr>
          <p:cNvGrpSpPr/>
          <p:nvPr/>
        </p:nvGrpSpPr>
        <p:grpSpPr>
          <a:xfrm>
            <a:off x="7945678" y="1276444"/>
            <a:ext cx="1104535" cy="1356563"/>
            <a:chOff x="9881239" y="2330658"/>
            <a:chExt cx="1104535" cy="13565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F6B44B1-BD74-725A-3B43-C869B187C114}"/>
                    </a:ext>
                  </a:extLst>
                </p:cNvPr>
                <p:cNvSpPr txBox="1"/>
                <p:nvPr/>
              </p:nvSpPr>
              <p:spPr>
                <a:xfrm>
                  <a:off x="10186667" y="2330658"/>
                  <a:ext cx="5168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  <a:latin typeface="Aptos (Body)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F6B44B1-BD74-725A-3B43-C869B187C1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6667" y="2330658"/>
                  <a:ext cx="51680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" name="Nhóm 6">
              <a:extLst>
                <a:ext uri="{FF2B5EF4-FFF2-40B4-BE49-F238E27FC236}">
                  <a16:creationId xmlns:a16="http://schemas.microsoft.com/office/drawing/2014/main" id="{EC31B294-F4C8-E5A3-8739-655D38FF4CDF}"/>
                </a:ext>
              </a:extLst>
            </p:cNvPr>
            <p:cNvGrpSpPr/>
            <p:nvPr/>
          </p:nvGrpSpPr>
          <p:grpSpPr>
            <a:xfrm>
              <a:off x="9881239" y="2582686"/>
              <a:ext cx="1104535" cy="1104535"/>
              <a:chOff x="9889569" y="2295967"/>
              <a:chExt cx="1104535" cy="1104535"/>
            </a:xfrm>
          </p:grpSpPr>
          <p:pic>
            <p:nvPicPr>
              <p:cNvPr id="3" name="Picture 2" descr="Free Imac Icon - Download SVG, PNG for E-commerce &amp; Shopping | IconScout">
                <a:extLst>
                  <a:ext uri="{FF2B5EF4-FFF2-40B4-BE49-F238E27FC236}">
                    <a16:creationId xmlns:a16="http://schemas.microsoft.com/office/drawing/2014/main" id="{BA76F2BF-7F77-D446-B3D2-9797ED52D6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89569" y="2295967"/>
                <a:ext cx="1104535" cy="1104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: Rounded Corners 50">
                    <a:extLst>
                      <a:ext uri="{FF2B5EF4-FFF2-40B4-BE49-F238E27FC236}">
                        <a16:creationId xmlns:a16="http://schemas.microsoft.com/office/drawing/2014/main" id="{C9A46FC1-73BA-9928-92BA-DB1103CAD87E}"/>
                      </a:ext>
                    </a:extLst>
                  </p:cNvPr>
                  <p:cNvSpPr/>
                  <p:nvPr/>
                </p:nvSpPr>
                <p:spPr>
                  <a:xfrm>
                    <a:off x="10051145" y="2518411"/>
                    <a:ext cx="860158" cy="265739"/>
                  </a:xfrm>
                  <a:prstGeom prst="round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rgbClr val="002060"/>
                              </a:solidFill>
                              <a:latin typeface="Aptos (Body)"/>
                            </a:rPr>
                            <m:t> </m:t>
                          </m:r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  <a:latin typeface="Aptos (Body)"/>
                    </a:endParaRPr>
                  </a:p>
                </p:txBody>
              </p:sp>
            </mc:Choice>
            <mc:Fallback xmlns="">
              <p:sp>
                <p:nvSpPr>
                  <p:cNvPr id="6" name="Rectangle: Rounded Corners 50">
                    <a:extLst>
                      <a:ext uri="{FF2B5EF4-FFF2-40B4-BE49-F238E27FC236}">
                        <a16:creationId xmlns:a16="http://schemas.microsoft.com/office/drawing/2014/main" id="{C9A46FC1-73BA-9928-92BA-DB1103CAD87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51145" y="2518411"/>
                    <a:ext cx="860158" cy="265739"/>
                  </a:xfrm>
                  <a:prstGeom prst="roundRect">
                    <a:avLst/>
                  </a:prstGeom>
                  <a:blipFill>
                    <a:blip r:embed="rId11"/>
                    <a:stretch>
                      <a:fillRect l="-14894" r="-1418" b="-18182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1" name="Nhóm 10">
            <a:extLst>
              <a:ext uri="{FF2B5EF4-FFF2-40B4-BE49-F238E27FC236}">
                <a16:creationId xmlns:a16="http://schemas.microsoft.com/office/drawing/2014/main" id="{FA6F6A7A-FCDB-01F7-5FA2-AE94C36C511D}"/>
              </a:ext>
            </a:extLst>
          </p:cNvPr>
          <p:cNvGrpSpPr/>
          <p:nvPr/>
        </p:nvGrpSpPr>
        <p:grpSpPr>
          <a:xfrm>
            <a:off x="9753787" y="1283828"/>
            <a:ext cx="1178501" cy="1356563"/>
            <a:chOff x="9881239" y="2330658"/>
            <a:chExt cx="1104535" cy="13565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38">
                  <a:extLst>
                    <a:ext uri="{FF2B5EF4-FFF2-40B4-BE49-F238E27FC236}">
                      <a16:creationId xmlns:a16="http://schemas.microsoft.com/office/drawing/2014/main" id="{71434603-9194-93E4-9D04-22B1256B8E11}"/>
                    </a:ext>
                  </a:extLst>
                </p:cNvPr>
                <p:cNvSpPr txBox="1"/>
                <p:nvPr/>
              </p:nvSpPr>
              <p:spPr>
                <a:xfrm>
                  <a:off x="10186667" y="2330658"/>
                  <a:ext cx="4893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  <a:latin typeface="Aptos (Body)"/>
                  </a:endParaRPr>
                </a:p>
              </p:txBody>
            </p:sp>
          </mc:Choice>
          <mc:Fallback xmlns="">
            <p:sp>
              <p:nvSpPr>
                <p:cNvPr id="12" name="TextBox 38">
                  <a:extLst>
                    <a:ext uri="{FF2B5EF4-FFF2-40B4-BE49-F238E27FC236}">
                      <a16:creationId xmlns:a16="http://schemas.microsoft.com/office/drawing/2014/main" id="{71434603-9194-93E4-9D04-22B1256B8E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6667" y="2330658"/>
                  <a:ext cx="489361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Nhóm 12">
              <a:extLst>
                <a:ext uri="{FF2B5EF4-FFF2-40B4-BE49-F238E27FC236}">
                  <a16:creationId xmlns:a16="http://schemas.microsoft.com/office/drawing/2014/main" id="{7A5A13B1-916D-AC81-65BC-C8CB44F530DE}"/>
                </a:ext>
              </a:extLst>
            </p:cNvPr>
            <p:cNvGrpSpPr/>
            <p:nvPr/>
          </p:nvGrpSpPr>
          <p:grpSpPr>
            <a:xfrm>
              <a:off x="9881239" y="2582686"/>
              <a:ext cx="1104535" cy="1104535"/>
              <a:chOff x="9889569" y="2295967"/>
              <a:chExt cx="1104535" cy="1104535"/>
            </a:xfrm>
          </p:grpSpPr>
          <p:pic>
            <p:nvPicPr>
              <p:cNvPr id="14" name="Picture 2" descr="Free Imac Icon - Download SVG, PNG for E-commerce &amp; Shopping | IconScout">
                <a:extLst>
                  <a:ext uri="{FF2B5EF4-FFF2-40B4-BE49-F238E27FC236}">
                    <a16:creationId xmlns:a16="http://schemas.microsoft.com/office/drawing/2014/main" id="{17EB52EA-1ED8-BF66-AC9D-031A08E91F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89569" y="2295967"/>
                <a:ext cx="1104535" cy="1104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ectangle: Rounded Corners 50">
                    <a:extLst>
                      <a:ext uri="{FF2B5EF4-FFF2-40B4-BE49-F238E27FC236}">
                        <a16:creationId xmlns:a16="http://schemas.microsoft.com/office/drawing/2014/main" id="{CB7F30CC-B57A-89DA-087C-2462D1D0CB41}"/>
                      </a:ext>
                    </a:extLst>
                  </p:cNvPr>
                  <p:cNvSpPr/>
                  <p:nvPr/>
                </p:nvSpPr>
                <p:spPr>
                  <a:xfrm>
                    <a:off x="10051145" y="2518411"/>
                    <a:ext cx="860158" cy="265739"/>
                  </a:xfrm>
                  <a:prstGeom prst="round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sup>
                              </m:sSup>
                            </m:sub>
                          </m:sSub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" name="Rectangle: Rounded Corners 50">
                    <a:extLst>
                      <a:ext uri="{FF2B5EF4-FFF2-40B4-BE49-F238E27FC236}">
                        <a16:creationId xmlns:a16="http://schemas.microsoft.com/office/drawing/2014/main" id="{CB7F30CC-B57A-89DA-087C-2462D1D0CB4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51145" y="2518411"/>
                    <a:ext cx="860158" cy="265739"/>
                  </a:xfrm>
                  <a:prstGeom prst="roundRect">
                    <a:avLst/>
                  </a:prstGeom>
                  <a:blipFill>
                    <a:blip r:embed="rId13"/>
                    <a:stretch>
                      <a:fillRect l="-15894" r="-3311" b="-18182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8" name="Nhóm 17">
            <a:extLst>
              <a:ext uri="{FF2B5EF4-FFF2-40B4-BE49-F238E27FC236}">
                <a16:creationId xmlns:a16="http://schemas.microsoft.com/office/drawing/2014/main" id="{97FFD816-FEB6-45E4-44F9-682BCACD8077}"/>
              </a:ext>
            </a:extLst>
          </p:cNvPr>
          <p:cNvGrpSpPr/>
          <p:nvPr/>
        </p:nvGrpSpPr>
        <p:grpSpPr>
          <a:xfrm>
            <a:off x="8463957" y="3457358"/>
            <a:ext cx="1879080" cy="1783080"/>
            <a:chOff x="9881239" y="2330658"/>
            <a:chExt cx="1104535" cy="13565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38">
                  <a:extLst>
                    <a:ext uri="{FF2B5EF4-FFF2-40B4-BE49-F238E27FC236}">
                      <a16:creationId xmlns:a16="http://schemas.microsoft.com/office/drawing/2014/main" id="{55A760A8-9F2F-B395-1762-D6141A7DD425}"/>
                    </a:ext>
                  </a:extLst>
                </p:cNvPr>
                <p:cNvSpPr txBox="1"/>
                <p:nvPr/>
              </p:nvSpPr>
              <p:spPr>
                <a:xfrm>
                  <a:off x="10186667" y="2330658"/>
                  <a:ext cx="670548" cy="3727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38">
                  <a:extLst>
                    <a:ext uri="{FF2B5EF4-FFF2-40B4-BE49-F238E27FC236}">
                      <a16:creationId xmlns:a16="http://schemas.microsoft.com/office/drawing/2014/main" id="{55A760A8-9F2F-B395-1762-D6141A7DD4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6667" y="2330658"/>
                  <a:ext cx="670548" cy="3727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" name="Nhóm 19">
              <a:extLst>
                <a:ext uri="{FF2B5EF4-FFF2-40B4-BE49-F238E27FC236}">
                  <a16:creationId xmlns:a16="http://schemas.microsoft.com/office/drawing/2014/main" id="{0C1AB88F-2A67-2969-E553-C2B4CB1BBEEA}"/>
                </a:ext>
              </a:extLst>
            </p:cNvPr>
            <p:cNvGrpSpPr/>
            <p:nvPr/>
          </p:nvGrpSpPr>
          <p:grpSpPr>
            <a:xfrm>
              <a:off x="9881239" y="2582686"/>
              <a:ext cx="1104535" cy="1104535"/>
              <a:chOff x="9889569" y="2295967"/>
              <a:chExt cx="1104535" cy="1104535"/>
            </a:xfrm>
          </p:grpSpPr>
          <p:pic>
            <p:nvPicPr>
              <p:cNvPr id="21" name="Picture 2" descr="Free Imac Icon - Download SVG, PNG for E-commerce &amp; Shopping | IconScout">
                <a:extLst>
                  <a:ext uri="{FF2B5EF4-FFF2-40B4-BE49-F238E27FC236}">
                    <a16:creationId xmlns:a16="http://schemas.microsoft.com/office/drawing/2014/main" id="{94E2CD99-DA76-0884-B2BA-A38F84E003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89569" y="2295967"/>
                <a:ext cx="1104535" cy="1104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: Rounded Corners 50">
                    <a:extLst>
                      <a:ext uri="{FF2B5EF4-FFF2-40B4-BE49-F238E27FC236}">
                        <a16:creationId xmlns:a16="http://schemas.microsoft.com/office/drawing/2014/main" id="{93FC9603-4DE9-7681-95D2-C3B8ED75B69D}"/>
                      </a:ext>
                    </a:extLst>
                  </p:cNvPr>
                  <p:cNvSpPr/>
                  <p:nvPr/>
                </p:nvSpPr>
                <p:spPr>
                  <a:xfrm>
                    <a:off x="9963803" y="2487402"/>
                    <a:ext cx="997741" cy="265739"/>
                  </a:xfrm>
                  <a:prstGeom prst="round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sup>
                              </m:sSup>
                            </m:sub>
                          </m:sSub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Rectangle: Rounded Corners 50">
                    <a:extLst>
                      <a:ext uri="{FF2B5EF4-FFF2-40B4-BE49-F238E27FC236}">
                        <a16:creationId xmlns:a16="http://schemas.microsoft.com/office/drawing/2014/main" id="{93FC9603-4DE9-7681-95D2-C3B8ED75B69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63803" y="2487402"/>
                    <a:ext cx="997741" cy="265739"/>
                  </a:xfrm>
                  <a:prstGeom prst="roundRect">
                    <a:avLst/>
                  </a:prstGeom>
                  <a:blipFill>
                    <a:blip r:embed="rId15"/>
                    <a:stretch>
                      <a:fillRect l="-4301" b="-1754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821807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9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2" grpId="0"/>
      <p:bldP spid="23" grpId="0" animBg="1"/>
      <p:bldP spid="38" grpId="0"/>
      <p:bldP spid="46" grpId="0" animBg="1"/>
      <p:bldP spid="46" grpId="1" animBg="1"/>
      <p:bldP spid="47" grpId="0" animBg="1"/>
      <p:bldP spid="48" grpId="0" animBg="1"/>
      <p:bldP spid="49" grpId="0" animBg="1"/>
      <p:bldP spid="50" grpId="0" animBg="1"/>
      <p:bldP spid="95" grpId="0" animBg="1"/>
      <p:bldP spid="95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60000">
              <a:srgbClr val="EBEEF0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B5F4A-EE98-8C6B-B379-1F67CC7A4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CB349-796C-A9F8-6C6C-715FD420F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353800" cy="72076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Succes attempt = DP + Cycle Removal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AFEF3D7-CC20-C046-2D5E-C09D6AB6C36D}"/>
                  </a:ext>
                </a:extLst>
              </p:cNvPr>
              <p:cNvSpPr txBox="1"/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2060"/>
                    </a:solidFill>
                    <a:latin typeface="Aptos (Body)"/>
                  </a:rPr>
                  <a:t>Ideas: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Aptos (Body)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Aptos (Body)"/>
                  </a:rPr>
                  <a:t> is of medium size (not long/short)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Aptos (Body)"/>
                  </a:rPr>
                  <a:t> possible to “guess” approximately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AFEF3D7-CC20-C046-2D5E-C09D6AB6C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blipFill>
                <a:blip r:embed="rId3"/>
                <a:stretch>
                  <a:fillRect l="-486" t="-4545" b="-1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4AB85F-865D-9C4A-983A-660121880DC6}"/>
                  </a:ext>
                </a:extLst>
              </p:cNvPr>
              <p:cNvSpPr txBox="1"/>
              <p:nvPr/>
            </p:nvSpPr>
            <p:spPr>
              <a:xfrm>
                <a:off x="2207512" y="3801539"/>
                <a:ext cx="1102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000"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med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</m:oMath>
                  </m:oMathPara>
                </a14:m>
                <a:endParaRPr lang="en-US">
                  <a:solidFill>
                    <a:srgbClr val="00206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4AB85F-865D-9C4A-983A-660121880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12" y="3801539"/>
                <a:ext cx="1102866" cy="400110"/>
              </a:xfrm>
              <a:prstGeom prst="rect">
                <a:avLst/>
              </a:prstGeom>
              <a:blipFill>
                <a:blip r:embed="rId4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EE9ADE-4DF9-05C1-B058-8C645D5DCC3E}"/>
                  </a:ext>
                </a:extLst>
              </p:cNvPr>
              <p:cNvSpPr txBox="1"/>
              <p:nvPr/>
            </p:nvSpPr>
            <p:spPr>
              <a:xfrm>
                <a:off x="2758945" y="2626694"/>
                <a:ext cx="4726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EE9ADE-4DF9-05C1-B058-8C645D5DC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945" y="2626694"/>
                <a:ext cx="47263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72749D-18F1-ED0E-629D-D22C990ABC3D}"/>
              </a:ext>
            </a:extLst>
          </p:cNvPr>
          <p:cNvCxnSpPr>
            <a:cxnSpLocks/>
          </p:cNvCxnSpPr>
          <p:nvPr/>
        </p:nvCxnSpPr>
        <p:spPr>
          <a:xfrm flipV="1">
            <a:off x="3799277" y="2989326"/>
            <a:ext cx="0" cy="77781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B9DD8F-BE0F-2EC6-C6B0-EB6EA33F8832}"/>
              </a:ext>
            </a:extLst>
          </p:cNvPr>
          <p:cNvCxnSpPr>
            <a:cxnSpLocks/>
          </p:cNvCxnSpPr>
          <p:nvPr/>
        </p:nvCxnSpPr>
        <p:spPr>
          <a:xfrm flipH="1" flipV="1">
            <a:off x="4477608" y="2989326"/>
            <a:ext cx="1232985" cy="77781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541B4F0-3E18-D4E5-4068-1E6378D46C46}"/>
              </a:ext>
            </a:extLst>
          </p:cNvPr>
          <p:cNvCxnSpPr>
            <a:cxnSpLocks/>
          </p:cNvCxnSpPr>
          <p:nvPr/>
        </p:nvCxnSpPr>
        <p:spPr>
          <a:xfrm flipH="1" flipV="1">
            <a:off x="6490604" y="2989324"/>
            <a:ext cx="1086192" cy="77781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44BA04-1797-4E89-F7A3-2C822CDCACBB}"/>
              </a:ext>
            </a:extLst>
          </p:cNvPr>
          <p:cNvCxnSpPr>
            <a:cxnSpLocks/>
          </p:cNvCxnSpPr>
          <p:nvPr/>
        </p:nvCxnSpPr>
        <p:spPr>
          <a:xfrm flipV="1">
            <a:off x="7948864" y="2989324"/>
            <a:ext cx="827271" cy="77781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B7E1ED-DAD5-E435-9A2E-E13F9D33D7A0}"/>
              </a:ext>
            </a:extLst>
          </p:cNvPr>
          <p:cNvCxnSpPr>
            <a:cxnSpLocks/>
          </p:cNvCxnSpPr>
          <p:nvPr/>
        </p:nvCxnSpPr>
        <p:spPr>
          <a:xfrm flipV="1">
            <a:off x="9837623" y="2989324"/>
            <a:ext cx="0" cy="77781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AD1258-8723-39E1-17FF-9BC4F4B721E3}"/>
              </a:ext>
            </a:extLst>
          </p:cNvPr>
          <p:cNvCxnSpPr>
            <a:cxnSpLocks/>
          </p:cNvCxnSpPr>
          <p:nvPr/>
        </p:nvCxnSpPr>
        <p:spPr>
          <a:xfrm>
            <a:off x="3799277" y="4333481"/>
            <a:ext cx="18887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56BACF8-ADD9-4B89-DDE7-7F2C38AEB3DC}"/>
                  </a:ext>
                </a:extLst>
              </p:cNvPr>
              <p:cNvSpPr txBox="1"/>
              <p:nvPr/>
            </p:nvSpPr>
            <p:spPr>
              <a:xfrm>
                <a:off x="4596020" y="4432157"/>
                <a:ext cx="681212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lang="en-US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56BACF8-ADD9-4B89-DDE7-7F2C38AEB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020" y="4432157"/>
                <a:ext cx="681212" cy="375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5C056FB8-FB0D-2F2A-D87A-89FC6F4169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7834383"/>
                  </p:ext>
                </p:extLst>
              </p:nvPr>
            </p:nvGraphicFramePr>
            <p:xfrm>
              <a:off x="3799275" y="2621635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5C056FB8-FB0D-2F2A-D87A-89FC6F4169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7834383"/>
                  </p:ext>
                </p:extLst>
              </p:nvPr>
            </p:nvGraphicFramePr>
            <p:xfrm>
              <a:off x="3799275" y="2621635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770" t="-3030" r="-779646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4639" t="-3030" r="-165361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64205" t="-3030" r="-1705" b="-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FF9E5800-4462-7A55-FCC0-CCD1592848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1954301"/>
                  </p:ext>
                </p:extLst>
              </p:nvPr>
            </p:nvGraphicFramePr>
            <p:xfrm>
              <a:off x="3799275" y="3767140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FF9E5800-4462-7A55-FCC0-CCD1592848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1954301"/>
                  </p:ext>
                </p:extLst>
              </p:nvPr>
            </p:nvGraphicFramePr>
            <p:xfrm>
              <a:off x="3799275" y="3767140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645" t="-7463" r="-220645" b="-149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0322" t="-7463" r="-119936" b="-149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18269" t="-7463" r="-962" b="-149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2948704E-0F17-84B3-C7DB-8FE20C7E20D6}"/>
              </a:ext>
            </a:extLst>
          </p:cNvPr>
          <p:cNvSpPr txBox="1"/>
          <p:nvPr/>
        </p:nvSpPr>
        <p:spPr>
          <a:xfrm>
            <a:off x="767604" y="3123228"/>
            <a:ext cx="2145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2060"/>
                </a:solidFill>
              </a:rPr>
              <a:t>Optimal alignment</a:t>
            </a:r>
          </a:p>
        </p:txBody>
      </p:sp>
    </p:spTree>
    <p:extLst>
      <p:ext uri="{BB962C8B-B14F-4D97-AF65-F5344CB8AC3E}">
        <p14:creationId xmlns:p14="http://schemas.microsoft.com/office/powerpoint/2010/main" val="2275461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2">
                <a:lumMod val="90000"/>
              </a:schemeClr>
            </a:gs>
            <a:gs pos="51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76B0A-B10F-DE0C-0C15-72B44CF2C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353800" cy="72076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Succes attempt = DP + Cycle Removal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14DC8B8-2EA7-FB1F-8DFF-E25F3473146B}"/>
                  </a:ext>
                </a:extLst>
              </p:cNvPr>
              <p:cNvSpPr txBox="1"/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solidFill>
                      <a:srgbClr val="002060"/>
                    </a:solidFill>
                    <a:latin typeface="Aptos (Body)"/>
                  </a:rPr>
                  <a:t>Ideas: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 is of medium size (not long/short)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 possible to “guess” approximately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14DC8B8-2EA7-FB1F-8DFF-E25F34731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blipFill>
                <a:blip r:embed="rId3"/>
                <a:stretch>
                  <a:fillRect l="-486" t="-4545" b="-1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0">
                <a:extLst>
                  <a:ext uri="{FF2B5EF4-FFF2-40B4-BE49-F238E27FC236}">
                    <a16:creationId xmlns:a16="http://schemas.microsoft.com/office/drawing/2014/main" id="{84260DF5-DC03-5329-0BDA-52A4298A4A04}"/>
                  </a:ext>
                </a:extLst>
              </p:cNvPr>
              <p:cNvSpPr txBox="1"/>
              <p:nvPr/>
            </p:nvSpPr>
            <p:spPr>
              <a:xfrm>
                <a:off x="1971964" y="3841697"/>
                <a:ext cx="1102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000"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med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</m:oMath>
                  </m:oMathPara>
                </a14:m>
                <a:endParaRPr lang="en-US">
                  <a:solidFill>
                    <a:srgbClr val="002060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4" name="TextBox 10">
                <a:extLst>
                  <a:ext uri="{FF2B5EF4-FFF2-40B4-BE49-F238E27FC236}">
                    <a16:creationId xmlns:a16="http://schemas.microsoft.com/office/drawing/2014/main" id="{84260DF5-DC03-5329-0BDA-52A4298A4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964" y="3841697"/>
                <a:ext cx="1102866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39FFC678-F544-209B-A290-B13E3322971A}"/>
                  </a:ext>
                </a:extLst>
              </p:cNvPr>
              <p:cNvSpPr txBox="1"/>
              <p:nvPr/>
            </p:nvSpPr>
            <p:spPr>
              <a:xfrm>
                <a:off x="2417655" y="2704077"/>
                <a:ext cx="4726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002060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39FFC678-F544-209B-A290-B13E33229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655" y="2704077"/>
                <a:ext cx="472630" cy="400110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7">
            <a:extLst>
              <a:ext uri="{FF2B5EF4-FFF2-40B4-BE49-F238E27FC236}">
                <a16:creationId xmlns:a16="http://schemas.microsoft.com/office/drawing/2014/main" id="{226DF722-34D5-53A1-2E4E-C9A361396239}"/>
              </a:ext>
            </a:extLst>
          </p:cNvPr>
          <p:cNvCxnSpPr>
            <a:cxnSpLocks/>
          </p:cNvCxnSpPr>
          <p:nvPr/>
        </p:nvCxnSpPr>
        <p:spPr>
          <a:xfrm>
            <a:off x="3457987" y="4410864"/>
            <a:ext cx="18887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096C8C8A-3C85-B638-C404-416D477E18E4}"/>
                  </a:ext>
                </a:extLst>
              </p:cNvPr>
              <p:cNvSpPr txBox="1"/>
              <p:nvPr/>
            </p:nvSpPr>
            <p:spPr>
              <a:xfrm>
                <a:off x="4254730" y="4509540"/>
                <a:ext cx="6858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lang="en-US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096C8C8A-3C85-B638-C404-416D477E1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730" y="4509540"/>
                <a:ext cx="6858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20">
                <a:extLst>
                  <a:ext uri="{FF2B5EF4-FFF2-40B4-BE49-F238E27FC236}">
                    <a16:creationId xmlns:a16="http://schemas.microsoft.com/office/drawing/2014/main" id="{91B80DDE-AA48-D21D-F9F2-E0280F545A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2699018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20">
                <a:extLst>
                  <a:ext uri="{FF2B5EF4-FFF2-40B4-BE49-F238E27FC236}">
                    <a16:creationId xmlns:a16="http://schemas.microsoft.com/office/drawing/2014/main" id="{91B80DDE-AA48-D21D-F9F2-E0280F545A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2699018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770" t="-1515" r="-779646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4639" t="-1515" r="-165361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64205" t="-1515" r="-1705" b="-6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21">
                <a:extLst>
                  <a:ext uri="{FF2B5EF4-FFF2-40B4-BE49-F238E27FC236}">
                    <a16:creationId xmlns:a16="http://schemas.microsoft.com/office/drawing/2014/main" id="{86B80E4D-7988-3FE1-CF5B-62717D601C8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384452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21">
                <a:extLst>
                  <a:ext uri="{FF2B5EF4-FFF2-40B4-BE49-F238E27FC236}">
                    <a16:creationId xmlns:a16="http://schemas.microsoft.com/office/drawing/2014/main" id="{86B80E4D-7988-3FE1-CF5B-62717D601C8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384452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645" t="-7576" r="-220645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0322" t="-7576" r="-119936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18269" t="-7576" r="-962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3205432A-E859-E054-16B6-92685DCC8965}"/>
              </a:ext>
            </a:extLst>
          </p:cNvPr>
          <p:cNvSpPr/>
          <p:nvPr/>
        </p:nvSpPr>
        <p:spPr>
          <a:xfrm>
            <a:off x="3822060" y="2699018"/>
            <a:ext cx="1249900" cy="39728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cxnSp>
        <p:nvCxnSpPr>
          <p:cNvPr id="31" name="Straight Connector 13">
            <a:extLst>
              <a:ext uri="{FF2B5EF4-FFF2-40B4-BE49-F238E27FC236}">
                <a16:creationId xmlns:a16="http://schemas.microsoft.com/office/drawing/2014/main" id="{CB2ABD0E-27EB-3F5C-DA59-73C2CEF559B6}"/>
              </a:ext>
            </a:extLst>
          </p:cNvPr>
          <p:cNvCxnSpPr>
            <a:cxnSpLocks/>
          </p:cNvCxnSpPr>
          <p:nvPr/>
        </p:nvCxnSpPr>
        <p:spPr>
          <a:xfrm flipH="1" flipV="1">
            <a:off x="3822060" y="3104187"/>
            <a:ext cx="1524687" cy="75513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14">
            <a:extLst>
              <a:ext uri="{FF2B5EF4-FFF2-40B4-BE49-F238E27FC236}">
                <a16:creationId xmlns:a16="http://schemas.microsoft.com/office/drawing/2014/main" id="{46D888BA-FFEF-C9B3-0B60-79573F25285B}"/>
              </a:ext>
            </a:extLst>
          </p:cNvPr>
          <p:cNvCxnSpPr>
            <a:cxnSpLocks/>
          </p:cNvCxnSpPr>
          <p:nvPr/>
        </p:nvCxnSpPr>
        <p:spPr>
          <a:xfrm flipH="1" flipV="1">
            <a:off x="5071960" y="3096302"/>
            <a:ext cx="2170877" cy="74539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025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2">
                <a:lumMod val="90000"/>
              </a:schemeClr>
            </a:gs>
            <a:gs pos="51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E1C654-2B52-6521-6E24-CA397802F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A2D0-7636-0C6B-37F6-7AAAAED9F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353800" cy="72076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Succes attempt = DP + Cycle Removal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69F7B0C-27C5-9BE2-83BA-95B636575170}"/>
                  </a:ext>
                </a:extLst>
              </p:cNvPr>
              <p:cNvSpPr txBox="1"/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solidFill>
                      <a:srgbClr val="002060"/>
                    </a:solidFill>
                    <a:latin typeface="Aptos (Body)"/>
                  </a:rPr>
                  <a:t>Ideas: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 is of medium size (not long/short)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 possible to “guess” approximately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69F7B0C-27C5-9BE2-83BA-95B636575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blipFill>
                <a:blip r:embed="rId3"/>
                <a:stretch>
                  <a:fillRect l="-486" t="-4545" b="-1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0">
                <a:extLst>
                  <a:ext uri="{FF2B5EF4-FFF2-40B4-BE49-F238E27FC236}">
                    <a16:creationId xmlns:a16="http://schemas.microsoft.com/office/drawing/2014/main" id="{BB745169-9D54-1D4D-5050-B22BF64E7D00}"/>
                  </a:ext>
                </a:extLst>
              </p:cNvPr>
              <p:cNvSpPr txBox="1"/>
              <p:nvPr/>
            </p:nvSpPr>
            <p:spPr>
              <a:xfrm>
                <a:off x="1971964" y="3841697"/>
                <a:ext cx="1102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000"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med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</m:oMath>
                  </m:oMathPara>
                </a14:m>
                <a:endParaRPr lang="en-US">
                  <a:solidFill>
                    <a:srgbClr val="002060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4" name="TextBox 10">
                <a:extLst>
                  <a:ext uri="{FF2B5EF4-FFF2-40B4-BE49-F238E27FC236}">
                    <a16:creationId xmlns:a16="http://schemas.microsoft.com/office/drawing/2014/main" id="{BB745169-9D54-1D4D-5050-B22BF64E7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964" y="3841697"/>
                <a:ext cx="1102866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CB69AD53-A6D4-DDF1-1D47-804E95A7A5B9}"/>
                  </a:ext>
                </a:extLst>
              </p:cNvPr>
              <p:cNvSpPr txBox="1"/>
              <p:nvPr/>
            </p:nvSpPr>
            <p:spPr>
              <a:xfrm>
                <a:off x="2417655" y="2704077"/>
                <a:ext cx="4726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002060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CB69AD53-A6D4-DDF1-1D47-804E95A7A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655" y="2704077"/>
                <a:ext cx="472630" cy="400110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7">
            <a:extLst>
              <a:ext uri="{FF2B5EF4-FFF2-40B4-BE49-F238E27FC236}">
                <a16:creationId xmlns:a16="http://schemas.microsoft.com/office/drawing/2014/main" id="{1052AEF3-D92A-8273-1295-7B72BF0B18C1}"/>
              </a:ext>
            </a:extLst>
          </p:cNvPr>
          <p:cNvCxnSpPr>
            <a:cxnSpLocks/>
          </p:cNvCxnSpPr>
          <p:nvPr/>
        </p:nvCxnSpPr>
        <p:spPr>
          <a:xfrm>
            <a:off x="3457987" y="4410864"/>
            <a:ext cx="18887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47DB5505-9B7F-D5EB-7D7A-A608D498BE41}"/>
                  </a:ext>
                </a:extLst>
              </p:cNvPr>
              <p:cNvSpPr txBox="1"/>
              <p:nvPr/>
            </p:nvSpPr>
            <p:spPr>
              <a:xfrm>
                <a:off x="4254730" y="4509540"/>
                <a:ext cx="6858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lang="en-US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47DB5505-9B7F-D5EB-7D7A-A608D498B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730" y="4509540"/>
                <a:ext cx="6858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20">
                <a:extLst>
                  <a:ext uri="{FF2B5EF4-FFF2-40B4-BE49-F238E27FC236}">
                    <a16:creationId xmlns:a16="http://schemas.microsoft.com/office/drawing/2014/main" id="{6FE51549-9383-18FB-2116-9FFD78F1E2F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2699018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20">
                <a:extLst>
                  <a:ext uri="{FF2B5EF4-FFF2-40B4-BE49-F238E27FC236}">
                    <a16:creationId xmlns:a16="http://schemas.microsoft.com/office/drawing/2014/main" id="{6FE51549-9383-18FB-2116-9FFD78F1E2F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2699018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770" t="-1515" r="-779646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4639" t="-1515" r="-165361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64205" t="-1515" r="-1705" b="-6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21">
                <a:extLst>
                  <a:ext uri="{FF2B5EF4-FFF2-40B4-BE49-F238E27FC236}">
                    <a16:creationId xmlns:a16="http://schemas.microsoft.com/office/drawing/2014/main" id="{3F17E1A5-3DD0-17A2-7FB3-984DF27E677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384452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21">
                <a:extLst>
                  <a:ext uri="{FF2B5EF4-FFF2-40B4-BE49-F238E27FC236}">
                    <a16:creationId xmlns:a16="http://schemas.microsoft.com/office/drawing/2014/main" id="{3F17E1A5-3DD0-17A2-7FB3-984DF27E677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384452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645" t="-7576" r="-220645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0322" t="-7576" r="-119936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18269" t="-7576" r="-962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2D1ED419-FF14-D84B-3627-760AC3ABA50A}"/>
              </a:ext>
            </a:extLst>
          </p:cNvPr>
          <p:cNvSpPr/>
          <p:nvPr/>
        </p:nvSpPr>
        <p:spPr>
          <a:xfrm>
            <a:off x="3822060" y="2699018"/>
            <a:ext cx="1524686" cy="39728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cxnSp>
        <p:nvCxnSpPr>
          <p:cNvPr id="31" name="Straight Connector 13">
            <a:extLst>
              <a:ext uri="{FF2B5EF4-FFF2-40B4-BE49-F238E27FC236}">
                <a16:creationId xmlns:a16="http://schemas.microsoft.com/office/drawing/2014/main" id="{FDABBCD0-0A58-4E80-C30E-F055F6EF9417}"/>
              </a:ext>
            </a:extLst>
          </p:cNvPr>
          <p:cNvCxnSpPr>
            <a:cxnSpLocks/>
          </p:cNvCxnSpPr>
          <p:nvPr/>
        </p:nvCxnSpPr>
        <p:spPr>
          <a:xfrm flipH="1" flipV="1">
            <a:off x="3822060" y="3104187"/>
            <a:ext cx="1524687" cy="75513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14">
            <a:extLst>
              <a:ext uri="{FF2B5EF4-FFF2-40B4-BE49-F238E27FC236}">
                <a16:creationId xmlns:a16="http://schemas.microsoft.com/office/drawing/2014/main" id="{FE77EA1F-1DA1-A64F-7EBC-139B8ECF29C7}"/>
              </a:ext>
            </a:extLst>
          </p:cNvPr>
          <p:cNvCxnSpPr>
            <a:cxnSpLocks/>
          </p:cNvCxnSpPr>
          <p:nvPr/>
        </p:nvCxnSpPr>
        <p:spPr>
          <a:xfrm flipH="1" flipV="1">
            <a:off x="5346746" y="3086564"/>
            <a:ext cx="1896091" cy="75513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09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2">
                <a:lumMod val="90000"/>
              </a:schemeClr>
            </a:gs>
            <a:gs pos="51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7E23FC-D25E-5B07-7FD1-C7906ED06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5C816-5FBD-C744-46D4-D4605C56F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353800" cy="72076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Succes attempt = DP + Cycle Removal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1EC1305-657D-0767-BB04-FC0415C14D4A}"/>
                  </a:ext>
                </a:extLst>
              </p:cNvPr>
              <p:cNvSpPr txBox="1"/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solidFill>
                      <a:srgbClr val="002060"/>
                    </a:solidFill>
                    <a:latin typeface="Aptos (Body)"/>
                  </a:rPr>
                  <a:t>Ideas: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 is of medium size (not long/short)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 possible to “guess” approximately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1EC1305-657D-0767-BB04-FC0415C14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blipFill>
                <a:blip r:embed="rId3"/>
                <a:stretch>
                  <a:fillRect l="-486" t="-4545" b="-1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0">
                <a:extLst>
                  <a:ext uri="{FF2B5EF4-FFF2-40B4-BE49-F238E27FC236}">
                    <a16:creationId xmlns:a16="http://schemas.microsoft.com/office/drawing/2014/main" id="{826BB84A-20BF-1027-7CEC-86BD2930F04E}"/>
                  </a:ext>
                </a:extLst>
              </p:cNvPr>
              <p:cNvSpPr txBox="1"/>
              <p:nvPr/>
            </p:nvSpPr>
            <p:spPr>
              <a:xfrm>
                <a:off x="1971964" y="3841697"/>
                <a:ext cx="1102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000"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med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</m:oMath>
                  </m:oMathPara>
                </a14:m>
                <a:endParaRPr lang="en-US">
                  <a:solidFill>
                    <a:srgbClr val="002060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4" name="TextBox 10">
                <a:extLst>
                  <a:ext uri="{FF2B5EF4-FFF2-40B4-BE49-F238E27FC236}">
                    <a16:creationId xmlns:a16="http://schemas.microsoft.com/office/drawing/2014/main" id="{826BB84A-20BF-1027-7CEC-86BD2930F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964" y="3841697"/>
                <a:ext cx="1102866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D78E6F77-2858-62A0-EB3C-B12B9E2DE049}"/>
                  </a:ext>
                </a:extLst>
              </p:cNvPr>
              <p:cNvSpPr txBox="1"/>
              <p:nvPr/>
            </p:nvSpPr>
            <p:spPr>
              <a:xfrm>
                <a:off x="2417655" y="2704077"/>
                <a:ext cx="4726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002060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D78E6F77-2858-62A0-EB3C-B12B9E2DE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655" y="2704077"/>
                <a:ext cx="472630" cy="400110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7">
            <a:extLst>
              <a:ext uri="{FF2B5EF4-FFF2-40B4-BE49-F238E27FC236}">
                <a16:creationId xmlns:a16="http://schemas.microsoft.com/office/drawing/2014/main" id="{B99C8C89-E7FD-1486-1470-3F1F80263E43}"/>
              </a:ext>
            </a:extLst>
          </p:cNvPr>
          <p:cNvCxnSpPr>
            <a:cxnSpLocks/>
          </p:cNvCxnSpPr>
          <p:nvPr/>
        </p:nvCxnSpPr>
        <p:spPr>
          <a:xfrm>
            <a:off x="3457987" y="4410864"/>
            <a:ext cx="18887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AD135138-9788-5F06-A853-63769455AC5A}"/>
                  </a:ext>
                </a:extLst>
              </p:cNvPr>
              <p:cNvSpPr txBox="1"/>
              <p:nvPr/>
            </p:nvSpPr>
            <p:spPr>
              <a:xfrm>
                <a:off x="4254730" y="4509540"/>
                <a:ext cx="6858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lang="en-US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AD135138-9788-5F06-A853-63769455A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730" y="4509540"/>
                <a:ext cx="6858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20">
                <a:extLst>
                  <a:ext uri="{FF2B5EF4-FFF2-40B4-BE49-F238E27FC236}">
                    <a16:creationId xmlns:a16="http://schemas.microsoft.com/office/drawing/2014/main" id="{B48E8412-A8C5-FB7E-8B7C-2E085D39A2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2699018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20">
                <a:extLst>
                  <a:ext uri="{FF2B5EF4-FFF2-40B4-BE49-F238E27FC236}">
                    <a16:creationId xmlns:a16="http://schemas.microsoft.com/office/drawing/2014/main" id="{B48E8412-A8C5-FB7E-8B7C-2E085D39A2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2699018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770" t="-1515" r="-779646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4639" t="-1515" r="-165361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64205" t="-1515" r="-1705" b="-6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21">
                <a:extLst>
                  <a:ext uri="{FF2B5EF4-FFF2-40B4-BE49-F238E27FC236}">
                    <a16:creationId xmlns:a16="http://schemas.microsoft.com/office/drawing/2014/main" id="{AB2E329A-1599-FF98-7E5F-6FD2BA693A6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384452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21">
                <a:extLst>
                  <a:ext uri="{FF2B5EF4-FFF2-40B4-BE49-F238E27FC236}">
                    <a16:creationId xmlns:a16="http://schemas.microsoft.com/office/drawing/2014/main" id="{AB2E329A-1599-FF98-7E5F-6FD2BA693A6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384452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645" t="-7576" r="-220645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0322" t="-7576" r="-119936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18269" t="-7576" r="-962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D92143C3-8BDD-40A0-B590-119E3BEE5819}"/>
              </a:ext>
            </a:extLst>
          </p:cNvPr>
          <p:cNvSpPr/>
          <p:nvPr/>
        </p:nvSpPr>
        <p:spPr>
          <a:xfrm>
            <a:off x="3822059" y="2699018"/>
            <a:ext cx="1896091" cy="39728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cxnSp>
        <p:nvCxnSpPr>
          <p:cNvPr id="31" name="Straight Connector 13">
            <a:extLst>
              <a:ext uri="{FF2B5EF4-FFF2-40B4-BE49-F238E27FC236}">
                <a16:creationId xmlns:a16="http://schemas.microsoft.com/office/drawing/2014/main" id="{07E3DA96-1E58-D4E4-F48D-97ACD48D0C90}"/>
              </a:ext>
            </a:extLst>
          </p:cNvPr>
          <p:cNvCxnSpPr>
            <a:cxnSpLocks/>
          </p:cNvCxnSpPr>
          <p:nvPr/>
        </p:nvCxnSpPr>
        <p:spPr>
          <a:xfrm flipH="1" flipV="1">
            <a:off x="3822060" y="3104187"/>
            <a:ext cx="1524687" cy="75513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14">
            <a:extLst>
              <a:ext uri="{FF2B5EF4-FFF2-40B4-BE49-F238E27FC236}">
                <a16:creationId xmlns:a16="http://schemas.microsoft.com/office/drawing/2014/main" id="{6081E055-8D6D-7C7D-9C22-D53A1960C735}"/>
              </a:ext>
            </a:extLst>
          </p:cNvPr>
          <p:cNvCxnSpPr>
            <a:cxnSpLocks/>
          </p:cNvCxnSpPr>
          <p:nvPr/>
        </p:nvCxnSpPr>
        <p:spPr>
          <a:xfrm flipH="1" flipV="1">
            <a:off x="5718150" y="3096302"/>
            <a:ext cx="1524687" cy="74539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562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2">
                <a:lumMod val="90000"/>
              </a:schemeClr>
            </a:gs>
            <a:gs pos="51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136822-3F75-2828-5922-BBA5B6875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F32F4-AA8D-EAC2-F397-203F40009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353800" cy="72076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Succes attempt = DP + Cycle Removal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1DA6DBA-1FBB-7B0B-37D9-B402F7E5B199}"/>
                  </a:ext>
                </a:extLst>
              </p:cNvPr>
              <p:cNvSpPr txBox="1"/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solidFill>
                      <a:srgbClr val="002060"/>
                    </a:solidFill>
                    <a:latin typeface="Aptos (Body)"/>
                  </a:rPr>
                  <a:t>Ideas: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 is of medium size (not long/short)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 possible to “guess” approximately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1DA6DBA-1FBB-7B0B-37D9-B402F7E5B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blipFill>
                <a:blip r:embed="rId3"/>
                <a:stretch>
                  <a:fillRect l="-486" t="-4545" b="-1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0">
                <a:extLst>
                  <a:ext uri="{FF2B5EF4-FFF2-40B4-BE49-F238E27FC236}">
                    <a16:creationId xmlns:a16="http://schemas.microsoft.com/office/drawing/2014/main" id="{D4E7D125-5B2D-6278-780A-10D547CACBFB}"/>
                  </a:ext>
                </a:extLst>
              </p:cNvPr>
              <p:cNvSpPr txBox="1"/>
              <p:nvPr/>
            </p:nvSpPr>
            <p:spPr>
              <a:xfrm>
                <a:off x="1971964" y="3841697"/>
                <a:ext cx="1102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000"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med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</m:oMath>
                  </m:oMathPara>
                </a14:m>
                <a:endParaRPr lang="en-US">
                  <a:solidFill>
                    <a:srgbClr val="002060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4" name="TextBox 10">
                <a:extLst>
                  <a:ext uri="{FF2B5EF4-FFF2-40B4-BE49-F238E27FC236}">
                    <a16:creationId xmlns:a16="http://schemas.microsoft.com/office/drawing/2014/main" id="{D4E7D125-5B2D-6278-780A-10D547CAC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964" y="3841697"/>
                <a:ext cx="1102866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9EE7520C-2265-C7FD-CA65-65B01CDA1677}"/>
                  </a:ext>
                </a:extLst>
              </p:cNvPr>
              <p:cNvSpPr txBox="1"/>
              <p:nvPr/>
            </p:nvSpPr>
            <p:spPr>
              <a:xfrm>
                <a:off x="2417655" y="2704077"/>
                <a:ext cx="4726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002060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9EE7520C-2265-C7FD-CA65-65B01CDA1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655" y="2704077"/>
                <a:ext cx="472630" cy="400110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7">
            <a:extLst>
              <a:ext uri="{FF2B5EF4-FFF2-40B4-BE49-F238E27FC236}">
                <a16:creationId xmlns:a16="http://schemas.microsoft.com/office/drawing/2014/main" id="{C5A3F10D-037F-A8C5-6B67-291C09559CB6}"/>
              </a:ext>
            </a:extLst>
          </p:cNvPr>
          <p:cNvCxnSpPr>
            <a:cxnSpLocks/>
          </p:cNvCxnSpPr>
          <p:nvPr/>
        </p:nvCxnSpPr>
        <p:spPr>
          <a:xfrm>
            <a:off x="3457987" y="4410864"/>
            <a:ext cx="18887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3AF77457-8C81-6412-6839-1397A2156DF4}"/>
                  </a:ext>
                </a:extLst>
              </p:cNvPr>
              <p:cNvSpPr txBox="1"/>
              <p:nvPr/>
            </p:nvSpPr>
            <p:spPr>
              <a:xfrm>
                <a:off x="4254730" y="4509540"/>
                <a:ext cx="6858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lang="en-US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3AF77457-8C81-6412-6839-1397A2156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730" y="4509540"/>
                <a:ext cx="6858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20">
                <a:extLst>
                  <a:ext uri="{FF2B5EF4-FFF2-40B4-BE49-F238E27FC236}">
                    <a16:creationId xmlns:a16="http://schemas.microsoft.com/office/drawing/2014/main" id="{B7F9222E-3170-599D-C50F-D56C62ADE5F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2699018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20">
                <a:extLst>
                  <a:ext uri="{FF2B5EF4-FFF2-40B4-BE49-F238E27FC236}">
                    <a16:creationId xmlns:a16="http://schemas.microsoft.com/office/drawing/2014/main" id="{B7F9222E-3170-599D-C50F-D56C62ADE5F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2699018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770" t="-1515" r="-779646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4639" t="-1515" r="-165361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64205" t="-1515" r="-1705" b="-6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21">
                <a:extLst>
                  <a:ext uri="{FF2B5EF4-FFF2-40B4-BE49-F238E27FC236}">
                    <a16:creationId xmlns:a16="http://schemas.microsoft.com/office/drawing/2014/main" id="{14C5836B-FD85-2603-E449-3CCCB8A67EB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384452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21">
                <a:extLst>
                  <a:ext uri="{FF2B5EF4-FFF2-40B4-BE49-F238E27FC236}">
                    <a16:creationId xmlns:a16="http://schemas.microsoft.com/office/drawing/2014/main" id="{14C5836B-FD85-2603-E449-3CCCB8A67EB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57985" y="384452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645" t="-7576" r="-220645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0322" t="-7576" r="-119936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18269" t="-7576" r="-962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9DD294A8-D6D0-B127-4D19-D987603C186E}"/>
              </a:ext>
            </a:extLst>
          </p:cNvPr>
          <p:cNvSpPr/>
          <p:nvPr/>
        </p:nvSpPr>
        <p:spPr>
          <a:xfrm>
            <a:off x="4770104" y="2699018"/>
            <a:ext cx="1896091" cy="39728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cxnSp>
        <p:nvCxnSpPr>
          <p:cNvPr id="31" name="Straight Connector 13">
            <a:extLst>
              <a:ext uri="{FF2B5EF4-FFF2-40B4-BE49-F238E27FC236}">
                <a16:creationId xmlns:a16="http://schemas.microsoft.com/office/drawing/2014/main" id="{04ED3BB9-D964-0CC6-403D-A08E75BD2F1E}"/>
              </a:ext>
            </a:extLst>
          </p:cNvPr>
          <p:cNvCxnSpPr>
            <a:cxnSpLocks/>
          </p:cNvCxnSpPr>
          <p:nvPr/>
        </p:nvCxnSpPr>
        <p:spPr>
          <a:xfrm flipH="1" flipV="1">
            <a:off x="4770104" y="3096302"/>
            <a:ext cx="576643" cy="76301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14">
            <a:extLst>
              <a:ext uri="{FF2B5EF4-FFF2-40B4-BE49-F238E27FC236}">
                <a16:creationId xmlns:a16="http://schemas.microsoft.com/office/drawing/2014/main" id="{F4180110-08A1-228F-412A-D45C6D7E737E}"/>
              </a:ext>
            </a:extLst>
          </p:cNvPr>
          <p:cNvCxnSpPr>
            <a:cxnSpLocks/>
          </p:cNvCxnSpPr>
          <p:nvPr/>
        </p:nvCxnSpPr>
        <p:spPr>
          <a:xfrm flipH="1" flipV="1">
            <a:off x="6666195" y="3096302"/>
            <a:ext cx="576642" cy="74539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014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2">
                <a:lumMod val="90000"/>
              </a:schemeClr>
            </a:gs>
            <a:gs pos="51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6B721-2712-DDF4-7B87-7647C0BD2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D196E-88CE-96EC-AD0E-6A378CAF9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353800" cy="720766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Succes attempt = DP + Cycle Removal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2EB25E3-20D3-6B23-6927-7AAE43F22AAB}"/>
                  </a:ext>
                </a:extLst>
              </p:cNvPr>
              <p:cNvSpPr txBox="1"/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solidFill>
                      <a:srgbClr val="002060"/>
                    </a:solidFill>
                    <a:latin typeface="Aptos (Body)"/>
                  </a:rPr>
                  <a:t>Ideas: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 is of medium size (not long/short)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>
                    <a:solidFill>
                      <a:srgbClr val="002060"/>
                    </a:solidFill>
                    <a:latin typeface="Aptos (Body)"/>
                  </a:rPr>
                  <a:t> possible to “guess” approximately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2EB25E3-20D3-6B23-6927-7AAE43F22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48" y="1328114"/>
                <a:ext cx="11290325" cy="668645"/>
              </a:xfrm>
              <a:prstGeom prst="rect">
                <a:avLst/>
              </a:prstGeom>
              <a:blipFill>
                <a:blip r:embed="rId3"/>
                <a:stretch>
                  <a:fillRect l="-486" t="-4545" b="-1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0">
                <a:extLst>
                  <a:ext uri="{FF2B5EF4-FFF2-40B4-BE49-F238E27FC236}">
                    <a16:creationId xmlns:a16="http://schemas.microsoft.com/office/drawing/2014/main" id="{1D22112B-71FB-69B3-5D61-30DCBE54BA19}"/>
                  </a:ext>
                </a:extLst>
              </p:cNvPr>
              <p:cNvSpPr txBox="1"/>
              <p:nvPr/>
            </p:nvSpPr>
            <p:spPr>
              <a:xfrm>
                <a:off x="1971964" y="3841697"/>
                <a:ext cx="1102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000"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med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</m:oMath>
                  </m:oMathPara>
                </a14:m>
                <a:endParaRPr lang="en-US">
                  <a:solidFill>
                    <a:srgbClr val="002060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4" name="TextBox 10">
                <a:extLst>
                  <a:ext uri="{FF2B5EF4-FFF2-40B4-BE49-F238E27FC236}">
                    <a16:creationId xmlns:a16="http://schemas.microsoft.com/office/drawing/2014/main" id="{1D22112B-71FB-69B3-5D61-30DCBE54B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964" y="3841697"/>
                <a:ext cx="1102866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5B5EFF54-34DA-8BA0-93A7-8D368A0A866A}"/>
                  </a:ext>
                </a:extLst>
              </p:cNvPr>
              <p:cNvSpPr txBox="1"/>
              <p:nvPr/>
            </p:nvSpPr>
            <p:spPr>
              <a:xfrm>
                <a:off x="2417655" y="2704077"/>
                <a:ext cx="4726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002060"/>
                  </a:solidFill>
                  <a:latin typeface="Aptos (Body)"/>
                </a:endParaRPr>
              </a:p>
            </p:txBody>
          </p:sp>
        </mc:Choice>
        <mc:Fallback xmlns="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5B5EFF54-34DA-8BA0-93A7-8D368A0A8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655" y="2704077"/>
                <a:ext cx="472630" cy="400110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7">
            <a:extLst>
              <a:ext uri="{FF2B5EF4-FFF2-40B4-BE49-F238E27FC236}">
                <a16:creationId xmlns:a16="http://schemas.microsoft.com/office/drawing/2014/main" id="{F8F7DFBB-B950-5A73-E308-658F033B675D}"/>
              </a:ext>
            </a:extLst>
          </p:cNvPr>
          <p:cNvCxnSpPr>
            <a:cxnSpLocks/>
          </p:cNvCxnSpPr>
          <p:nvPr/>
        </p:nvCxnSpPr>
        <p:spPr>
          <a:xfrm>
            <a:off x="3457987" y="4410864"/>
            <a:ext cx="18887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78A3F681-E96E-72CA-3197-A64F11F3F847}"/>
                  </a:ext>
                </a:extLst>
              </p:cNvPr>
              <p:cNvSpPr txBox="1"/>
              <p:nvPr/>
            </p:nvSpPr>
            <p:spPr>
              <a:xfrm>
                <a:off x="4254730" y="4509540"/>
                <a:ext cx="6858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lang="en-US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78A3F681-E96E-72CA-3197-A64F11F3F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730" y="4509540"/>
                <a:ext cx="6858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20">
                <a:extLst>
                  <a:ext uri="{FF2B5EF4-FFF2-40B4-BE49-F238E27FC236}">
                    <a16:creationId xmlns:a16="http://schemas.microsoft.com/office/drawing/2014/main" id="{1D0DF2FF-702B-FADC-F838-6CA0414B0E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9130091"/>
                  </p:ext>
                </p:extLst>
              </p:nvPr>
            </p:nvGraphicFramePr>
            <p:xfrm>
              <a:off x="3457985" y="2699018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20">
                <a:extLst>
                  <a:ext uri="{FF2B5EF4-FFF2-40B4-BE49-F238E27FC236}">
                    <a16:creationId xmlns:a16="http://schemas.microsoft.com/office/drawing/2014/main" id="{1D0DF2FF-702B-FADC-F838-6CA0414B0E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9130091"/>
                  </p:ext>
                </p:extLst>
              </p:nvPr>
            </p:nvGraphicFramePr>
            <p:xfrm>
              <a:off x="3457985" y="2699018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8318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2025748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2250830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073452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770" t="-1515" r="-779646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4639" t="-1515" r="-165361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64205" t="-1515" r="-1705" b="-6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21">
                <a:extLst>
                  <a:ext uri="{FF2B5EF4-FFF2-40B4-BE49-F238E27FC236}">
                    <a16:creationId xmlns:a16="http://schemas.microsoft.com/office/drawing/2014/main" id="{AC55ED98-4E2C-5951-E12F-50B5787417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9934043"/>
                  </p:ext>
                </p:extLst>
              </p:nvPr>
            </p:nvGraphicFramePr>
            <p:xfrm>
              <a:off x="3457985" y="384452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21">
                <a:extLst>
                  <a:ext uri="{FF2B5EF4-FFF2-40B4-BE49-F238E27FC236}">
                    <a16:creationId xmlns:a16="http://schemas.microsoft.com/office/drawing/2014/main" id="{AC55ED98-4E2C-5951-E12F-50B5787417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9934043"/>
                  </p:ext>
                </p:extLst>
              </p:nvPr>
            </p:nvGraphicFramePr>
            <p:xfrm>
              <a:off x="3457985" y="384452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645" t="-6061" r="-220645" b="-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0322" t="-6061" r="-119936" b="-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18269" t="-6061" r="-962" b="-181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C5535D6D-6010-ED7F-2FCE-A5DE47225C60}"/>
              </a:ext>
            </a:extLst>
          </p:cNvPr>
          <p:cNvSpPr/>
          <p:nvPr/>
        </p:nvSpPr>
        <p:spPr>
          <a:xfrm>
            <a:off x="7042021" y="2699018"/>
            <a:ext cx="1896091" cy="39728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cxnSp>
        <p:nvCxnSpPr>
          <p:cNvPr id="31" name="Straight Connector 13">
            <a:extLst>
              <a:ext uri="{FF2B5EF4-FFF2-40B4-BE49-F238E27FC236}">
                <a16:creationId xmlns:a16="http://schemas.microsoft.com/office/drawing/2014/main" id="{E472E5BD-2128-045B-A9FD-9AE3B9B9EB32}"/>
              </a:ext>
            </a:extLst>
          </p:cNvPr>
          <p:cNvCxnSpPr>
            <a:cxnSpLocks/>
          </p:cNvCxnSpPr>
          <p:nvPr/>
        </p:nvCxnSpPr>
        <p:spPr>
          <a:xfrm flipV="1">
            <a:off x="5346747" y="3087491"/>
            <a:ext cx="1695274" cy="77182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14">
            <a:extLst>
              <a:ext uri="{FF2B5EF4-FFF2-40B4-BE49-F238E27FC236}">
                <a16:creationId xmlns:a16="http://schemas.microsoft.com/office/drawing/2014/main" id="{C36A80DD-FE74-3DC9-FCE2-E5FDBA1AE3EE}"/>
              </a:ext>
            </a:extLst>
          </p:cNvPr>
          <p:cNvCxnSpPr>
            <a:cxnSpLocks/>
          </p:cNvCxnSpPr>
          <p:nvPr/>
        </p:nvCxnSpPr>
        <p:spPr>
          <a:xfrm flipV="1">
            <a:off x="7242837" y="3096302"/>
            <a:ext cx="1695275" cy="74539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2" name="Nhóm 21">
            <a:extLst>
              <a:ext uri="{FF2B5EF4-FFF2-40B4-BE49-F238E27FC236}">
                <a16:creationId xmlns:a16="http://schemas.microsoft.com/office/drawing/2014/main" id="{A6338E07-C5C4-7C99-862C-4D355FC97E72}"/>
              </a:ext>
            </a:extLst>
          </p:cNvPr>
          <p:cNvGrpSpPr/>
          <p:nvPr/>
        </p:nvGrpSpPr>
        <p:grpSpPr>
          <a:xfrm>
            <a:off x="3955237" y="2699018"/>
            <a:ext cx="2381387" cy="1009545"/>
            <a:chOff x="3955237" y="2699018"/>
            <a:chExt cx="2381387" cy="10095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54">
                  <a:extLst>
                    <a:ext uri="{FF2B5EF4-FFF2-40B4-BE49-F238E27FC236}">
                      <a16:creationId xmlns:a16="http://schemas.microsoft.com/office/drawing/2014/main" id="{656E7E69-1BE0-9BCC-F7E2-B0CCC9B1A3FE}"/>
                    </a:ext>
                  </a:extLst>
                </p:cNvPr>
                <p:cNvSpPr/>
                <p:nvPr/>
              </p:nvSpPr>
              <p:spPr>
                <a:xfrm>
                  <a:off x="3955237" y="3311272"/>
                  <a:ext cx="2381387" cy="397291"/>
                </a:xfrm>
                <a:prstGeom prst="rect">
                  <a:avLst/>
                </a:prstGeom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Rectangle 54">
                  <a:extLst>
                    <a:ext uri="{FF2B5EF4-FFF2-40B4-BE49-F238E27FC236}">
                      <a16:creationId xmlns:a16="http://schemas.microsoft.com/office/drawing/2014/main" id="{656E7E69-1BE0-9BCC-F7E2-B0CCC9B1A3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5237" y="3311272"/>
                  <a:ext cx="2381387" cy="397291"/>
                </a:xfrm>
                <a:prstGeom prst="rect">
                  <a:avLst/>
                </a:prstGeom>
                <a:blipFill>
                  <a:blip r:embed="rId9"/>
                  <a:stretch>
                    <a:fillRect b="-2941"/>
                  </a:stretch>
                </a:blipFill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Connector 137">
              <a:extLst>
                <a:ext uri="{FF2B5EF4-FFF2-40B4-BE49-F238E27FC236}">
                  <a16:creationId xmlns:a16="http://schemas.microsoft.com/office/drawing/2014/main" id="{80679112-1430-8564-DF78-CCF2FA03FF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1817" y="2699018"/>
              <a:ext cx="0" cy="620686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37">
              <a:extLst>
                <a:ext uri="{FF2B5EF4-FFF2-40B4-BE49-F238E27FC236}">
                  <a16:creationId xmlns:a16="http://schemas.microsoft.com/office/drawing/2014/main" id="{92D468D7-38BE-30C0-D49C-4CCF218FCE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2752" y="2725420"/>
              <a:ext cx="0" cy="585852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30439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2">
                <a:lumMod val="90000"/>
              </a:schemeClr>
            </a:gs>
            <a:gs pos="51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8969FE-C8EF-ECD6-0943-D0F9F7713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4DCED-FAA2-94D7-B94C-599FF79CD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82145"/>
            <a:ext cx="11653766" cy="80583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Succes attempt = DP + Cycle Removal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671E136-87BA-5597-3125-F440408BC71D}"/>
                  </a:ext>
                </a:extLst>
              </p:cNvPr>
              <p:cNvSpPr/>
              <p:nvPr/>
            </p:nvSpPr>
            <p:spPr>
              <a:xfrm>
                <a:off x="1461115" y="2804324"/>
                <a:ext cx="1888760" cy="397291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671E136-87BA-5597-3125-F440408BC7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115" y="2804324"/>
                <a:ext cx="1888760" cy="397291"/>
              </a:xfrm>
              <a:prstGeom prst="rect">
                <a:avLst/>
              </a:prstGeom>
              <a:blipFill>
                <a:blip r:embed="rId2"/>
                <a:stretch>
                  <a:fillRect b="-294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8DE6E4B-6ABC-DF52-0F8D-4A610D2C2BF8}"/>
                  </a:ext>
                </a:extLst>
              </p:cNvPr>
              <p:cNvSpPr txBox="1"/>
              <p:nvPr/>
            </p:nvSpPr>
            <p:spPr>
              <a:xfrm>
                <a:off x="688903" y="1353414"/>
                <a:ext cx="11290325" cy="672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2060"/>
                    </a:solidFill>
                  </a:rPr>
                  <a:t>Ideas: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is of medium size (not long/short)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possible to “guess” approximately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8DE6E4B-6ABC-DF52-0F8D-4A610D2C2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903" y="1353414"/>
                <a:ext cx="11290325" cy="672556"/>
              </a:xfrm>
              <a:prstGeom prst="rect">
                <a:avLst/>
              </a:prstGeom>
              <a:blipFill>
                <a:blip r:embed="rId3"/>
                <a:stretch>
                  <a:fillRect l="-432" t="-3636" b="-1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AC9E9C00-6E7E-A671-BDED-999DC267357C}"/>
              </a:ext>
            </a:extLst>
          </p:cNvPr>
          <p:cNvGrpSpPr/>
          <p:nvPr/>
        </p:nvGrpSpPr>
        <p:grpSpPr>
          <a:xfrm>
            <a:off x="1122505" y="3482779"/>
            <a:ext cx="2773326" cy="2387626"/>
            <a:chOff x="1122505" y="3076132"/>
            <a:chExt cx="2773326" cy="23876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E0D1B244-1D17-446E-FAE8-C18FA5CCA98F}"/>
                    </a:ext>
                  </a:extLst>
                </p:cNvPr>
                <p:cNvSpPr/>
                <p:nvPr/>
              </p:nvSpPr>
              <p:spPr>
                <a:xfrm>
                  <a:off x="1122505" y="3076132"/>
                  <a:ext cx="2773326" cy="397291"/>
                </a:xfrm>
                <a:prstGeom prst="rect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E0D1B244-1D17-446E-FAE8-C18FA5CCA9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505" y="3076132"/>
                  <a:ext cx="2773326" cy="397291"/>
                </a:xfrm>
                <a:prstGeom prst="rect">
                  <a:avLst/>
                </a:prstGeom>
                <a:blipFill>
                  <a:blip r:embed="rId4"/>
                  <a:stretch>
                    <a:fillRect b="-4412"/>
                  </a:stretch>
                </a:blipFill>
                <a:ln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09B56B04-E83D-E755-C261-79649BBA1321}"/>
                    </a:ext>
                  </a:extLst>
                </p:cNvPr>
                <p:cNvSpPr/>
                <p:nvPr/>
              </p:nvSpPr>
              <p:spPr>
                <a:xfrm>
                  <a:off x="1387366" y="3702983"/>
                  <a:ext cx="2138615" cy="397291"/>
                </a:xfrm>
                <a:prstGeom prst="rect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09B56B04-E83D-E755-C261-79649BBA13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7366" y="3702983"/>
                  <a:ext cx="2138615" cy="397291"/>
                </a:xfrm>
                <a:prstGeom prst="rect">
                  <a:avLst/>
                </a:prstGeom>
                <a:blipFill>
                  <a:blip r:embed="rId5"/>
                  <a:stretch>
                    <a:fillRect b="-2941"/>
                  </a:stretch>
                </a:blipFill>
                <a:ln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90809788-D115-4165-13CD-709C28EF56DA}"/>
                    </a:ext>
                  </a:extLst>
                </p:cNvPr>
                <p:cNvSpPr/>
                <p:nvPr/>
              </p:nvSpPr>
              <p:spPr>
                <a:xfrm>
                  <a:off x="1454881" y="4439616"/>
                  <a:ext cx="1888760" cy="397291"/>
                </a:xfrm>
                <a:prstGeom prst="rect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90809788-D115-4165-13CD-709C28EF56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81" y="4439616"/>
                  <a:ext cx="1888760" cy="397291"/>
                </a:xfrm>
                <a:prstGeom prst="rect">
                  <a:avLst/>
                </a:prstGeom>
                <a:blipFill>
                  <a:blip r:embed="rId6"/>
                  <a:stretch>
                    <a:fillRect b="-2941"/>
                  </a:stretch>
                </a:blipFill>
                <a:ln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95D12FE-CA52-4990-6B09-A78286E6D1E8}"/>
                    </a:ext>
                  </a:extLst>
                </p:cNvPr>
                <p:cNvSpPr/>
                <p:nvPr/>
              </p:nvSpPr>
              <p:spPr>
                <a:xfrm>
                  <a:off x="1205026" y="5066467"/>
                  <a:ext cx="2408431" cy="397291"/>
                </a:xfrm>
                <a:prstGeom prst="rect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95D12FE-CA52-4990-6B09-A78286E6D1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5026" y="5066467"/>
                  <a:ext cx="2408431" cy="397291"/>
                </a:xfrm>
                <a:prstGeom prst="rect">
                  <a:avLst/>
                </a:prstGeom>
                <a:blipFill>
                  <a:blip r:embed="rId7"/>
                  <a:stretch>
                    <a:fillRect b="-2941"/>
                  </a:stretch>
                </a:blipFill>
                <a:ln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27207C1-D96A-EECC-648D-A507FCCC64ED}"/>
              </a:ext>
            </a:extLst>
          </p:cNvPr>
          <p:cNvGrpSpPr/>
          <p:nvPr/>
        </p:nvGrpSpPr>
        <p:grpSpPr>
          <a:xfrm>
            <a:off x="3895831" y="4210488"/>
            <a:ext cx="978408" cy="781064"/>
            <a:chOff x="3331951" y="3486379"/>
            <a:chExt cx="978408" cy="781064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9F55142-773C-031B-38FC-3EEAACF0E133}"/>
                </a:ext>
              </a:extLst>
            </p:cNvPr>
            <p:cNvSpPr txBox="1"/>
            <p:nvPr/>
          </p:nvSpPr>
          <p:spPr>
            <a:xfrm>
              <a:off x="3331951" y="3486379"/>
              <a:ext cx="7168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>
                  <a:solidFill>
                    <a:srgbClr val="C00000"/>
                  </a:solidFill>
                </a:rPr>
                <a:t>guess</a:t>
              </a:r>
            </a:p>
          </p:txBody>
        </p:sp>
        <p:sp>
          <p:nvSpPr>
            <p:cNvPr id="69" name="Arrow: Right 68">
              <a:extLst>
                <a:ext uri="{FF2B5EF4-FFF2-40B4-BE49-F238E27FC236}">
                  <a16:creationId xmlns:a16="http://schemas.microsoft.com/office/drawing/2014/main" id="{1FFF2DAF-4938-4D76-8825-DA767B73630A}"/>
                </a:ext>
              </a:extLst>
            </p:cNvPr>
            <p:cNvSpPr/>
            <p:nvPr/>
          </p:nvSpPr>
          <p:spPr>
            <a:xfrm>
              <a:off x="3331951" y="3782811"/>
              <a:ext cx="978408" cy="484632"/>
            </a:xfrm>
            <a:prstGeom prst="rightArrow">
              <a:avLst/>
            </a:prstGeom>
            <a:gradFill flip="none" rotWithShape="1">
              <a:gsLst>
                <a:gs pos="0">
                  <a:srgbClr val="215F9A"/>
                </a:gs>
                <a:gs pos="91000">
                  <a:schemeClr val="accent1">
                    <a:tint val="44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BBCDAE1-4798-55DA-F1C4-8281E7D778FC}"/>
              </a:ext>
            </a:extLst>
          </p:cNvPr>
          <p:cNvGrpSpPr/>
          <p:nvPr/>
        </p:nvGrpSpPr>
        <p:grpSpPr>
          <a:xfrm>
            <a:off x="5277143" y="3477206"/>
            <a:ext cx="2408430" cy="2393198"/>
            <a:chOff x="5277143" y="3070559"/>
            <a:chExt cx="2408430" cy="23931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EA081639-AB50-A6B3-BCA4-5CCA16571E6E}"/>
                    </a:ext>
                  </a:extLst>
                </p:cNvPr>
                <p:cNvSpPr/>
                <p:nvPr/>
              </p:nvSpPr>
              <p:spPr>
                <a:xfrm>
                  <a:off x="5297214" y="3070559"/>
                  <a:ext cx="2326990" cy="397291"/>
                </a:xfrm>
                <a:prstGeom prst="rect">
                  <a:avLst/>
                </a:prstGeom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EA081639-AB50-A6B3-BCA4-5CCA16571E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7214" y="3070559"/>
                  <a:ext cx="2326990" cy="397291"/>
                </a:xfrm>
                <a:prstGeom prst="rect">
                  <a:avLst/>
                </a:prstGeom>
                <a:blipFill>
                  <a:blip r:embed="rId8"/>
                  <a:stretch>
                    <a:fillRect b="-2899"/>
                  </a:stretch>
                </a:blipFill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A2754721-30EC-EF6E-B289-B93FCB81BC1B}"/>
                    </a:ext>
                  </a:extLst>
                </p:cNvPr>
                <p:cNvSpPr/>
                <p:nvPr/>
              </p:nvSpPr>
              <p:spPr>
                <a:xfrm>
                  <a:off x="5358918" y="3702982"/>
                  <a:ext cx="2220390" cy="397291"/>
                </a:xfrm>
                <a:prstGeom prst="rect">
                  <a:avLst/>
                </a:prstGeom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A2754721-30EC-EF6E-B289-B93FCB81BC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8918" y="3702982"/>
                  <a:ext cx="2220390" cy="397291"/>
                </a:xfrm>
                <a:prstGeom prst="rect">
                  <a:avLst/>
                </a:prstGeom>
                <a:blipFill>
                  <a:blip r:embed="rId9"/>
                  <a:stretch>
                    <a:fillRect b="-2941"/>
                  </a:stretch>
                </a:blipFill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A69A71E9-F0C8-562E-3D2E-38D2621889D2}"/>
                    </a:ext>
                  </a:extLst>
                </p:cNvPr>
                <p:cNvSpPr/>
                <p:nvPr/>
              </p:nvSpPr>
              <p:spPr>
                <a:xfrm>
                  <a:off x="5414372" y="4439615"/>
                  <a:ext cx="2083160" cy="397291"/>
                </a:xfrm>
                <a:prstGeom prst="rect">
                  <a:avLst/>
                </a:prstGeom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A69A71E9-F0C8-562E-3D2E-38D2621889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4372" y="4439615"/>
                  <a:ext cx="2083160" cy="397291"/>
                </a:xfrm>
                <a:prstGeom prst="rect">
                  <a:avLst/>
                </a:prstGeom>
                <a:blipFill>
                  <a:blip r:embed="rId10"/>
                  <a:stretch>
                    <a:fillRect b="-2941"/>
                  </a:stretch>
                </a:blipFill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EA55D579-12F2-5606-2A01-3D09AA523F53}"/>
                    </a:ext>
                  </a:extLst>
                </p:cNvPr>
                <p:cNvSpPr/>
                <p:nvPr/>
              </p:nvSpPr>
              <p:spPr>
                <a:xfrm>
                  <a:off x="5277143" y="5066466"/>
                  <a:ext cx="2408430" cy="397291"/>
                </a:xfrm>
                <a:prstGeom prst="rect">
                  <a:avLst/>
                </a:prstGeom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EA55D579-12F2-5606-2A01-3D09AA523F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7143" y="5066466"/>
                  <a:ext cx="2408430" cy="397291"/>
                </a:xfrm>
                <a:prstGeom prst="rect">
                  <a:avLst/>
                </a:prstGeom>
                <a:blipFill>
                  <a:blip r:embed="rId11"/>
                  <a:stretch>
                    <a:fillRect b="-2941"/>
                  </a:stretch>
                </a:blipFill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9" name="Right Brace 78">
            <a:extLst>
              <a:ext uri="{FF2B5EF4-FFF2-40B4-BE49-F238E27FC236}">
                <a16:creationId xmlns:a16="http://schemas.microsoft.com/office/drawing/2014/main" id="{93D76510-7CE9-78D2-A7F3-39C6FCB9976B}"/>
              </a:ext>
            </a:extLst>
          </p:cNvPr>
          <p:cNvSpPr/>
          <p:nvPr/>
        </p:nvSpPr>
        <p:spPr>
          <a:xfrm>
            <a:off x="8161952" y="3477206"/>
            <a:ext cx="272916" cy="243173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A92EB0B-E540-BF6C-DC76-DE404F50334A}"/>
              </a:ext>
            </a:extLst>
          </p:cNvPr>
          <p:cNvGrpSpPr/>
          <p:nvPr/>
        </p:nvGrpSpPr>
        <p:grpSpPr>
          <a:xfrm>
            <a:off x="8692691" y="3819070"/>
            <a:ext cx="1873783" cy="1396524"/>
            <a:chOff x="8692691" y="3412423"/>
            <a:chExt cx="1873783" cy="1396524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D27DF36-BBAA-8D52-DB1B-83BDD8803AA9}"/>
                </a:ext>
              </a:extLst>
            </p:cNvPr>
            <p:cNvSpPr txBox="1"/>
            <p:nvPr/>
          </p:nvSpPr>
          <p:spPr>
            <a:xfrm>
              <a:off x="8692691" y="4439615"/>
              <a:ext cx="18737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>
                  <a:solidFill>
                    <a:srgbClr val="C00000"/>
                  </a:solidFill>
                </a:rPr>
                <a:t>“Cycle Removal”</a:t>
              </a:r>
            </a:p>
          </p:txBody>
        </p:sp>
        <p:sp>
          <p:nvSpPr>
            <p:cNvPr id="82" name="Arrow: Right 81">
              <a:extLst>
                <a:ext uri="{FF2B5EF4-FFF2-40B4-BE49-F238E27FC236}">
                  <a16:creationId xmlns:a16="http://schemas.microsoft.com/office/drawing/2014/main" id="{7636DFF5-1273-F7A9-F188-9852370356B8}"/>
                </a:ext>
              </a:extLst>
            </p:cNvPr>
            <p:cNvSpPr/>
            <p:nvPr/>
          </p:nvSpPr>
          <p:spPr>
            <a:xfrm rot="16200000">
              <a:off x="9140379" y="3659311"/>
              <a:ext cx="978408" cy="484632"/>
            </a:xfrm>
            <a:prstGeom prst="rightArrow">
              <a:avLst/>
            </a:prstGeom>
            <a:gradFill>
              <a:gsLst>
                <a:gs pos="0">
                  <a:srgbClr val="215F9A"/>
                </a:gs>
                <a:gs pos="91000">
                  <a:schemeClr val="accent1">
                    <a:tint val="44500"/>
                    <a:satMod val="160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006B7C50-284B-5CC9-4B87-EA07EE9E3914}"/>
                  </a:ext>
                </a:extLst>
              </p:cNvPr>
              <p:cNvSpPr/>
              <p:nvPr/>
            </p:nvSpPr>
            <p:spPr>
              <a:xfrm>
                <a:off x="8617649" y="2892650"/>
                <a:ext cx="1888760" cy="397291"/>
              </a:xfrm>
              <a:prstGeom prst="rect">
                <a:avLst/>
              </a:prstGeom>
              <a:ln>
                <a:solidFill>
                  <a:srgbClr val="FFC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006B7C50-284B-5CC9-4B87-EA07EE9E39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7649" y="2892650"/>
                <a:ext cx="1888760" cy="397291"/>
              </a:xfrm>
              <a:prstGeom prst="rect">
                <a:avLst/>
              </a:prstGeom>
              <a:blipFill>
                <a:blip r:embed="rId12"/>
                <a:stretch>
                  <a:fillRect b="-2941"/>
                </a:stretch>
              </a:blipFill>
              <a:ln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9BA5C7E-F056-B2D3-E06D-3127020937DE}"/>
              </a:ext>
            </a:extLst>
          </p:cNvPr>
          <p:cNvGrpSpPr/>
          <p:nvPr/>
        </p:nvGrpSpPr>
        <p:grpSpPr>
          <a:xfrm>
            <a:off x="4993002" y="2779059"/>
            <a:ext cx="2925900" cy="602899"/>
            <a:chOff x="4993002" y="2372412"/>
            <a:chExt cx="2925900" cy="60289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63CD4F3-391F-2D00-A464-07E6C9479147}"/>
                </a:ext>
              </a:extLst>
            </p:cNvPr>
            <p:cNvSpPr txBox="1"/>
            <p:nvPr/>
          </p:nvSpPr>
          <p:spPr>
            <a:xfrm>
              <a:off x="5555782" y="2372412"/>
              <a:ext cx="1941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>
                  <a:solidFill>
                    <a:srgbClr val="C00000"/>
                  </a:solidFill>
                </a:rPr>
                <a:t>shares a long LCS</a:t>
              </a:r>
            </a:p>
          </p:txBody>
        </p:sp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07979729-5DDC-E7A0-A8DB-979F93B376DA}"/>
                </a:ext>
              </a:extLst>
            </p:cNvPr>
            <p:cNvSpPr/>
            <p:nvPr/>
          </p:nvSpPr>
          <p:spPr>
            <a:xfrm>
              <a:off x="4993002" y="2665593"/>
              <a:ext cx="2925900" cy="309718"/>
            </a:xfrm>
            <a:prstGeom prst="leftRightArrow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56000">
                  <a:srgbClr val="00B050"/>
                </a:gs>
                <a:gs pos="100000">
                  <a:schemeClr val="accent3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9B0694-524E-4950-A705-BE3A0FA92B87}"/>
                  </a:ext>
                </a:extLst>
              </p:cNvPr>
              <p:cNvSpPr txBox="1"/>
              <p:nvPr/>
            </p:nvSpPr>
            <p:spPr>
              <a:xfrm>
                <a:off x="688903" y="1946476"/>
                <a:ext cx="11472046" cy="39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002060"/>
                    </a:solidFill>
                  </a:rPr>
                  <a:t>Fix an index block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>
                    <a:solidFill>
                      <a:srgbClr val="002060"/>
                    </a:solidFill>
                  </a:rPr>
                  <a:t>, if at least 4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5,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002060"/>
                    </a:solidFill>
                  </a:rPr>
                  <a:t>are of medium size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>
                    <a:solidFill>
                      <a:srgbClr val="002060"/>
                    </a:solidFill>
                  </a:rPr>
                  <a:t> “reconstruct”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002060"/>
                    </a:solidFill>
                  </a:rPr>
                  <a:t> via “cycle removal”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9B0694-524E-4950-A705-BE3A0FA92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903" y="1946476"/>
                <a:ext cx="11472046" cy="395558"/>
              </a:xfrm>
              <a:prstGeom prst="rect">
                <a:avLst/>
              </a:prstGeom>
              <a:blipFill>
                <a:blip r:embed="rId13"/>
                <a:stretch>
                  <a:fillRect l="-319" t="-4615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8869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1" grpId="0" build="allAtOnce"/>
      <p:bldP spid="79" grpId="0" animBg="1"/>
      <p:bldP spid="84" grpId="0" animBg="1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2">
                <a:lumMod val="90000"/>
              </a:schemeClr>
            </a:gs>
            <a:gs pos="51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9D8447-38CF-2012-B77D-1462DA2CE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C5917-301A-8B78-2B76-F970F338B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82145"/>
            <a:ext cx="11653766" cy="80583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Ideal: this situation happens for all blocks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7DEF9E-1040-059F-5285-0883E5A34149}"/>
              </a:ext>
            </a:extLst>
          </p:cNvPr>
          <p:cNvSpPr txBox="1"/>
          <p:nvPr/>
        </p:nvSpPr>
        <p:spPr>
          <a:xfrm>
            <a:off x="669984" y="1170833"/>
            <a:ext cx="112903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Aptos (Body)"/>
              </a:rPr>
              <a:t>Ideas: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ptos (Body)"/>
              </a:rPr>
              <a:t>Combining blocks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060"/>
                </a:solidFill>
                <a:latin typeface="Aptos (Body)"/>
              </a:rPr>
              <a:t>Collect constructed blocks into a single machine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i="1" dirty="0">
                <a:solidFill>
                  <a:srgbClr val="002060"/>
                </a:solidFill>
                <a:latin typeface="Aptos (Body)"/>
              </a:rPr>
              <a:t>DP</a:t>
            </a:r>
            <a:r>
              <a:rPr lang="en-US" dirty="0">
                <a:solidFill>
                  <a:srgbClr val="002060"/>
                </a:solidFill>
                <a:latin typeface="Aptos (Body)"/>
              </a:rPr>
              <a:t>: build a string from these blocks</a:t>
            </a:r>
            <a:endParaRPr lang="en-US" b="1" dirty="0">
              <a:solidFill>
                <a:srgbClr val="002060"/>
              </a:solidFill>
              <a:latin typeface="Aptos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Aptos (Body)"/>
            </a:endParaRPr>
          </a:p>
        </p:txBody>
      </p:sp>
      <p:grpSp>
        <p:nvGrpSpPr>
          <p:cNvPr id="35" name="Nhóm 34">
            <a:extLst>
              <a:ext uri="{FF2B5EF4-FFF2-40B4-BE49-F238E27FC236}">
                <a16:creationId xmlns:a16="http://schemas.microsoft.com/office/drawing/2014/main" id="{7DA74D8D-4786-7928-A2B0-FD1C4FD38304}"/>
              </a:ext>
            </a:extLst>
          </p:cNvPr>
          <p:cNvGrpSpPr/>
          <p:nvPr/>
        </p:nvGrpSpPr>
        <p:grpSpPr>
          <a:xfrm>
            <a:off x="3105078" y="3429000"/>
            <a:ext cx="1888760" cy="375661"/>
            <a:chOff x="2935488" y="3504822"/>
            <a:chExt cx="1888760" cy="375661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4BD2FCE-03A4-222E-A599-C72D83A86D55}"/>
                </a:ext>
              </a:extLst>
            </p:cNvPr>
            <p:cNvCxnSpPr>
              <a:cxnSpLocks/>
            </p:cNvCxnSpPr>
            <p:nvPr/>
          </p:nvCxnSpPr>
          <p:spPr>
            <a:xfrm>
              <a:off x="2935488" y="3504822"/>
              <a:ext cx="188876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FC1E410-0927-EA74-16FA-4431E3A2619F}"/>
                    </a:ext>
                  </a:extLst>
                </p:cNvPr>
                <p:cNvSpPr txBox="1"/>
                <p:nvPr/>
              </p:nvSpPr>
              <p:spPr>
                <a:xfrm>
                  <a:off x="3418299" y="3511151"/>
                  <a:ext cx="9231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sup>
                        </m:sSup>
                      </m:oMath>
                    </m:oMathPara>
                  </a14:m>
                  <a:endParaRPr lang="en-US">
                    <a:solidFill>
                      <a:srgbClr val="215F9A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FC1E410-0927-EA74-16FA-4431E3A261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8299" y="3511151"/>
                  <a:ext cx="92313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694D1069-50FA-7CA5-350A-E373CADB0D2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105078" y="278973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694D1069-50FA-7CA5-350A-E373CADB0D2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105078" y="2789733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3" t="-7576" r="-220323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7576" r="-119614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7949" t="-7576" r="-641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9" name="Nhóm 48">
            <a:extLst>
              <a:ext uri="{FF2B5EF4-FFF2-40B4-BE49-F238E27FC236}">
                <a16:creationId xmlns:a16="http://schemas.microsoft.com/office/drawing/2014/main" id="{61FAD1B9-EFFC-4988-9745-EFA90DECBBF3}"/>
              </a:ext>
            </a:extLst>
          </p:cNvPr>
          <p:cNvGrpSpPr/>
          <p:nvPr/>
        </p:nvGrpSpPr>
        <p:grpSpPr>
          <a:xfrm>
            <a:off x="1896642" y="3356845"/>
            <a:ext cx="1260047" cy="363259"/>
            <a:chOff x="1727052" y="3432667"/>
            <a:chExt cx="1260047" cy="363259"/>
          </a:xfrm>
        </p:grpSpPr>
        <p:sp>
          <p:nvSpPr>
            <p:cNvPr id="51" name="Arrow: Right 50">
              <a:extLst>
                <a:ext uri="{FF2B5EF4-FFF2-40B4-BE49-F238E27FC236}">
                  <a16:creationId xmlns:a16="http://schemas.microsoft.com/office/drawing/2014/main" id="{E539AA78-F083-F7AA-AEC5-FEDC0612607D}"/>
                </a:ext>
              </a:extLst>
            </p:cNvPr>
            <p:cNvSpPr/>
            <p:nvPr/>
          </p:nvSpPr>
          <p:spPr>
            <a:xfrm rot="19540988">
              <a:off x="1727052" y="3552739"/>
              <a:ext cx="1260047" cy="243187"/>
            </a:xfrm>
            <a:prstGeom prst="rightArrow">
              <a:avLst>
                <a:gd name="adj1" fmla="val 41916"/>
                <a:gd name="adj2" fmla="val 50000"/>
              </a:avLst>
            </a:prstGeom>
            <a:solidFill>
              <a:srgbClr val="215F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BB1E9C7-4A7F-6ED6-214B-7AF932FF5982}"/>
                </a:ext>
              </a:extLst>
            </p:cNvPr>
            <p:cNvSpPr txBox="1"/>
            <p:nvPr/>
          </p:nvSpPr>
          <p:spPr>
            <a:xfrm rot="19503392">
              <a:off x="1736561" y="3432667"/>
              <a:ext cx="9456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>
                  <a:solidFill>
                    <a:srgbClr val="215F9A"/>
                  </a:solidFill>
                </a:rPr>
                <a:t>candidates</a:t>
              </a:r>
            </a:p>
          </p:txBody>
        </p:sp>
      </p:grpSp>
      <p:grpSp>
        <p:nvGrpSpPr>
          <p:cNvPr id="9" name="Nhóm 8">
            <a:extLst>
              <a:ext uri="{FF2B5EF4-FFF2-40B4-BE49-F238E27FC236}">
                <a16:creationId xmlns:a16="http://schemas.microsoft.com/office/drawing/2014/main" id="{C2A3513C-6A22-A83B-4F48-6B5259FB5C66}"/>
              </a:ext>
            </a:extLst>
          </p:cNvPr>
          <p:cNvGrpSpPr/>
          <p:nvPr/>
        </p:nvGrpSpPr>
        <p:grpSpPr>
          <a:xfrm>
            <a:off x="518160" y="3926187"/>
            <a:ext cx="3097950" cy="1723909"/>
            <a:chOff x="2935489" y="5240770"/>
            <a:chExt cx="3097950" cy="1723909"/>
          </a:xfrm>
        </p:grpSpPr>
        <p:sp>
          <p:nvSpPr>
            <p:cNvPr id="3" name="Rectangle: Rounded Corners 13">
              <a:extLst>
                <a:ext uri="{FF2B5EF4-FFF2-40B4-BE49-F238E27FC236}">
                  <a16:creationId xmlns:a16="http://schemas.microsoft.com/office/drawing/2014/main" id="{B949D52D-C066-2DC1-DB74-3BF17116039A}"/>
                </a:ext>
              </a:extLst>
            </p:cNvPr>
            <p:cNvSpPr/>
            <p:nvPr/>
          </p:nvSpPr>
          <p:spPr>
            <a:xfrm>
              <a:off x="2935489" y="5240770"/>
              <a:ext cx="3097950" cy="1723909"/>
            </a:xfrm>
            <a:prstGeom prst="roundRect">
              <a:avLst/>
            </a:prstGeom>
            <a:solidFill>
              <a:srgbClr val="ECF3F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rgbClr val="215F9A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8B0C355-5E97-1570-154F-64A1E23EF55C}"/>
                </a:ext>
              </a:extLst>
            </p:cNvPr>
            <p:cNvSpPr txBox="1"/>
            <p:nvPr/>
          </p:nvSpPr>
          <p:spPr>
            <a:xfrm>
              <a:off x="3313156" y="6203669"/>
              <a:ext cx="24157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Constructed blocks via “cycle removal”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Hình chữ nhật: Góc Tròn 3">
                  <a:extLst>
                    <a:ext uri="{FF2B5EF4-FFF2-40B4-BE49-F238E27FC236}">
                      <a16:creationId xmlns:a16="http://schemas.microsoft.com/office/drawing/2014/main" id="{5ED44822-4214-AEF7-0CD0-252FEA5E3AC3}"/>
                    </a:ext>
                  </a:extLst>
                </p:cNvPr>
                <p:cNvSpPr/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215F9A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Hình chữ nhật: Góc Tròn 3">
                  <a:extLst>
                    <a:ext uri="{FF2B5EF4-FFF2-40B4-BE49-F238E27FC236}">
                      <a16:creationId xmlns:a16="http://schemas.microsoft.com/office/drawing/2014/main" id="{5ED44822-4214-AEF7-0CD0-252FEA5E3A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Hình chữ nhật: Góc Tròn 4">
                  <a:extLst>
                    <a:ext uri="{FF2B5EF4-FFF2-40B4-BE49-F238E27FC236}">
                      <a16:creationId xmlns:a16="http://schemas.microsoft.com/office/drawing/2014/main" id="{A006F4A0-51AD-E169-4ECB-D37E44B547A5}"/>
                    </a:ext>
                  </a:extLst>
                </p:cNvPr>
                <p:cNvSpPr/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Hình chữ nhật: Góc Tròn 4">
                  <a:extLst>
                    <a:ext uri="{FF2B5EF4-FFF2-40B4-BE49-F238E27FC236}">
                      <a16:creationId xmlns:a16="http://schemas.microsoft.com/office/drawing/2014/main" id="{A006F4A0-51AD-E169-4ECB-D37E44B547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Hình chữ nhật: Góc Tròn 5">
                  <a:extLst>
                    <a:ext uri="{FF2B5EF4-FFF2-40B4-BE49-F238E27FC236}">
                      <a16:creationId xmlns:a16="http://schemas.microsoft.com/office/drawing/2014/main" id="{4CE6F74C-41FF-DDBD-3E55-339833CCEE4F}"/>
                    </a:ext>
                  </a:extLst>
                </p:cNvPr>
                <p:cNvSpPr/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′′′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" name="Hình chữ nhật: Góc Tròn 5">
                  <a:extLst>
                    <a:ext uri="{FF2B5EF4-FFF2-40B4-BE49-F238E27FC236}">
                      <a16:creationId xmlns:a16="http://schemas.microsoft.com/office/drawing/2014/main" id="{4CE6F74C-41FF-DDBD-3E55-339833CCEE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46">
              <a:extLst>
                <a:ext uri="{FF2B5EF4-FFF2-40B4-BE49-F238E27FC236}">
                  <a16:creationId xmlns:a16="http://schemas.microsoft.com/office/drawing/2014/main" id="{84F29CB4-A209-CAAD-ABD1-0F07C7518A24}"/>
                </a:ext>
              </a:extLst>
            </p:cNvPr>
            <p:cNvSpPr txBox="1"/>
            <p:nvPr/>
          </p:nvSpPr>
          <p:spPr>
            <a:xfrm>
              <a:off x="4290957" y="5957324"/>
              <a:ext cx="3644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…</a:t>
              </a:r>
            </a:p>
          </p:txBody>
        </p:sp>
      </p:grpSp>
      <p:grpSp>
        <p:nvGrpSpPr>
          <p:cNvPr id="48" name="Nhóm 47">
            <a:extLst>
              <a:ext uri="{FF2B5EF4-FFF2-40B4-BE49-F238E27FC236}">
                <a16:creationId xmlns:a16="http://schemas.microsoft.com/office/drawing/2014/main" id="{49531879-C9B2-6D24-BCF0-B7627AE751F3}"/>
              </a:ext>
            </a:extLst>
          </p:cNvPr>
          <p:cNvGrpSpPr/>
          <p:nvPr/>
        </p:nvGrpSpPr>
        <p:grpSpPr>
          <a:xfrm>
            <a:off x="5930745" y="3211372"/>
            <a:ext cx="1106541" cy="901627"/>
            <a:chOff x="5761155" y="3287194"/>
            <a:chExt cx="1106541" cy="901627"/>
          </a:xfrm>
        </p:grpSpPr>
        <p:sp>
          <p:nvSpPr>
            <p:cNvPr id="36" name="Arrow: Right 50">
              <a:extLst>
                <a:ext uri="{FF2B5EF4-FFF2-40B4-BE49-F238E27FC236}">
                  <a16:creationId xmlns:a16="http://schemas.microsoft.com/office/drawing/2014/main" id="{89D0E1FF-2C4C-EC41-D017-6BABA5108E3A}"/>
                </a:ext>
              </a:extLst>
            </p:cNvPr>
            <p:cNvSpPr/>
            <p:nvPr/>
          </p:nvSpPr>
          <p:spPr>
            <a:xfrm rot="16200000">
              <a:off x="5431935" y="3616414"/>
              <a:ext cx="901627" cy="243187"/>
            </a:xfrm>
            <a:prstGeom prst="rightArrow">
              <a:avLst>
                <a:gd name="adj1" fmla="val 41916"/>
                <a:gd name="adj2" fmla="val 50000"/>
              </a:avLst>
            </a:prstGeom>
            <a:solidFill>
              <a:srgbClr val="215F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51">
              <a:extLst>
                <a:ext uri="{FF2B5EF4-FFF2-40B4-BE49-F238E27FC236}">
                  <a16:creationId xmlns:a16="http://schemas.microsoft.com/office/drawing/2014/main" id="{40E9FB07-752F-21C6-1686-A3E2EA343F5D}"/>
                </a:ext>
              </a:extLst>
            </p:cNvPr>
            <p:cNvSpPr txBox="1"/>
            <p:nvPr/>
          </p:nvSpPr>
          <p:spPr>
            <a:xfrm>
              <a:off x="5922011" y="3528672"/>
              <a:ext cx="9456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>
                  <a:solidFill>
                    <a:srgbClr val="215F9A"/>
                  </a:solidFill>
                </a:rPr>
                <a:t>candidates</a:t>
              </a:r>
            </a:p>
          </p:txBody>
        </p:sp>
      </p:grpSp>
      <p:grpSp>
        <p:nvGrpSpPr>
          <p:cNvPr id="10" name="Nhóm 9">
            <a:extLst>
              <a:ext uri="{FF2B5EF4-FFF2-40B4-BE49-F238E27FC236}">
                <a16:creationId xmlns:a16="http://schemas.microsoft.com/office/drawing/2014/main" id="{5F0C474A-C8D4-C71C-A122-15D385370F6E}"/>
              </a:ext>
            </a:extLst>
          </p:cNvPr>
          <p:cNvGrpSpPr/>
          <p:nvPr/>
        </p:nvGrpSpPr>
        <p:grpSpPr>
          <a:xfrm>
            <a:off x="4575277" y="3995683"/>
            <a:ext cx="3097950" cy="1723909"/>
            <a:chOff x="2935489" y="5240770"/>
            <a:chExt cx="3097950" cy="1723909"/>
          </a:xfrm>
        </p:grpSpPr>
        <p:sp>
          <p:nvSpPr>
            <p:cNvPr id="11" name="Rectangle: Rounded Corners 13">
              <a:extLst>
                <a:ext uri="{FF2B5EF4-FFF2-40B4-BE49-F238E27FC236}">
                  <a16:creationId xmlns:a16="http://schemas.microsoft.com/office/drawing/2014/main" id="{5F6ECE3B-81AE-E32D-9389-742D8D46621B}"/>
                </a:ext>
              </a:extLst>
            </p:cNvPr>
            <p:cNvSpPr/>
            <p:nvPr/>
          </p:nvSpPr>
          <p:spPr>
            <a:xfrm>
              <a:off x="2935489" y="5240770"/>
              <a:ext cx="3097950" cy="1723909"/>
            </a:xfrm>
            <a:prstGeom prst="roundRect">
              <a:avLst/>
            </a:prstGeom>
            <a:solidFill>
              <a:srgbClr val="ECF3F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rgbClr val="215F9A"/>
                </a:solidFill>
              </a:endParaRPr>
            </a:p>
          </p:txBody>
        </p:sp>
        <p:sp>
          <p:nvSpPr>
            <p:cNvPr id="12" name="TextBox 46">
              <a:extLst>
                <a:ext uri="{FF2B5EF4-FFF2-40B4-BE49-F238E27FC236}">
                  <a16:creationId xmlns:a16="http://schemas.microsoft.com/office/drawing/2014/main" id="{38E123DE-8322-A88C-DF65-747F459FA9B6}"/>
                </a:ext>
              </a:extLst>
            </p:cNvPr>
            <p:cNvSpPr txBox="1"/>
            <p:nvPr/>
          </p:nvSpPr>
          <p:spPr>
            <a:xfrm>
              <a:off x="3313156" y="6203669"/>
              <a:ext cx="24157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Constructed blocks via “cycle removal”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Hình chữ nhật: Góc Tròn 12">
                  <a:extLst>
                    <a:ext uri="{FF2B5EF4-FFF2-40B4-BE49-F238E27FC236}">
                      <a16:creationId xmlns:a16="http://schemas.microsoft.com/office/drawing/2014/main" id="{3072D5E0-73D7-CEED-96DD-4137D6471E14}"/>
                    </a:ext>
                  </a:extLst>
                </p:cNvPr>
                <p:cNvSpPr/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215F9A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Hình chữ nhật: Góc Tròn 12">
                  <a:extLst>
                    <a:ext uri="{FF2B5EF4-FFF2-40B4-BE49-F238E27FC236}">
                      <a16:creationId xmlns:a16="http://schemas.microsoft.com/office/drawing/2014/main" id="{3072D5E0-73D7-CEED-96DD-4137D6471E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Hình chữ nhật: Góc Tròn 22">
                  <a:extLst>
                    <a:ext uri="{FF2B5EF4-FFF2-40B4-BE49-F238E27FC236}">
                      <a16:creationId xmlns:a16="http://schemas.microsoft.com/office/drawing/2014/main" id="{8A4A4F04-CDC5-EB67-8FD4-23CDCB50683E}"/>
                    </a:ext>
                  </a:extLst>
                </p:cNvPr>
                <p:cNvSpPr/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Hình chữ nhật: Góc Tròn 22">
                  <a:extLst>
                    <a:ext uri="{FF2B5EF4-FFF2-40B4-BE49-F238E27FC236}">
                      <a16:creationId xmlns:a16="http://schemas.microsoft.com/office/drawing/2014/main" id="{8A4A4F04-CDC5-EB67-8FD4-23CDCB5068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Hình chữ nhật: Góc Tròn 23">
                  <a:extLst>
                    <a:ext uri="{FF2B5EF4-FFF2-40B4-BE49-F238E27FC236}">
                      <a16:creationId xmlns:a16="http://schemas.microsoft.com/office/drawing/2014/main" id="{918E422C-C9D4-2D2B-93A6-3A85E7586330}"/>
                    </a:ext>
                  </a:extLst>
                </p:cNvPr>
                <p:cNvSpPr/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′′′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4" name="Hình chữ nhật: Góc Tròn 23">
                  <a:extLst>
                    <a:ext uri="{FF2B5EF4-FFF2-40B4-BE49-F238E27FC236}">
                      <a16:creationId xmlns:a16="http://schemas.microsoft.com/office/drawing/2014/main" id="{918E422C-C9D4-2D2B-93A6-3A85E75863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46">
              <a:extLst>
                <a:ext uri="{FF2B5EF4-FFF2-40B4-BE49-F238E27FC236}">
                  <a16:creationId xmlns:a16="http://schemas.microsoft.com/office/drawing/2014/main" id="{A79E6813-8A99-A202-FC84-3B9D62553757}"/>
                </a:ext>
              </a:extLst>
            </p:cNvPr>
            <p:cNvSpPr txBox="1"/>
            <p:nvPr/>
          </p:nvSpPr>
          <p:spPr>
            <a:xfrm>
              <a:off x="4290957" y="5957324"/>
              <a:ext cx="3644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…</a:t>
              </a:r>
            </a:p>
          </p:txBody>
        </p:sp>
      </p:grpSp>
      <p:grpSp>
        <p:nvGrpSpPr>
          <p:cNvPr id="40" name="Nhóm 39">
            <a:extLst>
              <a:ext uri="{FF2B5EF4-FFF2-40B4-BE49-F238E27FC236}">
                <a16:creationId xmlns:a16="http://schemas.microsoft.com/office/drawing/2014/main" id="{68CF26FF-8A63-745F-377B-4F6EF5096D07}"/>
              </a:ext>
            </a:extLst>
          </p:cNvPr>
          <p:cNvGrpSpPr/>
          <p:nvPr/>
        </p:nvGrpSpPr>
        <p:grpSpPr>
          <a:xfrm>
            <a:off x="9502407" y="3038580"/>
            <a:ext cx="433245" cy="1260047"/>
            <a:chOff x="9332817" y="3114402"/>
            <a:chExt cx="433245" cy="1260047"/>
          </a:xfrm>
        </p:grpSpPr>
        <p:sp>
          <p:nvSpPr>
            <p:cNvPr id="38" name="Arrow: Right 50">
              <a:extLst>
                <a:ext uri="{FF2B5EF4-FFF2-40B4-BE49-F238E27FC236}">
                  <a16:creationId xmlns:a16="http://schemas.microsoft.com/office/drawing/2014/main" id="{6A3C6C52-67A3-2C13-1998-90A13ADD8388}"/>
                </a:ext>
              </a:extLst>
            </p:cNvPr>
            <p:cNvSpPr/>
            <p:nvPr/>
          </p:nvSpPr>
          <p:spPr>
            <a:xfrm rot="13657088">
              <a:off x="8824387" y="3622832"/>
              <a:ext cx="1260047" cy="243187"/>
            </a:xfrm>
            <a:prstGeom prst="rightArrow">
              <a:avLst>
                <a:gd name="adj1" fmla="val 41916"/>
                <a:gd name="adj2" fmla="val 50000"/>
              </a:avLst>
            </a:prstGeom>
            <a:solidFill>
              <a:srgbClr val="215F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51">
              <a:extLst>
                <a:ext uri="{FF2B5EF4-FFF2-40B4-BE49-F238E27FC236}">
                  <a16:creationId xmlns:a16="http://schemas.microsoft.com/office/drawing/2014/main" id="{094D0333-D8B7-7151-6DC7-069DD4AD8AD9}"/>
                </a:ext>
              </a:extLst>
            </p:cNvPr>
            <p:cNvSpPr txBox="1"/>
            <p:nvPr/>
          </p:nvSpPr>
          <p:spPr>
            <a:xfrm rot="2896448">
              <a:off x="9154720" y="3535833"/>
              <a:ext cx="9456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>
                  <a:solidFill>
                    <a:srgbClr val="215F9A"/>
                  </a:solidFill>
                </a:rPr>
                <a:t>candidates</a:t>
              </a:r>
            </a:p>
          </p:txBody>
        </p:sp>
      </p:grpSp>
      <p:grpSp>
        <p:nvGrpSpPr>
          <p:cNvPr id="26" name="Nhóm 25">
            <a:extLst>
              <a:ext uri="{FF2B5EF4-FFF2-40B4-BE49-F238E27FC236}">
                <a16:creationId xmlns:a16="http://schemas.microsoft.com/office/drawing/2014/main" id="{8E8C8B53-44AC-E9FC-D858-8C34C20A221E}"/>
              </a:ext>
            </a:extLst>
          </p:cNvPr>
          <p:cNvGrpSpPr/>
          <p:nvPr/>
        </p:nvGrpSpPr>
        <p:grpSpPr>
          <a:xfrm>
            <a:off x="8651028" y="3995682"/>
            <a:ext cx="3097950" cy="1723909"/>
            <a:chOff x="2935489" y="5240770"/>
            <a:chExt cx="3097950" cy="1723909"/>
          </a:xfrm>
        </p:grpSpPr>
        <p:sp>
          <p:nvSpPr>
            <p:cNvPr id="28" name="Rectangle: Rounded Corners 13">
              <a:extLst>
                <a:ext uri="{FF2B5EF4-FFF2-40B4-BE49-F238E27FC236}">
                  <a16:creationId xmlns:a16="http://schemas.microsoft.com/office/drawing/2014/main" id="{A3818B80-A459-46BB-1B3A-3F746C089C0D}"/>
                </a:ext>
              </a:extLst>
            </p:cNvPr>
            <p:cNvSpPr/>
            <p:nvPr/>
          </p:nvSpPr>
          <p:spPr>
            <a:xfrm>
              <a:off x="2935489" y="5240770"/>
              <a:ext cx="3097950" cy="1723909"/>
            </a:xfrm>
            <a:prstGeom prst="roundRect">
              <a:avLst/>
            </a:prstGeom>
            <a:solidFill>
              <a:srgbClr val="ECF3F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rgbClr val="215F9A"/>
                </a:solidFill>
              </a:endParaRPr>
            </a:p>
          </p:txBody>
        </p:sp>
        <p:sp>
          <p:nvSpPr>
            <p:cNvPr id="30" name="TextBox 46">
              <a:extLst>
                <a:ext uri="{FF2B5EF4-FFF2-40B4-BE49-F238E27FC236}">
                  <a16:creationId xmlns:a16="http://schemas.microsoft.com/office/drawing/2014/main" id="{9E4F768A-367C-0FE3-A11F-55B3E864A8E1}"/>
                </a:ext>
              </a:extLst>
            </p:cNvPr>
            <p:cNvSpPr txBox="1"/>
            <p:nvPr/>
          </p:nvSpPr>
          <p:spPr>
            <a:xfrm>
              <a:off x="3313156" y="6203669"/>
              <a:ext cx="24157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Constructed blocks via “cycle removal”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Hình chữ nhật: Góc Tròn 30">
                  <a:extLst>
                    <a:ext uri="{FF2B5EF4-FFF2-40B4-BE49-F238E27FC236}">
                      <a16:creationId xmlns:a16="http://schemas.microsoft.com/office/drawing/2014/main" id="{E1364314-5E49-5C65-EE71-EDFB22B488CC}"/>
                    </a:ext>
                  </a:extLst>
                </p:cNvPr>
                <p:cNvSpPr/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Hình chữ nhật: Góc Tròn 30">
                  <a:extLst>
                    <a:ext uri="{FF2B5EF4-FFF2-40B4-BE49-F238E27FC236}">
                      <a16:creationId xmlns:a16="http://schemas.microsoft.com/office/drawing/2014/main" id="{E1364314-5E49-5C65-EE71-EDFB22B488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Hình chữ nhật: Góc Tròn 31">
                  <a:extLst>
                    <a:ext uri="{FF2B5EF4-FFF2-40B4-BE49-F238E27FC236}">
                      <a16:creationId xmlns:a16="http://schemas.microsoft.com/office/drawing/2014/main" id="{BDF94E4A-822F-FBF8-7FE0-31EA4F83BF86}"/>
                    </a:ext>
                  </a:extLst>
                </p:cNvPr>
                <p:cNvSpPr/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" name="Hình chữ nhật: Góc Tròn 31">
                  <a:extLst>
                    <a:ext uri="{FF2B5EF4-FFF2-40B4-BE49-F238E27FC236}">
                      <a16:creationId xmlns:a16="http://schemas.microsoft.com/office/drawing/2014/main" id="{BDF94E4A-822F-FBF8-7FE0-31EA4F83BF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Hình chữ nhật: Góc Tròn 32">
                  <a:extLst>
                    <a:ext uri="{FF2B5EF4-FFF2-40B4-BE49-F238E27FC236}">
                      <a16:creationId xmlns:a16="http://schemas.microsoft.com/office/drawing/2014/main" id="{90BB0960-D1AE-B993-BC2E-B388965A52E0}"/>
                    </a:ext>
                  </a:extLst>
                </p:cNvPr>
                <p:cNvSpPr/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′′′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" name="Hình chữ nhật: Góc Tròn 32">
                  <a:extLst>
                    <a:ext uri="{FF2B5EF4-FFF2-40B4-BE49-F238E27FC236}">
                      <a16:creationId xmlns:a16="http://schemas.microsoft.com/office/drawing/2014/main" id="{90BB0960-D1AE-B993-BC2E-B388965A52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TextBox 46">
              <a:extLst>
                <a:ext uri="{FF2B5EF4-FFF2-40B4-BE49-F238E27FC236}">
                  <a16:creationId xmlns:a16="http://schemas.microsoft.com/office/drawing/2014/main" id="{F0082B76-C385-59D1-AB93-C5126E0EF5BE}"/>
                </a:ext>
              </a:extLst>
            </p:cNvPr>
            <p:cNvSpPr txBox="1"/>
            <p:nvPr/>
          </p:nvSpPr>
          <p:spPr>
            <a:xfrm>
              <a:off x="4290957" y="5957324"/>
              <a:ext cx="3644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4066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uiExpand="1" build="allAtOnce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2">
                <a:lumMod val="90000"/>
              </a:schemeClr>
            </a:gs>
            <a:gs pos="51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B22C17-AFF3-7DFC-B3C1-3FB1A5E33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225CF-8A09-ADD0-58ED-4C4A92269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82145"/>
            <a:ext cx="11653766" cy="80583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Long blocks, short blocks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736CEA8-24F7-82FF-4326-6418B9A35809}"/>
                  </a:ext>
                </a:extLst>
              </p:cNvPr>
              <p:cNvSpPr/>
              <p:nvPr/>
            </p:nvSpPr>
            <p:spPr>
              <a:xfrm>
                <a:off x="3537782" y="3801318"/>
                <a:ext cx="1888760" cy="397291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736CEA8-24F7-82FF-4326-6418B9A35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782" y="3801318"/>
                <a:ext cx="1888760" cy="397291"/>
              </a:xfrm>
              <a:prstGeom prst="rect">
                <a:avLst/>
              </a:prstGeom>
              <a:blipFill>
                <a:blip r:embed="rId2"/>
                <a:stretch>
                  <a:fillRect b="-294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48F5D09-FB97-1431-524E-371A0DE6B4ED}"/>
                  </a:ext>
                </a:extLst>
              </p:cNvPr>
              <p:cNvSpPr txBox="1"/>
              <p:nvPr/>
            </p:nvSpPr>
            <p:spPr>
              <a:xfrm>
                <a:off x="688903" y="1353414"/>
                <a:ext cx="11290325" cy="672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2060"/>
                    </a:solidFill>
                  </a:rPr>
                  <a:t>Ideas: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is long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48F5D09-FB97-1431-524E-371A0DE6B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903" y="1353414"/>
                <a:ext cx="11290325" cy="672556"/>
              </a:xfrm>
              <a:prstGeom prst="rect">
                <a:avLst/>
              </a:prstGeom>
              <a:blipFill>
                <a:blip r:embed="rId3"/>
                <a:stretch>
                  <a:fillRect l="-432" t="-3636" b="-1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736F0F3-1E56-093B-1D75-FC4BA9D51103}"/>
                  </a:ext>
                </a:extLst>
              </p:cNvPr>
              <p:cNvSpPr/>
              <p:nvPr/>
            </p:nvSpPr>
            <p:spPr>
              <a:xfrm>
                <a:off x="3537782" y="4520730"/>
                <a:ext cx="1888759" cy="576282"/>
              </a:xfrm>
              <a:prstGeom prst="rect">
                <a:avLst/>
              </a:prstGeom>
              <a:ln>
                <a:solidFill>
                  <a:srgbClr val="FFC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sup>
                    </m:sSup>
                  </m:oMath>
                </a14:m>
                <a:r>
                  <a:rPr lang="en-US" sz="1400" dirty="0"/>
                  <a:t>dummy symbols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736F0F3-1E56-093B-1D75-FC4BA9D511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782" y="4520730"/>
                <a:ext cx="1888759" cy="576282"/>
              </a:xfrm>
              <a:prstGeom prst="rect">
                <a:avLst/>
              </a:prstGeom>
              <a:blipFill>
                <a:blip r:embed="rId4"/>
                <a:stretch>
                  <a:fillRect b="-7216"/>
                </a:stretch>
              </a:blipFill>
              <a:ln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eft Brace 13">
            <a:extLst>
              <a:ext uri="{FF2B5EF4-FFF2-40B4-BE49-F238E27FC236}">
                <a16:creationId xmlns:a16="http://schemas.microsoft.com/office/drawing/2014/main" id="{0D2329A6-FBBB-045B-2E5D-0F597B3FFEF2}"/>
              </a:ext>
            </a:extLst>
          </p:cNvPr>
          <p:cNvSpPr/>
          <p:nvPr/>
        </p:nvSpPr>
        <p:spPr>
          <a:xfrm>
            <a:off x="3058510" y="3999963"/>
            <a:ext cx="245942" cy="72338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E921FC-A5A4-DC2F-BADD-54BD1BD91FA8}"/>
                  </a:ext>
                </a:extLst>
              </p:cNvPr>
              <p:cNvSpPr txBox="1"/>
              <p:nvPr/>
            </p:nvSpPr>
            <p:spPr>
              <a:xfrm>
                <a:off x="2049517" y="4151398"/>
                <a:ext cx="11276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E921FC-A5A4-DC2F-BADD-54BD1BD91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517" y="4151398"/>
                <a:ext cx="112761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Left Brace 18">
            <a:extLst>
              <a:ext uri="{FF2B5EF4-FFF2-40B4-BE49-F238E27FC236}">
                <a16:creationId xmlns:a16="http://schemas.microsoft.com/office/drawing/2014/main" id="{738C9AEF-9F75-F189-A0EF-E803D569EC46}"/>
              </a:ext>
            </a:extLst>
          </p:cNvPr>
          <p:cNvSpPr/>
          <p:nvPr/>
        </p:nvSpPr>
        <p:spPr>
          <a:xfrm>
            <a:off x="3054162" y="3081906"/>
            <a:ext cx="245942" cy="72338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9757CA-31EB-D86D-D6A1-74FEF41C3147}"/>
                  </a:ext>
                </a:extLst>
              </p:cNvPr>
              <p:cNvSpPr txBox="1"/>
              <p:nvPr/>
            </p:nvSpPr>
            <p:spPr>
              <a:xfrm>
                <a:off x="2414232" y="3291588"/>
                <a:ext cx="398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9757CA-31EB-D86D-D6A1-74FEF41C3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232" y="3291588"/>
                <a:ext cx="39818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Left Brace 23">
            <a:extLst>
              <a:ext uri="{FF2B5EF4-FFF2-40B4-BE49-F238E27FC236}">
                <a16:creationId xmlns:a16="http://schemas.microsoft.com/office/drawing/2014/main" id="{6FA793FB-17CF-E79E-3B3D-FF7E08480544}"/>
              </a:ext>
            </a:extLst>
          </p:cNvPr>
          <p:cNvSpPr/>
          <p:nvPr/>
        </p:nvSpPr>
        <p:spPr>
          <a:xfrm rot="16200000">
            <a:off x="8394634" y="465009"/>
            <a:ext cx="124978" cy="605296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078E8AD-52B2-891B-9157-BD36D2C5AF9D}"/>
                  </a:ext>
                </a:extLst>
              </p:cNvPr>
              <p:cNvSpPr txBox="1"/>
              <p:nvPr/>
            </p:nvSpPr>
            <p:spPr>
              <a:xfrm>
                <a:off x="8256468" y="3531309"/>
                <a:ext cx="6354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078E8AD-52B2-891B-9157-BD36D2C5A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468" y="3531309"/>
                <a:ext cx="63543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C5E8E92-67A5-EBF1-9C69-75157295CCC0}"/>
                  </a:ext>
                </a:extLst>
              </p:cNvPr>
              <p:cNvSpPr txBox="1"/>
              <p:nvPr/>
            </p:nvSpPr>
            <p:spPr>
              <a:xfrm>
                <a:off x="603384" y="5596397"/>
                <a:ext cx="11290325" cy="668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</a:rPr>
                  <a:t>If for a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, at least two blocks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are short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can not happen too often</a:t>
                </a:r>
              </a:p>
              <a:p>
                <a:endParaRPr lang="en-US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C5E8E92-67A5-EBF1-9C69-75157295C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84" y="5596397"/>
                <a:ext cx="11290325" cy="668645"/>
              </a:xfrm>
              <a:prstGeom prst="rect">
                <a:avLst/>
              </a:prstGeom>
              <a:blipFill>
                <a:blip r:embed="rId8"/>
                <a:stretch>
                  <a:fillRect l="-378" t="-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4AD7DB5-DB23-7839-6CA2-77E89B20D60D}"/>
              </a:ext>
            </a:extLst>
          </p:cNvPr>
          <p:cNvCxnSpPr>
            <a:cxnSpLocks/>
            <a:stCxn id="5" idx="1"/>
            <a:endCxn id="64" idx="1"/>
          </p:cNvCxnSpPr>
          <p:nvPr/>
        </p:nvCxnSpPr>
        <p:spPr>
          <a:xfrm flipV="1">
            <a:off x="3537782" y="3081907"/>
            <a:ext cx="0" cy="91805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1F2DA5F-54B8-5CC7-3302-8A0E58EDC390}"/>
              </a:ext>
            </a:extLst>
          </p:cNvPr>
          <p:cNvCxnSpPr>
            <a:cxnSpLocks/>
            <a:stCxn id="5" idx="3"/>
          </p:cNvCxnSpPr>
          <p:nvPr/>
        </p:nvCxnSpPr>
        <p:spPr>
          <a:xfrm flipH="1" flipV="1">
            <a:off x="5426541" y="3056682"/>
            <a:ext cx="1" cy="94328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3390A164-F802-45F3-C58E-666117DFB33E}"/>
                  </a:ext>
                </a:extLst>
              </p:cNvPr>
              <p:cNvSpPr/>
              <p:nvPr/>
            </p:nvSpPr>
            <p:spPr>
              <a:xfrm>
                <a:off x="3537782" y="2883261"/>
                <a:ext cx="7945821" cy="397291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3390A164-F802-45F3-C58E-666117DFB3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782" y="2883261"/>
                <a:ext cx="7945821" cy="397291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Hình Bầu dục 2">
                <a:extLst>
                  <a:ext uri="{FF2B5EF4-FFF2-40B4-BE49-F238E27FC236}">
                    <a16:creationId xmlns:a16="http://schemas.microsoft.com/office/drawing/2014/main" id="{D58C7F40-CA6E-4763-6855-3E4BCA91FCA1}"/>
                  </a:ext>
                </a:extLst>
              </p:cNvPr>
              <p:cNvSpPr/>
              <p:nvPr/>
            </p:nvSpPr>
            <p:spPr>
              <a:xfrm>
                <a:off x="6765460" y="4137843"/>
                <a:ext cx="2139816" cy="1039877"/>
              </a:xfrm>
              <a:prstGeom prst="ellipse">
                <a:avLst/>
              </a:prstGeom>
              <a:solidFill>
                <a:schemeClr val="lt1"/>
              </a:solidFill>
              <a:ln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Aptos (Body)"/>
                  </a:rPr>
                  <a:t>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>
                  <a:latin typeface="Aptos (Body)"/>
                </a:endParaRPr>
              </a:p>
            </p:txBody>
          </p:sp>
        </mc:Choice>
        <mc:Fallback xmlns="">
          <p:sp>
            <p:nvSpPr>
              <p:cNvPr id="3" name="Hình Bầu dục 2">
                <a:extLst>
                  <a:ext uri="{FF2B5EF4-FFF2-40B4-BE49-F238E27FC236}">
                    <a16:creationId xmlns:a16="http://schemas.microsoft.com/office/drawing/2014/main" id="{D58C7F40-CA6E-4763-6855-3E4BCA91FC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460" y="4137843"/>
                <a:ext cx="2139816" cy="1039877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FF0000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6129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1" grpId="0" uiExpand="1" build="allAtOnce"/>
      <p:bldP spid="13" grpId="0" animBg="1"/>
      <p:bldP spid="14" grpId="0" animBg="1"/>
      <p:bldP spid="15" grpId="0"/>
      <p:bldP spid="19" grpId="0" animBg="1"/>
      <p:bldP spid="23" grpId="0"/>
      <p:bldP spid="24" grpId="0" animBg="1"/>
      <p:bldP spid="26" grpId="0"/>
      <p:bldP spid="30" grpId="0" build="allAtOnce"/>
      <p:bldP spid="64" grpId="0" animBg="1"/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2">
                <a:lumMod val="90000"/>
              </a:schemeClr>
            </a:gs>
            <a:gs pos="51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E6F496-063F-4D43-A9D4-CFD408229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16100-4A27-B4FF-32F0-53F5D01E6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82145"/>
            <a:ext cx="11653766" cy="805833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Succes attempt = DP + Cycle Removal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6A8B9A-B027-D471-FC90-746000CCCE24}"/>
              </a:ext>
            </a:extLst>
          </p:cNvPr>
          <p:cNvSpPr txBox="1"/>
          <p:nvPr/>
        </p:nvSpPr>
        <p:spPr>
          <a:xfrm>
            <a:off x="669984" y="1170833"/>
            <a:ext cx="112903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Aptos (Body)"/>
              </a:rPr>
              <a:t>Ideas: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ptos (Body)"/>
              </a:rPr>
              <a:t>Combining blocks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060"/>
                </a:solidFill>
                <a:latin typeface="Aptos (Body)"/>
              </a:rPr>
              <a:t>Collect constructed blocks into a single machine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i="1" dirty="0">
                <a:solidFill>
                  <a:srgbClr val="C00000"/>
                </a:solidFill>
                <a:latin typeface="Aptos (Body)"/>
              </a:rPr>
              <a:t>DP</a:t>
            </a:r>
            <a:r>
              <a:rPr lang="en-US" dirty="0">
                <a:solidFill>
                  <a:srgbClr val="002060"/>
                </a:solidFill>
                <a:latin typeface="Aptos (Body)"/>
              </a:rPr>
              <a:t>: build a string from these blocks</a:t>
            </a:r>
            <a:endParaRPr lang="en-US" b="1" dirty="0">
              <a:solidFill>
                <a:srgbClr val="002060"/>
              </a:solidFill>
              <a:latin typeface="Aptos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Aptos (Body)"/>
            </a:endParaRPr>
          </a:p>
        </p:txBody>
      </p:sp>
      <p:grpSp>
        <p:nvGrpSpPr>
          <p:cNvPr id="35" name="Nhóm 34">
            <a:extLst>
              <a:ext uri="{FF2B5EF4-FFF2-40B4-BE49-F238E27FC236}">
                <a16:creationId xmlns:a16="http://schemas.microsoft.com/office/drawing/2014/main" id="{609A2483-6C56-D59D-20E6-E3F309B548E9}"/>
              </a:ext>
            </a:extLst>
          </p:cNvPr>
          <p:cNvGrpSpPr/>
          <p:nvPr/>
        </p:nvGrpSpPr>
        <p:grpSpPr>
          <a:xfrm>
            <a:off x="3105078" y="4152626"/>
            <a:ext cx="1888760" cy="344883"/>
            <a:chOff x="2935488" y="3504822"/>
            <a:chExt cx="1888760" cy="344883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763CE73-4441-505B-5798-20CF0867271B}"/>
                </a:ext>
              </a:extLst>
            </p:cNvPr>
            <p:cNvCxnSpPr>
              <a:cxnSpLocks/>
            </p:cNvCxnSpPr>
            <p:nvPr/>
          </p:nvCxnSpPr>
          <p:spPr>
            <a:xfrm>
              <a:off x="2935488" y="3504822"/>
              <a:ext cx="188876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2554DFB-6574-FC0A-3F49-777BA353626B}"/>
                    </a:ext>
                  </a:extLst>
                </p:cNvPr>
                <p:cNvSpPr txBox="1"/>
                <p:nvPr/>
              </p:nvSpPr>
              <p:spPr>
                <a:xfrm>
                  <a:off x="3418299" y="3511151"/>
                  <a:ext cx="83920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sz="1600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1600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sup>
                        </m:sSup>
                      </m:oMath>
                    </m:oMathPara>
                  </a14:m>
                  <a:endParaRPr lang="en-US">
                    <a:solidFill>
                      <a:srgbClr val="215F9A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2554DFB-6574-FC0A-3F49-777BA35362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8299" y="3511151"/>
                  <a:ext cx="839204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938167DA-A397-44F8-9C9B-35F2D7DC5F3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105078" y="3513359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  <a:latin typeface="Aptos (Body)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938167DA-A397-44F8-9C9B-35F2D7DC5F3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105078" y="3513359"/>
              <a:ext cx="6038348" cy="397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91107">
                      <a:extLst>
                        <a:ext uri="{9D8B030D-6E8A-4147-A177-3AD203B41FA5}">
                          <a16:colId xmlns:a16="http://schemas.microsoft.com/office/drawing/2014/main" val="1839129847"/>
                        </a:ext>
                      </a:extLst>
                    </a:gridCol>
                    <a:gridCol w="1892104">
                      <a:extLst>
                        <a:ext uri="{9D8B030D-6E8A-4147-A177-3AD203B41FA5}">
                          <a16:colId xmlns:a16="http://schemas.microsoft.com/office/drawing/2014/main" val="2417060186"/>
                        </a:ext>
                      </a:extLst>
                    </a:gridCol>
                    <a:gridCol w="351693">
                      <a:extLst>
                        <a:ext uri="{9D8B030D-6E8A-4147-A177-3AD203B41FA5}">
                          <a16:colId xmlns:a16="http://schemas.microsoft.com/office/drawing/2014/main" val="2891464673"/>
                        </a:ext>
                      </a:extLst>
                    </a:gridCol>
                    <a:gridCol w="1903444">
                      <a:extLst>
                        <a:ext uri="{9D8B030D-6E8A-4147-A177-3AD203B41FA5}">
                          <a16:colId xmlns:a16="http://schemas.microsoft.com/office/drawing/2014/main" val="3669614398"/>
                        </a:ext>
                      </a:extLst>
                    </a:gridCol>
                  </a:tblGrid>
                  <a:tr h="397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3" t="-7576" r="-220323" b="-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7576" r="-119614" b="-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  <a:latin typeface="Aptos (Body)"/>
                            </a:rPr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70C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7949" t="-7576" r="-641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984411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9" name="Nhóm 48">
            <a:extLst>
              <a:ext uri="{FF2B5EF4-FFF2-40B4-BE49-F238E27FC236}">
                <a16:creationId xmlns:a16="http://schemas.microsoft.com/office/drawing/2014/main" id="{49293DB7-F503-CEAB-A063-4A48664A4337}"/>
              </a:ext>
            </a:extLst>
          </p:cNvPr>
          <p:cNvGrpSpPr/>
          <p:nvPr/>
        </p:nvGrpSpPr>
        <p:grpSpPr>
          <a:xfrm>
            <a:off x="1896642" y="4080471"/>
            <a:ext cx="1260047" cy="363259"/>
            <a:chOff x="1727052" y="3432667"/>
            <a:chExt cx="1260047" cy="363259"/>
          </a:xfrm>
        </p:grpSpPr>
        <p:sp>
          <p:nvSpPr>
            <p:cNvPr id="51" name="Arrow: Right 50">
              <a:extLst>
                <a:ext uri="{FF2B5EF4-FFF2-40B4-BE49-F238E27FC236}">
                  <a16:creationId xmlns:a16="http://schemas.microsoft.com/office/drawing/2014/main" id="{51231C5A-3540-6A87-54B4-CEFF7A4ACE05}"/>
                </a:ext>
              </a:extLst>
            </p:cNvPr>
            <p:cNvSpPr/>
            <p:nvPr/>
          </p:nvSpPr>
          <p:spPr>
            <a:xfrm rot="19540988">
              <a:off x="1727052" y="3552739"/>
              <a:ext cx="1260047" cy="243187"/>
            </a:xfrm>
            <a:prstGeom prst="rightArrow">
              <a:avLst>
                <a:gd name="adj1" fmla="val 41916"/>
                <a:gd name="adj2" fmla="val 50000"/>
              </a:avLst>
            </a:prstGeom>
            <a:solidFill>
              <a:srgbClr val="215F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BB84160-D6B7-E954-72CA-8B2EEE991272}"/>
                </a:ext>
              </a:extLst>
            </p:cNvPr>
            <p:cNvSpPr txBox="1"/>
            <p:nvPr/>
          </p:nvSpPr>
          <p:spPr>
            <a:xfrm rot="19503392">
              <a:off x="1736561" y="3432667"/>
              <a:ext cx="9456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>
                  <a:solidFill>
                    <a:srgbClr val="215F9A"/>
                  </a:solidFill>
                </a:rPr>
                <a:t>candidates</a:t>
              </a:r>
            </a:p>
          </p:txBody>
        </p:sp>
      </p:grpSp>
      <p:grpSp>
        <p:nvGrpSpPr>
          <p:cNvPr id="9" name="Nhóm 8">
            <a:extLst>
              <a:ext uri="{FF2B5EF4-FFF2-40B4-BE49-F238E27FC236}">
                <a16:creationId xmlns:a16="http://schemas.microsoft.com/office/drawing/2014/main" id="{47BE22A2-FEF2-FCF5-3722-B2D323B99591}"/>
              </a:ext>
            </a:extLst>
          </p:cNvPr>
          <p:cNvGrpSpPr/>
          <p:nvPr/>
        </p:nvGrpSpPr>
        <p:grpSpPr>
          <a:xfrm>
            <a:off x="518160" y="4649813"/>
            <a:ext cx="3097950" cy="1723909"/>
            <a:chOff x="2935489" y="5240770"/>
            <a:chExt cx="3097950" cy="1723909"/>
          </a:xfrm>
        </p:grpSpPr>
        <p:sp>
          <p:nvSpPr>
            <p:cNvPr id="3" name="Rectangle: Rounded Corners 13">
              <a:extLst>
                <a:ext uri="{FF2B5EF4-FFF2-40B4-BE49-F238E27FC236}">
                  <a16:creationId xmlns:a16="http://schemas.microsoft.com/office/drawing/2014/main" id="{ACD06E24-F3FA-CE32-E9B3-7AF1C7A65A9D}"/>
                </a:ext>
              </a:extLst>
            </p:cNvPr>
            <p:cNvSpPr/>
            <p:nvPr/>
          </p:nvSpPr>
          <p:spPr>
            <a:xfrm>
              <a:off x="2935489" y="5240770"/>
              <a:ext cx="3097950" cy="1723909"/>
            </a:xfrm>
            <a:prstGeom prst="roundRect">
              <a:avLst/>
            </a:prstGeom>
            <a:solidFill>
              <a:srgbClr val="ECF3F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rgbClr val="215F9A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F3DE50E-9314-9089-6525-DABD5C738AF2}"/>
                </a:ext>
              </a:extLst>
            </p:cNvPr>
            <p:cNvSpPr txBox="1"/>
            <p:nvPr/>
          </p:nvSpPr>
          <p:spPr>
            <a:xfrm>
              <a:off x="3313156" y="6203669"/>
              <a:ext cx="24157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Constructed blocks via “cycle removal”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Hình chữ nhật: Góc Tròn 3">
                  <a:extLst>
                    <a:ext uri="{FF2B5EF4-FFF2-40B4-BE49-F238E27FC236}">
                      <a16:creationId xmlns:a16="http://schemas.microsoft.com/office/drawing/2014/main" id="{7D07534A-57DB-8697-B560-67845198FAA3}"/>
                    </a:ext>
                  </a:extLst>
                </p:cNvPr>
                <p:cNvSpPr/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215F9A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Hình chữ nhật: Góc Tròn 3">
                  <a:extLst>
                    <a:ext uri="{FF2B5EF4-FFF2-40B4-BE49-F238E27FC236}">
                      <a16:creationId xmlns:a16="http://schemas.microsoft.com/office/drawing/2014/main" id="{7D07534A-57DB-8697-B560-67845198FA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Hình chữ nhật: Góc Tròn 4">
                  <a:extLst>
                    <a:ext uri="{FF2B5EF4-FFF2-40B4-BE49-F238E27FC236}">
                      <a16:creationId xmlns:a16="http://schemas.microsoft.com/office/drawing/2014/main" id="{6369858B-45EC-F0CB-0E5E-9F2BEA5BD9AA}"/>
                    </a:ext>
                  </a:extLst>
                </p:cNvPr>
                <p:cNvSpPr/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Hình chữ nhật: Góc Tròn 4">
                  <a:extLst>
                    <a:ext uri="{FF2B5EF4-FFF2-40B4-BE49-F238E27FC236}">
                      <a16:creationId xmlns:a16="http://schemas.microsoft.com/office/drawing/2014/main" id="{6369858B-45EC-F0CB-0E5E-9F2BEA5BD9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Hình chữ nhật: Góc Tròn 5">
                  <a:extLst>
                    <a:ext uri="{FF2B5EF4-FFF2-40B4-BE49-F238E27FC236}">
                      <a16:creationId xmlns:a16="http://schemas.microsoft.com/office/drawing/2014/main" id="{4A13CF31-FE88-0665-7C23-A76E0A47083E}"/>
                    </a:ext>
                  </a:extLst>
                </p:cNvPr>
                <p:cNvSpPr/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′′′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" name="Hình chữ nhật: Góc Tròn 5">
                  <a:extLst>
                    <a:ext uri="{FF2B5EF4-FFF2-40B4-BE49-F238E27FC236}">
                      <a16:creationId xmlns:a16="http://schemas.microsoft.com/office/drawing/2014/main" id="{4A13CF31-FE88-0665-7C23-A76E0A4708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46">
              <a:extLst>
                <a:ext uri="{FF2B5EF4-FFF2-40B4-BE49-F238E27FC236}">
                  <a16:creationId xmlns:a16="http://schemas.microsoft.com/office/drawing/2014/main" id="{21BDBCC9-180D-0C56-0DF5-B6C5B9B63248}"/>
                </a:ext>
              </a:extLst>
            </p:cNvPr>
            <p:cNvSpPr txBox="1"/>
            <p:nvPr/>
          </p:nvSpPr>
          <p:spPr>
            <a:xfrm>
              <a:off x="4290957" y="5957324"/>
              <a:ext cx="3644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…</a:t>
              </a:r>
            </a:p>
          </p:txBody>
        </p:sp>
      </p:grpSp>
      <p:grpSp>
        <p:nvGrpSpPr>
          <p:cNvPr id="48" name="Nhóm 47">
            <a:extLst>
              <a:ext uri="{FF2B5EF4-FFF2-40B4-BE49-F238E27FC236}">
                <a16:creationId xmlns:a16="http://schemas.microsoft.com/office/drawing/2014/main" id="{D6BA8942-9F22-F6C8-FDBB-532058717E0E}"/>
              </a:ext>
            </a:extLst>
          </p:cNvPr>
          <p:cNvGrpSpPr/>
          <p:nvPr/>
        </p:nvGrpSpPr>
        <p:grpSpPr>
          <a:xfrm>
            <a:off x="5857672" y="3927879"/>
            <a:ext cx="1106541" cy="901627"/>
            <a:chOff x="5761155" y="3287194"/>
            <a:chExt cx="1106541" cy="901627"/>
          </a:xfrm>
        </p:grpSpPr>
        <p:sp>
          <p:nvSpPr>
            <p:cNvPr id="36" name="Arrow: Right 50">
              <a:extLst>
                <a:ext uri="{FF2B5EF4-FFF2-40B4-BE49-F238E27FC236}">
                  <a16:creationId xmlns:a16="http://schemas.microsoft.com/office/drawing/2014/main" id="{B683DB19-06A5-CD85-8C9D-EB127F808565}"/>
                </a:ext>
              </a:extLst>
            </p:cNvPr>
            <p:cNvSpPr/>
            <p:nvPr/>
          </p:nvSpPr>
          <p:spPr>
            <a:xfrm rot="16200000">
              <a:off x="5431935" y="3616414"/>
              <a:ext cx="901627" cy="243187"/>
            </a:xfrm>
            <a:prstGeom prst="rightArrow">
              <a:avLst>
                <a:gd name="adj1" fmla="val 41916"/>
                <a:gd name="adj2" fmla="val 50000"/>
              </a:avLst>
            </a:prstGeom>
            <a:solidFill>
              <a:srgbClr val="215F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51">
              <a:extLst>
                <a:ext uri="{FF2B5EF4-FFF2-40B4-BE49-F238E27FC236}">
                  <a16:creationId xmlns:a16="http://schemas.microsoft.com/office/drawing/2014/main" id="{46611211-EAF8-6B4A-421F-DC76C98505C0}"/>
                </a:ext>
              </a:extLst>
            </p:cNvPr>
            <p:cNvSpPr txBox="1"/>
            <p:nvPr/>
          </p:nvSpPr>
          <p:spPr>
            <a:xfrm>
              <a:off x="5922011" y="3528672"/>
              <a:ext cx="9456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>
                  <a:solidFill>
                    <a:srgbClr val="215F9A"/>
                  </a:solidFill>
                </a:rPr>
                <a:t>candidates</a:t>
              </a:r>
            </a:p>
          </p:txBody>
        </p:sp>
      </p:grpSp>
      <p:grpSp>
        <p:nvGrpSpPr>
          <p:cNvPr id="10" name="Nhóm 9">
            <a:extLst>
              <a:ext uri="{FF2B5EF4-FFF2-40B4-BE49-F238E27FC236}">
                <a16:creationId xmlns:a16="http://schemas.microsoft.com/office/drawing/2014/main" id="{AAFC9586-E3EA-25AB-DCC6-07E504DFF48D}"/>
              </a:ext>
            </a:extLst>
          </p:cNvPr>
          <p:cNvGrpSpPr/>
          <p:nvPr/>
        </p:nvGrpSpPr>
        <p:grpSpPr>
          <a:xfrm>
            <a:off x="4575277" y="4719309"/>
            <a:ext cx="3097950" cy="1723909"/>
            <a:chOff x="2935489" y="5240770"/>
            <a:chExt cx="3097950" cy="1723909"/>
          </a:xfrm>
        </p:grpSpPr>
        <p:sp>
          <p:nvSpPr>
            <p:cNvPr id="11" name="Rectangle: Rounded Corners 13">
              <a:extLst>
                <a:ext uri="{FF2B5EF4-FFF2-40B4-BE49-F238E27FC236}">
                  <a16:creationId xmlns:a16="http://schemas.microsoft.com/office/drawing/2014/main" id="{5FD4FE3C-A883-7702-4533-1BDFDED8AE94}"/>
                </a:ext>
              </a:extLst>
            </p:cNvPr>
            <p:cNvSpPr/>
            <p:nvPr/>
          </p:nvSpPr>
          <p:spPr>
            <a:xfrm>
              <a:off x="2935489" y="5240770"/>
              <a:ext cx="3097950" cy="1723909"/>
            </a:xfrm>
            <a:prstGeom prst="roundRect">
              <a:avLst/>
            </a:prstGeom>
            <a:solidFill>
              <a:srgbClr val="ECF3F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rgbClr val="215F9A"/>
                </a:solidFill>
              </a:endParaRPr>
            </a:p>
          </p:txBody>
        </p:sp>
        <p:sp>
          <p:nvSpPr>
            <p:cNvPr id="12" name="TextBox 46">
              <a:extLst>
                <a:ext uri="{FF2B5EF4-FFF2-40B4-BE49-F238E27FC236}">
                  <a16:creationId xmlns:a16="http://schemas.microsoft.com/office/drawing/2014/main" id="{94E7D417-FD33-0918-E252-9B557E11D0D5}"/>
                </a:ext>
              </a:extLst>
            </p:cNvPr>
            <p:cNvSpPr txBox="1"/>
            <p:nvPr/>
          </p:nvSpPr>
          <p:spPr>
            <a:xfrm>
              <a:off x="3313156" y="6203669"/>
              <a:ext cx="24157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Constructed blocks via “cycle removal”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Hình chữ nhật: Góc Tròn 12">
                  <a:extLst>
                    <a:ext uri="{FF2B5EF4-FFF2-40B4-BE49-F238E27FC236}">
                      <a16:creationId xmlns:a16="http://schemas.microsoft.com/office/drawing/2014/main" id="{2D355967-BBEE-A78E-ED9D-C44945233161}"/>
                    </a:ext>
                  </a:extLst>
                </p:cNvPr>
                <p:cNvSpPr/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215F9A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Hình chữ nhật: Góc Tròn 12">
                  <a:extLst>
                    <a:ext uri="{FF2B5EF4-FFF2-40B4-BE49-F238E27FC236}">
                      <a16:creationId xmlns:a16="http://schemas.microsoft.com/office/drawing/2014/main" id="{2D355967-BBEE-A78E-ED9D-C449452331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Hình chữ nhật: Góc Tròn 22">
                  <a:extLst>
                    <a:ext uri="{FF2B5EF4-FFF2-40B4-BE49-F238E27FC236}">
                      <a16:creationId xmlns:a16="http://schemas.microsoft.com/office/drawing/2014/main" id="{65D47040-2A96-AC86-3DBA-817031B0C116}"/>
                    </a:ext>
                  </a:extLst>
                </p:cNvPr>
                <p:cNvSpPr/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Hình chữ nhật: Góc Tròn 22">
                  <a:extLst>
                    <a:ext uri="{FF2B5EF4-FFF2-40B4-BE49-F238E27FC236}">
                      <a16:creationId xmlns:a16="http://schemas.microsoft.com/office/drawing/2014/main" id="{65D47040-2A96-AC86-3DBA-817031B0C1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Hình chữ nhật: Góc Tròn 23">
                  <a:extLst>
                    <a:ext uri="{FF2B5EF4-FFF2-40B4-BE49-F238E27FC236}">
                      <a16:creationId xmlns:a16="http://schemas.microsoft.com/office/drawing/2014/main" id="{914D289A-9FE8-1057-EAA4-0F11E97A189C}"/>
                    </a:ext>
                  </a:extLst>
                </p:cNvPr>
                <p:cNvSpPr/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′′′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4" name="Hình chữ nhật: Góc Tròn 23">
                  <a:extLst>
                    <a:ext uri="{FF2B5EF4-FFF2-40B4-BE49-F238E27FC236}">
                      <a16:creationId xmlns:a16="http://schemas.microsoft.com/office/drawing/2014/main" id="{914D289A-9FE8-1057-EAA4-0F11E97A18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46">
              <a:extLst>
                <a:ext uri="{FF2B5EF4-FFF2-40B4-BE49-F238E27FC236}">
                  <a16:creationId xmlns:a16="http://schemas.microsoft.com/office/drawing/2014/main" id="{28A4A80D-4EED-6EAD-B5AB-2D940C209B8A}"/>
                </a:ext>
              </a:extLst>
            </p:cNvPr>
            <p:cNvSpPr txBox="1"/>
            <p:nvPr/>
          </p:nvSpPr>
          <p:spPr>
            <a:xfrm>
              <a:off x="4290957" y="5957324"/>
              <a:ext cx="3644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…</a:t>
              </a:r>
            </a:p>
          </p:txBody>
        </p:sp>
      </p:grpSp>
      <p:grpSp>
        <p:nvGrpSpPr>
          <p:cNvPr id="40" name="Nhóm 39">
            <a:extLst>
              <a:ext uri="{FF2B5EF4-FFF2-40B4-BE49-F238E27FC236}">
                <a16:creationId xmlns:a16="http://schemas.microsoft.com/office/drawing/2014/main" id="{A435CAAE-F9EE-F285-3519-A79B17221879}"/>
              </a:ext>
            </a:extLst>
          </p:cNvPr>
          <p:cNvGrpSpPr/>
          <p:nvPr/>
        </p:nvGrpSpPr>
        <p:grpSpPr>
          <a:xfrm>
            <a:off x="9502407" y="3762206"/>
            <a:ext cx="433245" cy="1260047"/>
            <a:chOff x="9332817" y="3114402"/>
            <a:chExt cx="433245" cy="1260047"/>
          </a:xfrm>
        </p:grpSpPr>
        <p:sp>
          <p:nvSpPr>
            <p:cNvPr id="38" name="Arrow: Right 50">
              <a:extLst>
                <a:ext uri="{FF2B5EF4-FFF2-40B4-BE49-F238E27FC236}">
                  <a16:creationId xmlns:a16="http://schemas.microsoft.com/office/drawing/2014/main" id="{867FAAB6-A8D1-A390-5951-8FC3AB726D2E}"/>
                </a:ext>
              </a:extLst>
            </p:cNvPr>
            <p:cNvSpPr/>
            <p:nvPr/>
          </p:nvSpPr>
          <p:spPr>
            <a:xfrm rot="13657088">
              <a:off x="8824387" y="3622832"/>
              <a:ext cx="1260047" cy="243187"/>
            </a:xfrm>
            <a:prstGeom prst="rightArrow">
              <a:avLst>
                <a:gd name="adj1" fmla="val 41916"/>
                <a:gd name="adj2" fmla="val 50000"/>
              </a:avLst>
            </a:prstGeom>
            <a:solidFill>
              <a:srgbClr val="215F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51">
              <a:extLst>
                <a:ext uri="{FF2B5EF4-FFF2-40B4-BE49-F238E27FC236}">
                  <a16:creationId xmlns:a16="http://schemas.microsoft.com/office/drawing/2014/main" id="{0A3D1C85-A52D-4FA0-A714-60DC68F64DAE}"/>
                </a:ext>
              </a:extLst>
            </p:cNvPr>
            <p:cNvSpPr txBox="1"/>
            <p:nvPr/>
          </p:nvSpPr>
          <p:spPr>
            <a:xfrm rot="2896448">
              <a:off x="9154720" y="3535833"/>
              <a:ext cx="9456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>
                  <a:solidFill>
                    <a:srgbClr val="215F9A"/>
                  </a:solidFill>
                </a:rPr>
                <a:t>candidates</a:t>
              </a:r>
            </a:p>
          </p:txBody>
        </p:sp>
      </p:grpSp>
      <p:grpSp>
        <p:nvGrpSpPr>
          <p:cNvPr id="26" name="Nhóm 25">
            <a:extLst>
              <a:ext uri="{FF2B5EF4-FFF2-40B4-BE49-F238E27FC236}">
                <a16:creationId xmlns:a16="http://schemas.microsoft.com/office/drawing/2014/main" id="{3E3501EC-F736-FD05-C170-0E1C69895C72}"/>
              </a:ext>
            </a:extLst>
          </p:cNvPr>
          <p:cNvGrpSpPr/>
          <p:nvPr/>
        </p:nvGrpSpPr>
        <p:grpSpPr>
          <a:xfrm>
            <a:off x="8651028" y="4719308"/>
            <a:ext cx="3097950" cy="1723909"/>
            <a:chOff x="2935489" y="5240770"/>
            <a:chExt cx="3097950" cy="1723909"/>
          </a:xfrm>
        </p:grpSpPr>
        <p:sp>
          <p:nvSpPr>
            <p:cNvPr id="28" name="Rectangle: Rounded Corners 13">
              <a:extLst>
                <a:ext uri="{FF2B5EF4-FFF2-40B4-BE49-F238E27FC236}">
                  <a16:creationId xmlns:a16="http://schemas.microsoft.com/office/drawing/2014/main" id="{4F06A1E1-15EA-406D-8193-542D25129C50}"/>
                </a:ext>
              </a:extLst>
            </p:cNvPr>
            <p:cNvSpPr/>
            <p:nvPr/>
          </p:nvSpPr>
          <p:spPr>
            <a:xfrm>
              <a:off x="2935489" y="5240770"/>
              <a:ext cx="3097950" cy="1723909"/>
            </a:xfrm>
            <a:prstGeom prst="roundRect">
              <a:avLst/>
            </a:prstGeom>
            <a:solidFill>
              <a:srgbClr val="ECF3F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rgbClr val="215F9A"/>
                </a:solidFill>
              </a:endParaRPr>
            </a:p>
          </p:txBody>
        </p:sp>
        <p:sp>
          <p:nvSpPr>
            <p:cNvPr id="30" name="TextBox 46">
              <a:extLst>
                <a:ext uri="{FF2B5EF4-FFF2-40B4-BE49-F238E27FC236}">
                  <a16:creationId xmlns:a16="http://schemas.microsoft.com/office/drawing/2014/main" id="{14B833C7-1A31-A4DE-D5BF-5AA86205B370}"/>
                </a:ext>
              </a:extLst>
            </p:cNvPr>
            <p:cNvSpPr txBox="1"/>
            <p:nvPr/>
          </p:nvSpPr>
          <p:spPr>
            <a:xfrm>
              <a:off x="3313156" y="6203669"/>
              <a:ext cx="24157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Constructed blocks via “cycle removal”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Hình chữ nhật: Góc Tròn 30">
                  <a:extLst>
                    <a:ext uri="{FF2B5EF4-FFF2-40B4-BE49-F238E27FC236}">
                      <a16:creationId xmlns:a16="http://schemas.microsoft.com/office/drawing/2014/main" id="{1A766B9D-4A27-FAA0-263E-FE399A83FFB6}"/>
                    </a:ext>
                  </a:extLst>
                </p:cNvPr>
                <p:cNvSpPr/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Hình chữ nhật: Góc Tròn 30">
                  <a:extLst>
                    <a:ext uri="{FF2B5EF4-FFF2-40B4-BE49-F238E27FC236}">
                      <a16:creationId xmlns:a16="http://schemas.microsoft.com/office/drawing/2014/main" id="{1A766B9D-4A27-FAA0-263E-FE399A83FF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556" y="5418463"/>
                  <a:ext cx="652107" cy="589693"/>
                </a:xfrm>
                <a:prstGeom prst="round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Hình chữ nhật: Góc Tròn 31">
                  <a:extLst>
                    <a:ext uri="{FF2B5EF4-FFF2-40B4-BE49-F238E27FC236}">
                      <a16:creationId xmlns:a16="http://schemas.microsoft.com/office/drawing/2014/main" id="{378FC06B-48D0-90AB-D49D-9CC88131656A}"/>
                    </a:ext>
                  </a:extLst>
                </p:cNvPr>
                <p:cNvSpPr/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" name="Hình chữ nhật: Góc Tròn 31">
                  <a:extLst>
                    <a:ext uri="{FF2B5EF4-FFF2-40B4-BE49-F238E27FC236}">
                      <a16:creationId xmlns:a16="http://schemas.microsoft.com/office/drawing/2014/main" id="{378FC06B-48D0-90AB-D49D-9CC8813165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4130" y="5440070"/>
                  <a:ext cx="652107" cy="589693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Hình chữ nhật: Góc Tròn 32">
                  <a:extLst>
                    <a:ext uri="{FF2B5EF4-FFF2-40B4-BE49-F238E27FC236}">
                      <a16:creationId xmlns:a16="http://schemas.microsoft.com/office/drawing/2014/main" id="{FFFC09C5-F51B-F4F8-DA97-A927E8A7921F}"/>
                    </a:ext>
                  </a:extLst>
                </p:cNvPr>
                <p:cNvSpPr/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solidFill>
                  <a:srgbClr val="FFF0C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i="1">
                                <a:solidFill>
                                  <a:srgbClr val="215F9A"/>
                                </a:solidFill>
                                <a:latin typeface="Cambria Math" panose="02040503050406030204" pitchFamily="18" charset="0"/>
                              </a:rPr>
                              <m:t>′′′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215F9A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en-US" i="1">
                    <a:solidFill>
                      <a:srgbClr val="215F9A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" name="Hình chữ nhật: Góc Tròn 32">
                  <a:extLst>
                    <a:ext uri="{FF2B5EF4-FFF2-40B4-BE49-F238E27FC236}">
                      <a16:creationId xmlns:a16="http://schemas.microsoft.com/office/drawing/2014/main" id="{FFFC09C5-F51B-F4F8-DA97-A927E8A792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1445" y="5418463"/>
                  <a:ext cx="652107" cy="589693"/>
                </a:xfrm>
                <a:prstGeom prst="round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TextBox 46">
              <a:extLst>
                <a:ext uri="{FF2B5EF4-FFF2-40B4-BE49-F238E27FC236}">
                  <a16:creationId xmlns:a16="http://schemas.microsoft.com/office/drawing/2014/main" id="{5B3A2719-3832-DD59-EB43-D92D287279D4}"/>
                </a:ext>
              </a:extLst>
            </p:cNvPr>
            <p:cNvSpPr txBox="1"/>
            <p:nvPr/>
          </p:nvSpPr>
          <p:spPr>
            <a:xfrm>
              <a:off x="4290957" y="5957324"/>
              <a:ext cx="3644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215F9A"/>
                  </a:solidFill>
                </a:rPr>
                <a:t>…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Hình chữ nhật: Góc Tròn 16">
                <a:extLst>
                  <a:ext uri="{FF2B5EF4-FFF2-40B4-BE49-F238E27FC236}">
                    <a16:creationId xmlns:a16="http://schemas.microsoft.com/office/drawing/2014/main" id="{CB448A58-E350-BD2D-5822-3DE9B17C324D}"/>
                  </a:ext>
                </a:extLst>
              </p:cNvPr>
              <p:cNvSpPr/>
              <p:nvPr/>
            </p:nvSpPr>
            <p:spPr>
              <a:xfrm>
                <a:off x="3092138" y="2401787"/>
                <a:ext cx="1901700" cy="589693"/>
              </a:xfrm>
              <a:prstGeom prst="roundRect">
                <a:avLst/>
              </a:prstGeom>
              <a:solidFill>
                <a:srgbClr val="FFF0C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smtClean="0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400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400" dirty="0">
                          <a:solidFill>
                            <a:srgbClr val="215F9A"/>
                          </a:solidFill>
                        </a:rPr>
                        <m:t>dummy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rgbClr val="215F9A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rgbClr val="215F9A"/>
                          </a:solidFill>
                        </a:rPr>
                        <m:t>symbols</m:t>
                      </m:r>
                    </m:oMath>
                  </m:oMathPara>
                </a14:m>
                <a:endParaRPr lang="en-US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17" name="Hình chữ nhật: Góc Tròn 16">
                <a:extLst>
                  <a:ext uri="{FF2B5EF4-FFF2-40B4-BE49-F238E27FC236}">
                    <a16:creationId xmlns:a16="http://schemas.microsoft.com/office/drawing/2014/main" id="{CB448A58-E350-BD2D-5822-3DE9B17C32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138" y="2401787"/>
                <a:ext cx="1901700" cy="589693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Nhóm 19">
            <a:extLst>
              <a:ext uri="{FF2B5EF4-FFF2-40B4-BE49-F238E27FC236}">
                <a16:creationId xmlns:a16="http://schemas.microsoft.com/office/drawing/2014/main" id="{8E82415C-70FA-2388-BE53-505F85EEAABF}"/>
              </a:ext>
            </a:extLst>
          </p:cNvPr>
          <p:cNvGrpSpPr/>
          <p:nvPr/>
        </p:nvGrpSpPr>
        <p:grpSpPr>
          <a:xfrm>
            <a:off x="3869893" y="2991480"/>
            <a:ext cx="1106543" cy="521879"/>
            <a:chOff x="5687556" y="2376941"/>
            <a:chExt cx="1106543" cy="521879"/>
          </a:xfrm>
        </p:grpSpPr>
        <p:sp>
          <p:nvSpPr>
            <p:cNvPr id="18" name="Arrow: Right 50">
              <a:extLst>
                <a:ext uri="{FF2B5EF4-FFF2-40B4-BE49-F238E27FC236}">
                  <a16:creationId xmlns:a16="http://schemas.microsoft.com/office/drawing/2014/main" id="{C659989B-DCE0-6E28-6122-0635B96FB254}"/>
                </a:ext>
              </a:extLst>
            </p:cNvPr>
            <p:cNvSpPr/>
            <p:nvPr/>
          </p:nvSpPr>
          <p:spPr>
            <a:xfrm rot="5400000">
              <a:off x="5548210" y="2516287"/>
              <a:ext cx="521879" cy="243187"/>
            </a:xfrm>
            <a:prstGeom prst="rightArrow">
              <a:avLst>
                <a:gd name="adj1" fmla="val 41916"/>
                <a:gd name="adj2" fmla="val 50000"/>
              </a:avLst>
            </a:prstGeom>
            <a:solidFill>
              <a:srgbClr val="215F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51">
              <a:extLst>
                <a:ext uri="{FF2B5EF4-FFF2-40B4-BE49-F238E27FC236}">
                  <a16:creationId xmlns:a16="http://schemas.microsoft.com/office/drawing/2014/main" id="{11DEA251-2B54-D179-E0DA-C202846CF3A2}"/>
                </a:ext>
              </a:extLst>
            </p:cNvPr>
            <p:cNvSpPr txBox="1"/>
            <p:nvPr/>
          </p:nvSpPr>
          <p:spPr>
            <a:xfrm>
              <a:off x="5848414" y="2468483"/>
              <a:ext cx="9456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>
                  <a:solidFill>
                    <a:srgbClr val="215F9A"/>
                  </a:solidFill>
                </a:rPr>
                <a:t>candidates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Hình chữ nhật: Góc Tròn 20">
                <a:extLst>
                  <a:ext uri="{FF2B5EF4-FFF2-40B4-BE49-F238E27FC236}">
                    <a16:creationId xmlns:a16="http://schemas.microsoft.com/office/drawing/2014/main" id="{68A72425-B495-47E6-DF52-4BAB74E68135}"/>
                  </a:ext>
                </a:extLst>
              </p:cNvPr>
              <p:cNvSpPr/>
              <p:nvPr/>
            </p:nvSpPr>
            <p:spPr>
              <a:xfrm>
                <a:off x="5079917" y="2376201"/>
                <a:ext cx="1901700" cy="589693"/>
              </a:xfrm>
              <a:prstGeom prst="roundRect">
                <a:avLst/>
              </a:prstGeom>
              <a:solidFill>
                <a:srgbClr val="FFF0C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smtClean="0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400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400" dirty="0">
                          <a:solidFill>
                            <a:srgbClr val="215F9A"/>
                          </a:solidFill>
                        </a:rPr>
                        <m:t>dummy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rgbClr val="215F9A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rgbClr val="215F9A"/>
                          </a:solidFill>
                        </a:rPr>
                        <m:t>symbols</m:t>
                      </m:r>
                    </m:oMath>
                  </m:oMathPara>
                </a14:m>
                <a:endParaRPr lang="en-US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21" name="Hình chữ nhật: Góc Tròn 20">
                <a:extLst>
                  <a:ext uri="{FF2B5EF4-FFF2-40B4-BE49-F238E27FC236}">
                    <a16:creationId xmlns:a16="http://schemas.microsoft.com/office/drawing/2014/main" id="{68A72425-B495-47E6-DF52-4BAB74E681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917" y="2376201"/>
                <a:ext cx="1901700" cy="589693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Nhóm 21">
            <a:extLst>
              <a:ext uri="{FF2B5EF4-FFF2-40B4-BE49-F238E27FC236}">
                <a16:creationId xmlns:a16="http://schemas.microsoft.com/office/drawing/2014/main" id="{53BF53DF-AC51-026E-C79C-E71905B54D7F}"/>
              </a:ext>
            </a:extLst>
          </p:cNvPr>
          <p:cNvGrpSpPr/>
          <p:nvPr/>
        </p:nvGrpSpPr>
        <p:grpSpPr>
          <a:xfrm>
            <a:off x="5857672" y="2965894"/>
            <a:ext cx="1106543" cy="521879"/>
            <a:chOff x="5687556" y="2376941"/>
            <a:chExt cx="1106543" cy="521879"/>
          </a:xfrm>
        </p:grpSpPr>
        <p:sp>
          <p:nvSpPr>
            <p:cNvPr id="27" name="Arrow: Right 50">
              <a:extLst>
                <a:ext uri="{FF2B5EF4-FFF2-40B4-BE49-F238E27FC236}">
                  <a16:creationId xmlns:a16="http://schemas.microsoft.com/office/drawing/2014/main" id="{7D73A913-2B98-CD75-618D-62DFD049704F}"/>
                </a:ext>
              </a:extLst>
            </p:cNvPr>
            <p:cNvSpPr/>
            <p:nvPr/>
          </p:nvSpPr>
          <p:spPr>
            <a:xfrm rot="5400000">
              <a:off x="5548210" y="2516287"/>
              <a:ext cx="521879" cy="243187"/>
            </a:xfrm>
            <a:prstGeom prst="rightArrow">
              <a:avLst>
                <a:gd name="adj1" fmla="val 41916"/>
                <a:gd name="adj2" fmla="val 50000"/>
              </a:avLst>
            </a:prstGeom>
            <a:solidFill>
              <a:srgbClr val="215F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51">
              <a:extLst>
                <a:ext uri="{FF2B5EF4-FFF2-40B4-BE49-F238E27FC236}">
                  <a16:creationId xmlns:a16="http://schemas.microsoft.com/office/drawing/2014/main" id="{FBB31718-F937-84E2-7850-520438D04740}"/>
                </a:ext>
              </a:extLst>
            </p:cNvPr>
            <p:cNvSpPr txBox="1"/>
            <p:nvPr/>
          </p:nvSpPr>
          <p:spPr>
            <a:xfrm>
              <a:off x="5848414" y="2468483"/>
              <a:ext cx="9456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>
                  <a:solidFill>
                    <a:srgbClr val="215F9A"/>
                  </a:solidFill>
                </a:rPr>
                <a:t>candidates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Hình chữ nhật: Góc Tròn 41">
                <a:extLst>
                  <a:ext uri="{FF2B5EF4-FFF2-40B4-BE49-F238E27FC236}">
                    <a16:creationId xmlns:a16="http://schemas.microsoft.com/office/drawing/2014/main" id="{9EE61C77-682C-97B3-4137-0F2696E86342}"/>
                  </a:ext>
                </a:extLst>
              </p:cNvPr>
              <p:cNvSpPr/>
              <p:nvPr/>
            </p:nvSpPr>
            <p:spPr>
              <a:xfrm>
                <a:off x="7241726" y="2384551"/>
                <a:ext cx="1901700" cy="589693"/>
              </a:xfrm>
              <a:prstGeom prst="roundRect">
                <a:avLst/>
              </a:prstGeom>
              <a:solidFill>
                <a:srgbClr val="FFF0C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smtClean="0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400" i="1">
                              <a:solidFill>
                                <a:srgbClr val="215F9A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400" dirty="0">
                          <a:solidFill>
                            <a:srgbClr val="215F9A"/>
                          </a:solidFill>
                        </a:rPr>
                        <m:t>dummy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rgbClr val="215F9A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rgbClr val="215F9A"/>
                          </a:solidFill>
                        </a:rPr>
                        <m:t>symbols</m:t>
                      </m:r>
                    </m:oMath>
                  </m:oMathPara>
                </a14:m>
                <a:endParaRPr lang="en-US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42" name="Hình chữ nhật: Góc Tròn 41">
                <a:extLst>
                  <a:ext uri="{FF2B5EF4-FFF2-40B4-BE49-F238E27FC236}">
                    <a16:creationId xmlns:a16="http://schemas.microsoft.com/office/drawing/2014/main" id="{9EE61C77-682C-97B3-4137-0F2696E863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726" y="2384551"/>
                <a:ext cx="1901700" cy="589693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Nhóm 42">
            <a:extLst>
              <a:ext uri="{FF2B5EF4-FFF2-40B4-BE49-F238E27FC236}">
                <a16:creationId xmlns:a16="http://schemas.microsoft.com/office/drawing/2014/main" id="{DA1E7358-91B1-0025-E850-6FC5730D49EB}"/>
              </a:ext>
            </a:extLst>
          </p:cNvPr>
          <p:cNvGrpSpPr/>
          <p:nvPr/>
        </p:nvGrpSpPr>
        <p:grpSpPr>
          <a:xfrm>
            <a:off x="8019481" y="2974244"/>
            <a:ext cx="1106543" cy="521879"/>
            <a:chOff x="5687556" y="2376941"/>
            <a:chExt cx="1106543" cy="521879"/>
          </a:xfrm>
        </p:grpSpPr>
        <p:sp>
          <p:nvSpPr>
            <p:cNvPr id="44" name="Arrow: Right 50">
              <a:extLst>
                <a:ext uri="{FF2B5EF4-FFF2-40B4-BE49-F238E27FC236}">
                  <a16:creationId xmlns:a16="http://schemas.microsoft.com/office/drawing/2014/main" id="{DB837F1F-0B5C-3D0A-30F0-C543CF95AD9F}"/>
                </a:ext>
              </a:extLst>
            </p:cNvPr>
            <p:cNvSpPr/>
            <p:nvPr/>
          </p:nvSpPr>
          <p:spPr>
            <a:xfrm rot="5400000">
              <a:off x="5548210" y="2516287"/>
              <a:ext cx="521879" cy="243187"/>
            </a:xfrm>
            <a:prstGeom prst="rightArrow">
              <a:avLst>
                <a:gd name="adj1" fmla="val 41916"/>
                <a:gd name="adj2" fmla="val 50000"/>
              </a:avLst>
            </a:prstGeom>
            <a:solidFill>
              <a:srgbClr val="215F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51">
              <a:extLst>
                <a:ext uri="{FF2B5EF4-FFF2-40B4-BE49-F238E27FC236}">
                  <a16:creationId xmlns:a16="http://schemas.microsoft.com/office/drawing/2014/main" id="{E93BAC7C-2612-1749-E08D-79ED70502E53}"/>
                </a:ext>
              </a:extLst>
            </p:cNvPr>
            <p:cNvSpPr txBox="1"/>
            <p:nvPr/>
          </p:nvSpPr>
          <p:spPr>
            <a:xfrm>
              <a:off x="5848414" y="2468483"/>
              <a:ext cx="9456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>
                  <a:solidFill>
                    <a:srgbClr val="215F9A"/>
                  </a:solidFill>
                </a:rPr>
                <a:t>candidates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1121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uiExpand="1" build="allAtOnce"/>
      <p:bldP spid="17" grpId="0" animBg="1"/>
      <p:bldP spid="21" grpId="0" animBg="1"/>
      <p:bldP spid="4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alpha val="98000"/>
              </a:schemeClr>
            </a:gs>
            <a:gs pos="81000">
              <a:schemeClr val="bg2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61E2DD-6440-12FA-52E4-55B80E3FF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8DD6B-16F5-3FB6-2F6C-0D0ACDBB2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65125"/>
            <a:ext cx="11620500" cy="777875"/>
          </a:xfrm>
          <a:gradFill flip="none" rotWithShape="1">
            <a:gsLst>
              <a:gs pos="0">
                <a:schemeClr val="accent1">
                  <a:lumMod val="89000"/>
                  <a:alpha val="80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Open questions</a:t>
            </a:r>
          </a:p>
        </p:txBody>
      </p:sp>
      <p:sp>
        <p:nvSpPr>
          <p:cNvPr id="4" name="Rectangle: Rounded Corners 4">
            <a:extLst>
              <a:ext uri="{FF2B5EF4-FFF2-40B4-BE49-F238E27FC236}">
                <a16:creationId xmlns:a16="http://schemas.microsoft.com/office/drawing/2014/main" id="{2338834D-064E-D66B-EDEB-5DAE117FD6E8}"/>
              </a:ext>
            </a:extLst>
          </p:cNvPr>
          <p:cNvSpPr/>
          <p:nvPr/>
        </p:nvSpPr>
        <p:spPr>
          <a:xfrm>
            <a:off x="1141506" y="1546345"/>
            <a:ext cx="4806002" cy="4411898"/>
          </a:xfrm>
          <a:prstGeom prst="roundRect">
            <a:avLst>
              <a:gd name="adj" fmla="val 9824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>
              <a:solidFill>
                <a:srgbClr val="215F9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ình chữ nhật: Góc Tròn 7">
                <a:extLst>
                  <a:ext uri="{FF2B5EF4-FFF2-40B4-BE49-F238E27FC236}">
                    <a16:creationId xmlns:a16="http://schemas.microsoft.com/office/drawing/2014/main" id="{1F55C08B-8B9B-CFB0-CEDF-541CD25FF783}"/>
                  </a:ext>
                </a:extLst>
              </p:cNvPr>
              <p:cNvSpPr/>
              <p:nvPr/>
            </p:nvSpPr>
            <p:spPr>
              <a:xfrm>
                <a:off x="2254519" y="1419998"/>
                <a:ext cx="2778589" cy="589693"/>
              </a:xfrm>
              <a:prstGeom prst="roundRect">
                <a:avLst/>
              </a:prstGeom>
              <a:solidFill>
                <a:srgbClr val="FFF0C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dirty="0" smtClean="0">
                          <a:solidFill>
                            <a:srgbClr val="215F9A"/>
                          </a:solidFill>
                        </a:rPr>
                        <m:t>Offline</m:t>
                      </m:r>
                      <m:r>
                        <m:rPr>
                          <m:nor/>
                        </m:rPr>
                        <a:rPr lang="en-US" sz="2000" b="1" dirty="0" smtClean="0">
                          <a:solidFill>
                            <a:srgbClr val="215F9A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1" dirty="0" smtClean="0">
                          <a:solidFill>
                            <a:srgbClr val="215F9A"/>
                          </a:solidFill>
                        </a:rPr>
                        <m:t>settings</m:t>
                      </m:r>
                    </m:oMath>
                  </m:oMathPara>
                </a14:m>
                <a:endParaRPr lang="en-US" sz="2000" b="1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8" name="Hình chữ nhật: Góc Tròn 7">
                <a:extLst>
                  <a:ext uri="{FF2B5EF4-FFF2-40B4-BE49-F238E27FC236}">
                    <a16:creationId xmlns:a16="http://schemas.microsoft.com/office/drawing/2014/main" id="{1F55C08B-8B9B-CFB0-CEDF-541CD25FF7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519" y="1419998"/>
                <a:ext cx="2778589" cy="58969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: Rounded Corners 13">
            <a:extLst>
              <a:ext uri="{FF2B5EF4-FFF2-40B4-BE49-F238E27FC236}">
                <a16:creationId xmlns:a16="http://schemas.microsoft.com/office/drawing/2014/main" id="{2EC6DA69-78F4-BC62-4039-16DB4217135F}"/>
              </a:ext>
            </a:extLst>
          </p:cNvPr>
          <p:cNvSpPr/>
          <p:nvPr/>
        </p:nvSpPr>
        <p:spPr>
          <a:xfrm>
            <a:off x="1371616" y="2413036"/>
            <a:ext cx="4283259" cy="73102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>
                <a:solidFill>
                  <a:srgbClr val="215F9A"/>
                </a:solidFill>
              </a:rPr>
              <a:t>How far can we push this idea of </a:t>
            </a:r>
            <a:r>
              <a:rPr lang="en-US" i="1">
                <a:solidFill>
                  <a:srgbClr val="215F9A"/>
                </a:solidFill>
              </a:rPr>
              <a:t>local – global </a:t>
            </a:r>
            <a:r>
              <a:rPr lang="en-US">
                <a:solidFill>
                  <a:srgbClr val="215F9A"/>
                </a:solidFill>
              </a:rPr>
              <a:t>property?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13">
                <a:extLst>
                  <a:ext uri="{FF2B5EF4-FFF2-40B4-BE49-F238E27FC236}">
                    <a16:creationId xmlns:a16="http://schemas.microsoft.com/office/drawing/2014/main" id="{9F540FAF-F58A-7D09-951E-F819D28011A9}"/>
                  </a:ext>
                </a:extLst>
              </p:cNvPr>
              <p:cNvSpPr/>
              <p:nvPr/>
            </p:nvSpPr>
            <p:spPr>
              <a:xfrm>
                <a:off x="1371616" y="3473603"/>
                <a:ext cx="4283259" cy="731020"/>
              </a:xfrm>
              <a:prstGeom prst="roundRect">
                <a:avLst/>
              </a:prstGeom>
              <a:solidFill>
                <a:srgbClr val="ECF3F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∃?</m:t>
                    </m:r>
                  </m:oMath>
                </a14:m>
                <a:r>
                  <a:rPr lang="en-US">
                    <a:solidFill>
                      <a:srgbClr val="215F9A"/>
                    </a:solidFill>
                  </a:rPr>
                  <a:t> a </a:t>
                </a:r>
                <a:r>
                  <a:rPr lang="en-US" i="1">
                    <a:solidFill>
                      <a:srgbClr val="215F9A"/>
                    </a:solidFill>
                  </a:rPr>
                  <a:t>PTAS</a:t>
                </a:r>
                <a:r>
                  <a:rPr lang="en-US">
                    <a:solidFill>
                      <a:srgbClr val="215F9A"/>
                    </a:solidFill>
                  </a:rPr>
                  <a:t> for Ulam median</a:t>
                </a:r>
              </a:p>
            </p:txBody>
          </p:sp>
        </mc:Choice>
        <mc:Fallback xmlns="">
          <p:sp>
            <p:nvSpPr>
              <p:cNvPr id="26" name="Rectangle: Rounded Corners 13">
                <a:extLst>
                  <a:ext uri="{FF2B5EF4-FFF2-40B4-BE49-F238E27FC236}">
                    <a16:creationId xmlns:a16="http://schemas.microsoft.com/office/drawing/2014/main" id="{9F540FAF-F58A-7D09-951E-F819D28011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16" y="3473603"/>
                <a:ext cx="4283259" cy="7310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: Rounded Corners 13">
            <a:extLst>
              <a:ext uri="{FF2B5EF4-FFF2-40B4-BE49-F238E27FC236}">
                <a16:creationId xmlns:a16="http://schemas.microsoft.com/office/drawing/2014/main" id="{30826B76-B55C-EBA1-B081-328B878999E7}"/>
              </a:ext>
            </a:extLst>
          </p:cNvPr>
          <p:cNvSpPr/>
          <p:nvPr/>
        </p:nvSpPr>
        <p:spPr>
          <a:xfrm>
            <a:off x="1348170" y="4534170"/>
            <a:ext cx="4283259" cy="73102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>
                <a:solidFill>
                  <a:srgbClr val="215F9A"/>
                </a:solidFill>
              </a:rPr>
              <a:t>How about </a:t>
            </a:r>
            <a:r>
              <a:rPr lang="en-US" i="1">
                <a:solidFill>
                  <a:srgbClr val="215F9A"/>
                </a:solidFill>
              </a:rPr>
              <a:t>edit distance</a:t>
            </a:r>
            <a:r>
              <a:rPr lang="en-US">
                <a:solidFill>
                  <a:srgbClr val="215F9A"/>
                </a:solidFill>
              </a:rPr>
              <a:t>? For </a:t>
            </a:r>
            <a:r>
              <a:rPr lang="en-US" i="1">
                <a:solidFill>
                  <a:srgbClr val="215F9A"/>
                </a:solidFill>
              </a:rPr>
              <a:t>strings</a:t>
            </a:r>
            <a:r>
              <a:rPr lang="en-US">
                <a:solidFill>
                  <a:srgbClr val="215F9A"/>
                </a:solidFill>
              </a:rPr>
              <a:t>?</a:t>
            </a:r>
          </a:p>
        </p:txBody>
      </p:sp>
      <p:sp>
        <p:nvSpPr>
          <p:cNvPr id="28" name="Rectangle: Rounded Corners 4">
            <a:extLst>
              <a:ext uri="{FF2B5EF4-FFF2-40B4-BE49-F238E27FC236}">
                <a16:creationId xmlns:a16="http://schemas.microsoft.com/office/drawing/2014/main" id="{A7E3F5AE-18A4-1775-0D94-6975166F24FB}"/>
              </a:ext>
            </a:extLst>
          </p:cNvPr>
          <p:cNvSpPr/>
          <p:nvPr/>
        </p:nvSpPr>
        <p:spPr>
          <a:xfrm>
            <a:off x="6330461" y="1546345"/>
            <a:ext cx="4806002" cy="4411898"/>
          </a:xfrm>
          <a:prstGeom prst="roundRect">
            <a:avLst>
              <a:gd name="adj" fmla="val 9824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>
              <a:solidFill>
                <a:srgbClr val="215F9A"/>
              </a:solidFill>
            </a:endParaRPr>
          </a:p>
        </p:txBody>
      </p:sp>
      <p:sp>
        <p:nvSpPr>
          <p:cNvPr id="30" name="Rectangle: Rounded Corners 13">
            <a:extLst>
              <a:ext uri="{FF2B5EF4-FFF2-40B4-BE49-F238E27FC236}">
                <a16:creationId xmlns:a16="http://schemas.microsoft.com/office/drawing/2014/main" id="{E1E1E4F0-0885-7066-B85E-72D9EB2F7BE3}"/>
              </a:ext>
            </a:extLst>
          </p:cNvPr>
          <p:cNvSpPr/>
          <p:nvPr/>
        </p:nvSpPr>
        <p:spPr>
          <a:xfrm>
            <a:off x="6560571" y="2413036"/>
            <a:ext cx="4283259" cy="731020"/>
          </a:xfrm>
          <a:prstGeom prst="roundRect">
            <a:avLst/>
          </a:prstGeom>
          <a:solidFill>
            <a:srgbClr val="ECF3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>
                <a:solidFill>
                  <a:srgbClr val="215F9A"/>
                </a:solidFill>
              </a:rPr>
              <a:t>Can we do better for Hamming, SF, or Kendall-tau?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: Rounded Corners 13">
                <a:extLst>
                  <a:ext uri="{FF2B5EF4-FFF2-40B4-BE49-F238E27FC236}">
                    <a16:creationId xmlns:a16="http://schemas.microsoft.com/office/drawing/2014/main" id="{3AE55D01-A2EF-31D0-A24E-4D3261A3D27C}"/>
                  </a:ext>
                </a:extLst>
              </p:cNvPr>
              <p:cNvSpPr/>
              <p:nvPr/>
            </p:nvSpPr>
            <p:spPr>
              <a:xfrm>
                <a:off x="6560571" y="3473603"/>
                <a:ext cx="4283259" cy="731020"/>
              </a:xfrm>
              <a:prstGeom prst="roundRect">
                <a:avLst/>
              </a:prstGeom>
              <a:solidFill>
                <a:srgbClr val="ECF3F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/>
                <a:r>
                  <a:rPr lang="en-US">
                    <a:solidFill>
                      <a:srgbClr val="215F9A"/>
                    </a:solidFill>
                  </a:rPr>
                  <a:t>Results for offline Ulam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215F9A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>
                    <a:solidFill>
                      <a:srgbClr val="215F9A"/>
                    </a:solidFill>
                  </a:rPr>
                  <a:t> online Ulam ?</a:t>
                </a:r>
              </a:p>
            </p:txBody>
          </p:sp>
        </mc:Choice>
        <mc:Fallback xmlns="">
          <p:sp>
            <p:nvSpPr>
              <p:cNvPr id="31" name="Rectangle: Rounded Corners 13">
                <a:extLst>
                  <a:ext uri="{FF2B5EF4-FFF2-40B4-BE49-F238E27FC236}">
                    <a16:creationId xmlns:a16="http://schemas.microsoft.com/office/drawing/2014/main" id="{3AE55D01-A2EF-31D0-A24E-4D3261A3D2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571" y="3473603"/>
                <a:ext cx="4283259" cy="7310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Hình chữ nhật: Góc Tròn 32">
                <a:extLst>
                  <a:ext uri="{FF2B5EF4-FFF2-40B4-BE49-F238E27FC236}">
                    <a16:creationId xmlns:a16="http://schemas.microsoft.com/office/drawing/2014/main" id="{62ED6D89-0CD5-3429-79CE-12B75356EED6}"/>
                  </a:ext>
                </a:extLst>
              </p:cNvPr>
              <p:cNvSpPr/>
              <p:nvPr/>
            </p:nvSpPr>
            <p:spPr>
              <a:xfrm>
                <a:off x="7312905" y="1363723"/>
                <a:ext cx="2778589" cy="589693"/>
              </a:xfrm>
              <a:prstGeom prst="roundRect">
                <a:avLst/>
              </a:prstGeom>
              <a:solidFill>
                <a:srgbClr val="FFF0C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solidFill>
                            <a:srgbClr val="215F9A"/>
                          </a:solidFill>
                        </a:rPr>
                        <m:t>MPC</m:t>
                      </m:r>
                      <m:r>
                        <m:rPr>
                          <m:nor/>
                        </m:rPr>
                        <a:rPr lang="en-US" sz="2000" b="1" dirty="0" smtClean="0">
                          <a:solidFill>
                            <a:srgbClr val="215F9A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1" dirty="0" smtClean="0">
                          <a:solidFill>
                            <a:srgbClr val="215F9A"/>
                          </a:solidFill>
                        </a:rPr>
                        <m:t>settings</m:t>
                      </m:r>
                    </m:oMath>
                  </m:oMathPara>
                </a14:m>
                <a:endParaRPr lang="en-US" sz="2000" b="1">
                  <a:solidFill>
                    <a:srgbClr val="215F9A"/>
                  </a:solidFill>
                </a:endParaRPr>
              </a:p>
            </p:txBody>
          </p:sp>
        </mc:Choice>
        <mc:Fallback xmlns="">
          <p:sp>
            <p:nvSpPr>
              <p:cNvPr id="33" name="Hình chữ nhật: Góc Tròn 32">
                <a:extLst>
                  <a:ext uri="{FF2B5EF4-FFF2-40B4-BE49-F238E27FC236}">
                    <a16:creationId xmlns:a16="http://schemas.microsoft.com/office/drawing/2014/main" id="{62ED6D89-0CD5-3429-79CE-12B75356EE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905" y="1363723"/>
                <a:ext cx="2778589" cy="58969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5">
            <a:extLst>
              <a:ext uri="{FF2B5EF4-FFF2-40B4-BE49-F238E27FC236}">
                <a16:creationId xmlns:a16="http://schemas.microsoft.com/office/drawing/2014/main" id="{A4AEAC7D-7BB0-923A-FEB6-5C804F52AAD5}"/>
              </a:ext>
            </a:extLst>
          </p:cNvPr>
          <p:cNvSpPr txBox="1"/>
          <p:nvPr/>
        </p:nvSpPr>
        <p:spPr>
          <a:xfrm>
            <a:off x="24228" y="5827387"/>
            <a:ext cx="6937583" cy="120032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15F9A">
                    <a:alpha val="6000"/>
                  </a:srgbClr>
                </a:solidFill>
                <a:latin typeface="Arial Black" panose="020B0A04020102020204" pitchFamily="34" charset="0"/>
              </a:rPr>
              <a:t>ICALP 2026</a:t>
            </a:r>
          </a:p>
        </p:txBody>
      </p:sp>
      <p:sp>
        <p:nvSpPr>
          <p:cNvPr id="35" name="TextBox 14">
            <a:extLst>
              <a:ext uri="{FF2B5EF4-FFF2-40B4-BE49-F238E27FC236}">
                <a16:creationId xmlns:a16="http://schemas.microsoft.com/office/drawing/2014/main" id="{DD75AFFA-31EB-35EF-411B-8F215D15B90A}"/>
              </a:ext>
            </a:extLst>
          </p:cNvPr>
          <p:cNvSpPr txBox="1"/>
          <p:nvPr/>
        </p:nvSpPr>
        <p:spPr>
          <a:xfrm>
            <a:off x="6142720" y="5827387"/>
            <a:ext cx="6937583" cy="120032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15F9A">
                    <a:alpha val="6000"/>
                  </a:srgbClr>
                </a:solidFill>
                <a:latin typeface="Arial Black" panose="020B0A04020102020204" pitchFamily="34" charset="0"/>
              </a:rPr>
              <a:t>ICALP 2026</a:t>
            </a:r>
          </a:p>
        </p:txBody>
      </p:sp>
    </p:spTree>
    <p:extLst>
      <p:ext uri="{BB962C8B-B14F-4D97-AF65-F5344CB8AC3E}">
        <p14:creationId xmlns:p14="http://schemas.microsoft.com/office/powerpoint/2010/main" val="1793686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7" grpId="0" animBg="1"/>
      <p:bldP spid="30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alpha val="98000"/>
              </a:schemeClr>
            </a:gs>
            <a:gs pos="74000">
              <a:schemeClr val="bg2"/>
            </a:gs>
            <a:gs pos="100000">
              <a:schemeClr val="bg1">
                <a:lumMod val="8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C55FC7-9DED-C51B-E3C1-FAA846AFD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61C1845-4EE3-C531-DEEA-5F8F8CCF5601}"/>
              </a:ext>
            </a:extLst>
          </p:cNvPr>
          <p:cNvSpPr txBox="1"/>
          <p:nvPr/>
        </p:nvSpPr>
        <p:spPr>
          <a:xfrm>
            <a:off x="16061" y="5657671"/>
            <a:ext cx="6937583" cy="120032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15F9A">
                    <a:alpha val="6000"/>
                  </a:srgbClr>
                </a:solidFill>
                <a:latin typeface="Arial Black" panose="020B0A04020102020204" pitchFamily="34" charset="0"/>
              </a:rPr>
              <a:t>ICALP 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261AFF-213A-A1D4-0873-A8108D732DC3}"/>
              </a:ext>
            </a:extLst>
          </p:cNvPr>
          <p:cNvSpPr txBox="1"/>
          <p:nvPr/>
        </p:nvSpPr>
        <p:spPr>
          <a:xfrm>
            <a:off x="6134553" y="5657671"/>
            <a:ext cx="6937583" cy="120032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15F9A">
                    <a:alpha val="6000"/>
                  </a:srgbClr>
                </a:solidFill>
                <a:latin typeface="Arial Black" panose="020B0A04020102020204" pitchFamily="34" charset="0"/>
              </a:rPr>
              <a:t>ICALP 2026</a:t>
            </a:r>
          </a:p>
        </p:txBody>
      </p:sp>
      <p:grpSp>
        <p:nvGrpSpPr>
          <p:cNvPr id="2" name="Nhóm 1">
            <a:extLst>
              <a:ext uri="{FF2B5EF4-FFF2-40B4-BE49-F238E27FC236}">
                <a16:creationId xmlns:a16="http://schemas.microsoft.com/office/drawing/2014/main" id="{B0AEB0BC-9E57-2122-4E8D-56F47E5CC94E}"/>
              </a:ext>
            </a:extLst>
          </p:cNvPr>
          <p:cNvGrpSpPr/>
          <p:nvPr/>
        </p:nvGrpSpPr>
        <p:grpSpPr>
          <a:xfrm>
            <a:off x="-19276" y="2724233"/>
            <a:ext cx="12191999" cy="1756589"/>
            <a:chOff x="0" y="428747"/>
            <a:chExt cx="12191999" cy="175053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A8EF422-4964-92C9-359E-2F0DDACDE39B}"/>
                </a:ext>
              </a:extLst>
            </p:cNvPr>
            <p:cNvSpPr/>
            <p:nvPr/>
          </p:nvSpPr>
          <p:spPr>
            <a:xfrm>
              <a:off x="0" y="428747"/>
              <a:ext cx="12191999" cy="1750531"/>
            </a:xfrm>
            <a:prstGeom prst="rect">
              <a:avLst/>
            </a:prstGeom>
            <a:gradFill>
              <a:gsLst>
                <a:gs pos="0">
                  <a:schemeClr val="accent1">
                    <a:lumMod val="97000"/>
                    <a:alpha val="60000"/>
                  </a:schemeClr>
                </a:gs>
                <a:gs pos="23000">
                  <a:schemeClr val="accent1">
                    <a:lumMod val="89000"/>
                  </a:schemeClr>
                </a:gs>
                <a:gs pos="69000">
                  <a:schemeClr val="accent1">
                    <a:lumMod val="75000"/>
                  </a:schemeClr>
                </a:gs>
                <a:gs pos="97000">
                  <a:schemeClr val="accent1">
                    <a:lumMod val="7000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6F626011-F3FD-E84E-B7C0-7733B56CE770}"/>
                </a:ext>
              </a:extLst>
            </p:cNvPr>
            <p:cNvSpPr txBox="1">
              <a:spLocks/>
            </p:cNvSpPr>
            <p:nvPr/>
          </p:nvSpPr>
          <p:spPr>
            <a:xfrm>
              <a:off x="3664678" y="750878"/>
              <a:ext cx="5295447" cy="1106268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b="1" dirty="0">
                  <a:solidFill>
                    <a:schemeClr val="bg1"/>
                  </a:solidFill>
                </a:rPr>
                <a:t>THANK YOU!</a:t>
              </a:r>
            </a:p>
          </p:txBody>
        </p:sp>
      </p:grpSp>
      <p:grpSp>
        <p:nvGrpSpPr>
          <p:cNvPr id="14" name="Nhóm 13">
            <a:extLst>
              <a:ext uri="{FF2B5EF4-FFF2-40B4-BE49-F238E27FC236}">
                <a16:creationId xmlns:a16="http://schemas.microsoft.com/office/drawing/2014/main" id="{B53AC647-E5EC-30A6-4E5C-D12716F41713}"/>
              </a:ext>
            </a:extLst>
          </p:cNvPr>
          <p:cNvGrpSpPr/>
          <p:nvPr/>
        </p:nvGrpSpPr>
        <p:grpSpPr>
          <a:xfrm>
            <a:off x="-3294157" y="108104"/>
            <a:ext cx="19130042" cy="1213100"/>
            <a:chOff x="-3160219" y="427474"/>
            <a:chExt cx="19130042" cy="1213100"/>
          </a:xfrm>
        </p:grpSpPr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9BADD16C-3B62-8717-981D-2015DB847C93}"/>
                </a:ext>
              </a:extLst>
            </p:cNvPr>
            <p:cNvSpPr txBox="1"/>
            <p:nvPr/>
          </p:nvSpPr>
          <p:spPr>
            <a:xfrm>
              <a:off x="2958273" y="440245"/>
              <a:ext cx="6937583" cy="1200329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square" rtlCol="0">
              <a:spAutoFit/>
            </a:bodyPr>
            <a:lstStyle/>
            <a:p>
              <a:r>
                <a:rPr lang="en-US" sz="7200" dirty="0">
                  <a:solidFill>
                    <a:srgbClr val="215F9A">
                      <a:alpha val="6000"/>
                    </a:srgbClr>
                  </a:solidFill>
                  <a:latin typeface="Arial Black" panose="020B0A04020102020204" pitchFamily="34" charset="0"/>
                </a:rPr>
                <a:t>ICALP 2026</a:t>
              </a:r>
            </a:p>
          </p:txBody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206B2844-B432-5501-8A6A-DEE7436A22D8}"/>
                </a:ext>
              </a:extLst>
            </p:cNvPr>
            <p:cNvSpPr txBox="1"/>
            <p:nvPr/>
          </p:nvSpPr>
          <p:spPr>
            <a:xfrm>
              <a:off x="-3160219" y="440245"/>
              <a:ext cx="6937583" cy="1200329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square" rtlCol="0">
              <a:spAutoFit/>
            </a:bodyPr>
            <a:lstStyle/>
            <a:p>
              <a:r>
                <a:rPr lang="en-US" sz="7200" dirty="0">
                  <a:solidFill>
                    <a:srgbClr val="215F9A">
                      <a:alpha val="6000"/>
                    </a:srgbClr>
                  </a:solidFill>
                  <a:latin typeface="Arial Black" panose="020B0A04020102020204" pitchFamily="34" charset="0"/>
                </a:rPr>
                <a:t>ICALP 2026</a:t>
              </a:r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59D1C864-DAB8-0C96-A65F-8DE857EEACD9}"/>
                </a:ext>
              </a:extLst>
            </p:cNvPr>
            <p:cNvSpPr txBox="1"/>
            <p:nvPr/>
          </p:nvSpPr>
          <p:spPr>
            <a:xfrm>
              <a:off x="9032240" y="427474"/>
              <a:ext cx="6937583" cy="1200329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square" rtlCol="0">
              <a:spAutoFit/>
            </a:bodyPr>
            <a:lstStyle/>
            <a:p>
              <a:r>
                <a:rPr lang="en-US" sz="7200" dirty="0">
                  <a:solidFill>
                    <a:srgbClr val="215F9A">
                      <a:alpha val="6000"/>
                    </a:srgbClr>
                  </a:solidFill>
                  <a:latin typeface="Arial Black" panose="020B0A04020102020204" pitchFamily="34" charset="0"/>
                </a:rPr>
                <a:t>ICALP 2026</a:t>
              </a:r>
            </a:p>
          </p:txBody>
        </p:sp>
      </p:grpSp>
      <p:sp>
        <p:nvSpPr>
          <p:cNvPr id="16" name="TextBox 5">
            <a:extLst>
              <a:ext uri="{FF2B5EF4-FFF2-40B4-BE49-F238E27FC236}">
                <a16:creationId xmlns:a16="http://schemas.microsoft.com/office/drawing/2014/main" id="{C5F320BB-023B-CF83-FF2B-C05D2E542C8B}"/>
              </a:ext>
            </a:extLst>
          </p:cNvPr>
          <p:cNvSpPr txBox="1"/>
          <p:nvPr/>
        </p:nvSpPr>
        <p:spPr>
          <a:xfrm>
            <a:off x="-95817" y="1367655"/>
            <a:ext cx="6937583" cy="120032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15F9A">
                    <a:alpha val="6000"/>
                  </a:srgbClr>
                </a:solidFill>
                <a:latin typeface="Arial Black" panose="020B0A04020102020204" pitchFamily="34" charset="0"/>
              </a:rPr>
              <a:t>ICALP 2026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9D211ECD-375A-AAB7-6EA0-3238BD677ADD}"/>
              </a:ext>
            </a:extLst>
          </p:cNvPr>
          <p:cNvSpPr txBox="1"/>
          <p:nvPr/>
        </p:nvSpPr>
        <p:spPr>
          <a:xfrm>
            <a:off x="6293126" y="1321204"/>
            <a:ext cx="6937583" cy="120032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15F9A">
                    <a:alpha val="6000"/>
                  </a:srgbClr>
                </a:solidFill>
                <a:latin typeface="Arial Black" panose="020B0A04020102020204" pitchFamily="34" charset="0"/>
              </a:rPr>
              <a:t>ICALP 2026</a:t>
            </a: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28F594B2-148F-12AC-7AB2-A43DEBAA7458}"/>
              </a:ext>
            </a:extLst>
          </p:cNvPr>
          <p:cNvSpPr txBox="1"/>
          <p:nvPr/>
        </p:nvSpPr>
        <p:spPr>
          <a:xfrm>
            <a:off x="2976735" y="4586496"/>
            <a:ext cx="6937583" cy="120032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15F9A">
                    <a:alpha val="6000"/>
                  </a:srgbClr>
                </a:solidFill>
                <a:latin typeface="Arial Black" panose="020B0A04020102020204" pitchFamily="34" charset="0"/>
              </a:rPr>
              <a:t>ICALP 2026</a:t>
            </a:r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A34F43C3-500C-FD8D-DB03-2152F09545AF}"/>
              </a:ext>
            </a:extLst>
          </p:cNvPr>
          <p:cNvSpPr txBox="1"/>
          <p:nvPr/>
        </p:nvSpPr>
        <p:spPr>
          <a:xfrm>
            <a:off x="-3141757" y="4586496"/>
            <a:ext cx="6937583" cy="120032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15F9A">
                    <a:alpha val="6000"/>
                  </a:srgbClr>
                </a:solidFill>
                <a:latin typeface="Arial Black" panose="020B0A04020102020204" pitchFamily="34" charset="0"/>
              </a:rPr>
              <a:t>ICALP 2026</a:t>
            </a:r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27E4C30A-65E5-B175-3194-D8298420CD05}"/>
              </a:ext>
            </a:extLst>
          </p:cNvPr>
          <p:cNvSpPr txBox="1"/>
          <p:nvPr/>
        </p:nvSpPr>
        <p:spPr>
          <a:xfrm>
            <a:off x="9050702" y="4573725"/>
            <a:ext cx="6937583" cy="120032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215F9A">
                    <a:alpha val="6000"/>
                  </a:srgbClr>
                </a:solidFill>
                <a:latin typeface="Arial Black" panose="020B0A04020102020204" pitchFamily="34" charset="0"/>
              </a:rPr>
              <a:t>ICALP 2026</a:t>
            </a:r>
          </a:p>
        </p:txBody>
      </p:sp>
      <p:pic>
        <p:nvPicPr>
          <p:cNvPr id="9" name="Picture 8" descr="Penn State Nittany Lions - Wikipedia">
            <a:extLst>
              <a:ext uri="{FF2B5EF4-FFF2-40B4-BE49-F238E27FC236}">
                <a16:creationId xmlns:a16="http://schemas.microsoft.com/office/drawing/2014/main" id="{AC3EDE34-F370-5953-488F-41FC539FB71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10879" y="1372958"/>
            <a:ext cx="1542765" cy="107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616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repeatCount="2000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1000"/>
                                  </p:iterate>
                                  <p:childTnLst>
                                    <p:set>
                                      <p:cBhvr override="childStyle">
                                        <p:cTn id="6" dur="5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7DBE7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7DBE7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6" presetClass="emph" presetSubtype="0" repeatCount="2000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1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7DBE7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7DBE7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6" presetClass="emph" presetSubtype="0" repeatCount="2000" fill="remove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1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7DBE7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7DBE7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" dur="5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1617</Words>
  <Application>Microsoft Office PowerPoint</Application>
  <PresentationFormat>Widescreen</PresentationFormat>
  <Paragraphs>609</Paragraphs>
  <Slides>33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Aptos</vt:lpstr>
      <vt:lpstr>Aptos (Body)</vt:lpstr>
      <vt:lpstr>Aptos Display</vt:lpstr>
      <vt:lpstr>Arial</vt:lpstr>
      <vt:lpstr>Arial Black</vt:lpstr>
      <vt:lpstr>Cambria Math</vt:lpstr>
      <vt:lpstr>Wingdings</vt:lpstr>
      <vt:lpstr>Office Theme</vt:lpstr>
      <vt:lpstr>PowerPoint Presentation</vt:lpstr>
      <vt:lpstr>Rank aggregation</vt:lpstr>
      <vt:lpstr>Applications of rank aggregation</vt:lpstr>
      <vt:lpstr>Rank aggregation</vt:lpstr>
      <vt:lpstr>1-Median</vt:lpstr>
      <vt:lpstr>Rank aggregation</vt:lpstr>
      <vt:lpstr>Real world dataset</vt:lpstr>
      <vt:lpstr>Massively Parallel Computation (MPC) model</vt:lpstr>
      <vt:lpstr>Massively Parallel Computation (MPC) model</vt:lpstr>
      <vt:lpstr>Massively Parallel Computation (MPC) model</vt:lpstr>
      <vt:lpstr>Results (old and new)</vt:lpstr>
      <vt:lpstr>Results (old and new)</vt:lpstr>
      <vt:lpstr>Our contributions</vt:lpstr>
      <vt:lpstr>Ulam distance</vt:lpstr>
      <vt:lpstr>Framework overview</vt:lpstr>
      <vt:lpstr>Aggregating under Ulam</vt:lpstr>
      <vt:lpstr>Dynamic Programming Approach</vt:lpstr>
      <vt:lpstr>Cycle Removal Approach (CDK 21)</vt:lpstr>
      <vt:lpstr>Cycle Removal Approach (CDK 21)</vt:lpstr>
      <vt:lpstr>Cycle Removal Approach (CDK 21)</vt:lpstr>
      <vt:lpstr>Attempt for MPC Cycle Removal</vt:lpstr>
      <vt:lpstr>Succes attempt = DP + Cycle Removal</vt:lpstr>
      <vt:lpstr>Succes attempt = DP + Cycle Removal</vt:lpstr>
      <vt:lpstr>Succes attempt = DP + Cycle Removal</vt:lpstr>
      <vt:lpstr>Succes attempt = DP + Cycle Removal</vt:lpstr>
      <vt:lpstr>Succes attempt = DP + Cycle Removal</vt:lpstr>
      <vt:lpstr>Succes attempt = DP + Cycle Removal</vt:lpstr>
      <vt:lpstr>Succes attempt = DP + Cycle Removal</vt:lpstr>
      <vt:lpstr>Ideal: this situation happens for all blocks</vt:lpstr>
      <vt:lpstr>Long blocks, short blocks</vt:lpstr>
      <vt:lpstr>Succes attempt = DP + Cycle Removal</vt:lpstr>
      <vt:lpstr>Open questions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Tien Long</dc:creator>
  <cp:lastModifiedBy>Nguyen, Tien Long</cp:lastModifiedBy>
  <cp:revision>6</cp:revision>
  <dcterms:created xsi:type="dcterms:W3CDTF">2026-06-11T04:26:46Z</dcterms:created>
  <dcterms:modified xsi:type="dcterms:W3CDTF">2026-07-07T21:39:57Z</dcterms:modified>
</cp:coreProperties>
</file>